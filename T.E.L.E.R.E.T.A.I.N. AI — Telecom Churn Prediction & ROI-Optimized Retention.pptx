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7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6256000" cy="9144000"/>
  <p:notesSz cx="9144000" cy="16256000"/>
  <p:embeddedFontLst>
    <p:embeddedFont>
      <p:font typeface="Engravers MT" panose="02090707080505020304" pitchFamily="18" charset="0"/>
      <p:regular r:id="rId20"/>
    </p:embeddedFont>
    <p:embeddedFont>
      <p:font typeface="Liter" panose="020B0604020202020204" charset="0"/>
      <p:regular r:id="rId21"/>
    </p:embeddedFont>
    <p:embeddedFont>
      <p:font typeface="Quattrocento Sans" panose="020B0502050000020003" pitchFamily="3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66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6820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presentation on T.E.L.E.R.E.T.A.I.N. AI — a data-driven proof of concept for telecom customer churn prediction and ROI-optimized retention. This project was developed by Adityabaan Tripathy and myself, Shubhayu Kundu, from SRM Institute of Science and Technology in Chennai, India.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9AAFE-125C-8754-FBBC-1C898E462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F098E-735B-D2A0-62EF-49EE7FDFA3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F30ED2-4D05-7157-7A1E-80DD0F3C3601}"/>
              </a:ext>
            </a:extLst>
          </p:cNvPr>
          <p:cNvSpPr>
            <a:spLocks noGrp="1"/>
          </p:cNvSpPr>
          <p:nvPr>
            <p:ph type="body" idx="1"/>
          </p:nvPr>
        </p:nvSpPr>
        <p:spPr/>
        <p:txBody>
          <a:bodyPr/>
          <a:lstStyle/>
          <a:p>
            <a:r>
              <a:rPr lang="en-US" dirty="0"/>
              <a:t>Welcome to our presentation on T.E.L.E.R.E.T.A.I.N. AI — a data-driven proof of concept for telecom customer churn prediction and ROI-optimized retention. This project was developed by Adityabaan Tripathy and myself, Shubhayu Kundu, from SRM Institute of Science and Technology in Chennai, India.
</a:t>
            </a:r>
          </a:p>
        </p:txBody>
      </p:sp>
      <p:sp>
        <p:nvSpPr>
          <p:cNvPr id="4" name="Slide Number Placeholder 3">
            <a:extLst>
              <a:ext uri="{FF2B5EF4-FFF2-40B4-BE49-F238E27FC236}">
                <a16:creationId xmlns:a16="http://schemas.microsoft.com/office/drawing/2014/main" id="{68B876B5-78B0-EF3B-3234-05868E449440}"/>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385222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agenda for the next 20 minutes. We'll walk through the churn problem in Indian telecom, our dataset and methodology, the exploratory analysis that uncovered two key business hypotheses, our modeling results, and then the centerpiece — a financial ROI simulation that shows how even a modest-accuracy model can deliver real business value when targeted correctly.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 Customer churn is one of the costliest yet most underestimated problems in the Indian telecom sector. With rising Customer Acquisition Costs, protecting existing Annual Recurring Revenue has become critical. Telecom operators already sit on rich usage data — the gap is converting that data into proactive retention action before the customer actually leaves.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dataset comprises two real telecom files merged on Customer_ID. Client.csv contains 100,000 rows with 50 account-level columns — tenure, plan type, demographics, equipment details. Record.csv has 100,000 rows with 51 columns covering usage patterns, billing history, call quality metrics, and the churn label. The inner join was perfectly clean — 100,000 rows, zero dropped. After cleaning, we have 98 features with a near-perfect 50-50 class split.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is fully automated end-to-end. We start with data ingestion and merging, then automated churn column detection, followed by cleaning — median imputation for numeric features and "Unknown" fill plus label encoding for categoricals. We remove high-cardinality features above 95% uniqueness, perform an 80-20 stratified split, apply SMOTE only on the training set to prevent leakage, train both Random Forest and XGBoost, optimize the decision threshold dynamically, and finally feed predictions into a financial ROI simulation.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exploratory analysis tested two business hypotheses. First, Hardware Fatigue — customers with older handsets are more likely to churn because they become susceptible to competitor upgrade offers. Second, Silent Departure — a gradual decline in Minutes of Use is a leading indicator of churn weeks before cancellation. The box plot evidence you see here confirms that churning customers consistently sit on older hardware than retained customers, validating eqpdays as a core predictive signal.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two models on SMOTE-balanced data. Random Forest with 300 trees achieved 62.76% test accuracy. XGBoost with a learning rate of 0.03 and max depth of 8 achieved 62.82% test accuracy with an ROC-AUC of 0.682. The XGBoost model shows stronger churn recall at 66% — meaning it catches two-thirds of customers who actually churn. The optimal threshold scan from 0.10 to 0.90 confirmed that 0.50, the default, was already optimal.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XGBoost confusion matrix on our 20,000-customer test set. The key story is in the true positive count — we're catching a substantial portion of actual churners. Remember the Accuracy Paradox: a model that always predicts "retained" would score 50% accuracy but identify zero churners, delivering zero business value. Our model's real value is in targeting precision, which we'll quantify in the ROI simulation.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feature importance confirms both our EDA hypotheses with model-level evidence. Equipment age — eqpdays — is the number one predictor of churn. Months of tenure, handset web capability, whether the device is refurbished or new, and average minutes of use round out the top five. This is powerful: the model independently discovered the same signals we hypothesized from visual inspection, giving us confidence that these are real, actionable drivers — not spurious correlations.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transparent about limitations. Raw accuracy of approximately 63% is modest by Kaggle competition standards. However, this model is deliberately optimized for business recall — catching churners — rather than leaderboard rank. We believe the model would improve significantly with network-quality features like drop rates and latency, customer service interaction logs, socio-economic overlays, and real-time behavioral streams. The key point is that even with limited features, this proof-of-concept demonstrates ROI-positive targeting.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to the centerpiece of this presentation — the business impact and ROI simulation. This is where we translate model scores into dollars and cents, showing that even a modest-accuracy model can deliver substantial net profit when deployed with precision targeting.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simulation assumptions and results. We assume an average customer lifetime value of $250 per year, a conservative 20% campaign save rate, and a $30 cost per intervention. We target the top 10% highest-risk customers by model score. On our 20,000-customer test set, that means targeting 2,000 customers. Of those, we capture 1,546 actual churners — a 77.3% capture rate, which is strong evidence of risk-ranking precision. At a 20% save rate, that's 309 customers saved. Sixty thousand dollars in campaign cost against $77,300 in protected revenue gives us a net ROI of $17,300 — profit from a model with only 63% raw accuracy.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ROI simulation dashboard — the single most important visual in the entire deck. Four panels: the risk score distribution showing how well the model separates churners from retained customers, the lift chart demonstrating the model's ranking power above random selection, the intervention funnel showing how targeting the top 10% captures 77% of churners, and the financial breakdown showing cost, revenue protected, and net profit. This dashboard tells the complete story — model precision translates directly into business value.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our strategic roadmap has four pillars. First, integrate the model into a live CRM for monthly subscriber scoring — every customer gets a risk score refreshed on a regular cadence. Second, A/B test retention offers on the flagged high-risk cohort to validate and refine our 20% save rate assumption with real data. Third, expand the feature set with network quality metrics and customer service interaction data — we expect this to significantly lift model performance. Fourth, define a retraining cadence and model monitoring plan to detect drift and maintain performance over time.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 this is not just a churn classifier. It's a quantified, ROI-positive retention strategy. We validated two business hypotheses through both visual EDA and model-level evidence: Hardware Fatigue, where older equipment drives churn, and Silent Departure, where declining usage precedes cancellation. Most importantly, we demonstrated $17,300 in net ROI on a single test batch — proving that targeted precision beats blanket spend even with modest model accuracy. Our call to action is clear: pilot deployment with a real telecom partner.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We're happy to take any questions about our methodology, results, or the path to production deployment. Please feel free to reach out to us after this session.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3" name="Shape 0"/>
          <p:cNvSpPr/>
          <p:nvPr/>
        </p:nvSpPr>
        <p:spPr>
          <a:xfrm>
            <a:off x="0" y="0"/>
            <a:ext cx="16256000" cy="9144000"/>
          </a:xfrm>
          <a:prstGeom prst="rect">
            <a:avLst/>
          </a:prstGeom>
          <a:gradFill flip="none" rotWithShape="1">
            <a:gsLst>
              <a:gs pos="0">
                <a:srgbClr val="2B4C7E">
                  <a:alpha val="19000"/>
                </a:srgbClr>
              </a:gs>
              <a:gs pos="100000">
                <a:srgbClr val="1E293B">
                  <a:alpha val="0"/>
                </a:srgbClr>
              </a:gs>
            </a:gsLst>
            <a:path path="circle"/>
          </a:gradFill>
          <a:ln/>
        </p:spPr>
      </p:sp>
      <p:sp>
        <p:nvSpPr>
          <p:cNvPr id="4" name="Shape 1"/>
          <p:cNvSpPr/>
          <p:nvPr/>
        </p:nvSpPr>
        <p:spPr>
          <a:xfrm>
            <a:off x="7175500" y="2743200"/>
            <a:ext cx="1905000" cy="50800"/>
          </a:xfrm>
          <a:prstGeom prst="rect">
            <a:avLst/>
          </a:prstGeom>
          <a:solidFill>
            <a:srgbClr val="D9534F"/>
          </a:solidFill>
          <a:ln/>
        </p:spPr>
      </p:sp>
      <p:sp>
        <p:nvSpPr>
          <p:cNvPr id="5" name="Text 2"/>
          <p:cNvSpPr/>
          <p:nvPr/>
        </p:nvSpPr>
        <p:spPr>
          <a:xfrm>
            <a:off x="1143000" y="2730500"/>
            <a:ext cx="13970000" cy="1524000"/>
          </a:xfrm>
          <a:prstGeom prst="rect">
            <a:avLst/>
          </a:prstGeom>
          <a:noFill/>
          <a:ln/>
        </p:spPr>
        <p:txBody>
          <a:bodyPr wrap="none" lIns="0" tIns="0" rIns="0" bIns="0" rtlCol="0" anchor="ctr"/>
          <a:lstStyle/>
          <a:p>
            <a:pPr algn="ctr">
              <a:lnSpc>
                <a:spcPct val="120000"/>
              </a:lnSpc>
            </a:pPr>
            <a:r>
              <a:rPr lang="en-US" sz="4200" kern="0" spc="300" dirty="0">
                <a:solidFill>
                  <a:srgbClr val="FFFFFF"/>
                </a:solidFill>
                <a:latin typeface="Liter" pitchFamily="34" charset="0"/>
                <a:ea typeface="Liter" pitchFamily="34" charset="-122"/>
                <a:cs typeface="Liter" pitchFamily="34" charset="-120"/>
              </a:rPr>
              <a:t>T.E.L.E.R.E.T.A.I.N. AI</a:t>
            </a:r>
            <a:endParaRPr lang="en-US" sz="4200" dirty="0"/>
          </a:p>
        </p:txBody>
      </p:sp>
      <p:sp>
        <p:nvSpPr>
          <p:cNvPr id="6" name="Text 3"/>
          <p:cNvSpPr/>
          <p:nvPr/>
        </p:nvSpPr>
        <p:spPr>
          <a:xfrm>
            <a:off x="1778000" y="4381500"/>
            <a:ext cx="12700000" cy="381000"/>
          </a:xfrm>
          <a:prstGeom prst="rect">
            <a:avLst/>
          </a:prstGeom>
          <a:noFill/>
          <a:ln/>
        </p:spPr>
        <p:txBody>
          <a:bodyPr wrap="none" lIns="0" tIns="0" rIns="0" bIns="0" rtlCol="0" anchor="ctr"/>
          <a:lstStyle/>
          <a:p>
            <a:pPr algn="ctr">
              <a:lnSpc>
                <a:spcPct val="120000"/>
              </a:lnSpc>
            </a:pPr>
            <a:r>
              <a:rPr lang="en-US" sz="1800" dirty="0">
                <a:solidFill>
                  <a:srgbClr val="CBD5E1"/>
                </a:solidFill>
                <a:latin typeface="Quattrocento Sans" pitchFamily="34" charset="0"/>
                <a:ea typeface="Quattrocento Sans" pitchFamily="34" charset="-122"/>
                <a:cs typeface="Quattrocento Sans" pitchFamily="34" charset="-120"/>
              </a:rPr>
              <a:t>Telecom Early Loss Evaluation &amp; Retention Enhancement</a:t>
            </a:r>
            <a:endParaRPr lang="en-US" sz="1800" dirty="0"/>
          </a:p>
        </p:txBody>
      </p:sp>
      <p:sp>
        <p:nvSpPr>
          <p:cNvPr id="7" name="Text 4"/>
          <p:cNvSpPr/>
          <p:nvPr/>
        </p:nvSpPr>
        <p:spPr>
          <a:xfrm>
            <a:off x="1778000" y="4800600"/>
            <a:ext cx="12700000" cy="381000"/>
          </a:xfrm>
          <a:prstGeom prst="rect">
            <a:avLst/>
          </a:prstGeom>
          <a:noFill/>
          <a:ln/>
        </p:spPr>
        <p:txBody>
          <a:bodyPr wrap="none" lIns="0" tIns="0" rIns="0" bIns="0" rtlCol="0" anchor="ctr"/>
          <a:lstStyle/>
          <a:p>
            <a:pPr algn="ctr">
              <a:lnSpc>
                <a:spcPct val="120000"/>
              </a:lnSpc>
            </a:pPr>
            <a:r>
              <a:rPr lang="en-US" sz="1800" dirty="0">
                <a:solidFill>
                  <a:srgbClr val="CBD5E1"/>
                </a:solidFill>
                <a:latin typeface="Quattrocento Sans" pitchFamily="34" charset="0"/>
                <a:ea typeface="Quattrocento Sans" pitchFamily="34" charset="-122"/>
                <a:cs typeface="Quattrocento Sans" pitchFamily="34" charset="-120"/>
              </a:rPr>
              <a:t>Through Analytical Intelligence &amp; Navigation AI</a:t>
            </a:r>
            <a:endParaRPr lang="en-US" sz="1800" dirty="0"/>
          </a:p>
        </p:txBody>
      </p:sp>
      <p:sp>
        <p:nvSpPr>
          <p:cNvPr id="8" name="Shape 5"/>
          <p:cNvSpPr/>
          <p:nvPr/>
        </p:nvSpPr>
        <p:spPr>
          <a:xfrm>
            <a:off x="6223000" y="5397500"/>
            <a:ext cx="3810000" cy="12700"/>
          </a:xfrm>
          <a:prstGeom prst="rect">
            <a:avLst/>
          </a:prstGeom>
          <a:solidFill>
            <a:srgbClr val="475569"/>
          </a:solidFill>
          <a:ln/>
        </p:spPr>
      </p:sp>
      <p:sp>
        <p:nvSpPr>
          <p:cNvPr id="9" name="Text 6"/>
          <p:cNvSpPr/>
          <p:nvPr/>
        </p:nvSpPr>
        <p:spPr>
          <a:xfrm>
            <a:off x="2413000" y="5651500"/>
            <a:ext cx="11430000" cy="355600"/>
          </a:xfrm>
          <a:prstGeom prst="rect">
            <a:avLst/>
          </a:prstGeom>
          <a:noFill/>
          <a:ln/>
        </p:spPr>
        <p:txBody>
          <a:bodyPr wrap="none" lIns="0" tIns="0" rIns="0" bIns="0" rtlCol="0" anchor="ctr"/>
          <a:lstStyle/>
          <a:p>
            <a:pPr algn="ctr">
              <a:lnSpc>
                <a:spcPct val="120000"/>
              </a:lnSpc>
            </a:pPr>
            <a:r>
              <a:rPr lang="en-US" sz="1600" i="1" dirty="0">
                <a:solidFill>
                  <a:srgbClr val="3498DB"/>
                </a:solidFill>
                <a:latin typeface="Quattrocento Sans" pitchFamily="34" charset="0"/>
                <a:ea typeface="Quattrocento Sans" pitchFamily="34" charset="-122"/>
                <a:cs typeface="Quattrocento Sans" pitchFamily="34" charset="-120"/>
              </a:rPr>
              <a:t>A Data-Driven Proof of Concept for Telecom Customer Churn Prediction &amp; ROI-Optimized Retention</a:t>
            </a:r>
            <a:endParaRPr lang="en-US" sz="1600" dirty="0"/>
          </a:p>
        </p:txBody>
      </p:sp>
      <p:sp>
        <p:nvSpPr>
          <p:cNvPr id="10" name="Text 7"/>
          <p:cNvSpPr/>
          <p:nvPr/>
        </p:nvSpPr>
        <p:spPr>
          <a:xfrm>
            <a:off x="3048000" y="6413500"/>
            <a:ext cx="10160000" cy="863600"/>
          </a:xfrm>
          <a:prstGeom prst="rect">
            <a:avLst/>
          </a:prstGeom>
          <a:noFill/>
          <a:ln/>
        </p:spPr>
        <p:txBody>
          <a:bodyPr wrap="square" lIns="0" tIns="0" rIns="0" bIns="0" rtlCol="0" anchor="ctr"/>
          <a:lstStyle/>
          <a:p>
            <a:pPr algn="ctr">
              <a:lnSpc>
                <a:spcPct val="150000"/>
              </a:lnSpc>
            </a:pPr>
            <a:r>
              <a:rPr lang="en-US" sz="1600" b="1" dirty="0">
                <a:solidFill>
                  <a:srgbClr val="94A3B8"/>
                </a:solidFill>
                <a:latin typeface="Quattrocento Sans" pitchFamily="34" charset="0"/>
                <a:ea typeface="Quattrocento Sans" pitchFamily="34" charset="-122"/>
                <a:cs typeface="Quattrocento Sans" pitchFamily="34" charset="-120"/>
              </a:rPr>
              <a:t>Adityabaan Tripathy</a:t>
            </a:r>
            <a:r>
              <a:rPr lang="en-US" sz="1600" dirty="0">
                <a:solidFill>
                  <a:srgbClr val="94A3B8"/>
                </a:solidFill>
                <a:latin typeface="Quattrocento Sans" pitchFamily="34" charset="0"/>
                <a:ea typeface="Quattrocento Sans" pitchFamily="34" charset="-122"/>
                <a:cs typeface="Quattrocento Sans" pitchFamily="34" charset="-120"/>
              </a:rPr>
              <a:t> &amp; </a:t>
            </a:r>
            <a:r>
              <a:rPr lang="en-US" sz="1600" b="1" dirty="0">
                <a:solidFill>
                  <a:srgbClr val="94A3B8"/>
                </a:solidFill>
                <a:latin typeface="Quattrocento Sans" pitchFamily="34" charset="0"/>
                <a:ea typeface="Quattrocento Sans" pitchFamily="34" charset="-122"/>
                <a:cs typeface="Quattrocento Sans" pitchFamily="34" charset="-120"/>
              </a:rPr>
              <a:t>Shubhayu Kundu</a:t>
            </a:r>
            <a:endParaRPr lang="en-US" sz="1600" dirty="0"/>
          </a:p>
          <a:p>
            <a:pPr algn="ctr">
              <a:lnSpc>
                <a:spcPct val="150000"/>
              </a:lnSpc>
            </a:pPr>
            <a:r>
              <a:rPr lang="en-US" sz="1600" dirty="0">
                <a:solidFill>
                  <a:srgbClr val="94A3B8"/>
                </a:solidFill>
                <a:latin typeface="Quattrocento Sans" pitchFamily="34" charset="0"/>
                <a:ea typeface="Quattrocento Sans" pitchFamily="34" charset="-122"/>
                <a:cs typeface="Quattrocento Sans" pitchFamily="34" charset="-120"/>
              </a:rPr>
              <a:t>SRM Institute of Science and Technology, Chennai, India</a:t>
            </a:r>
            <a:endParaRPr lang="en-US" sz="1600" dirty="0"/>
          </a:p>
        </p:txBody>
      </p:sp>
      <p:sp>
        <p:nvSpPr>
          <p:cNvPr id="11" name="Text 8"/>
          <p:cNvSpPr/>
          <p:nvPr/>
        </p:nvSpPr>
        <p:spPr>
          <a:xfrm>
            <a:off x="3048000" y="7340600"/>
            <a:ext cx="10160000" cy="698500"/>
          </a:xfrm>
          <a:prstGeom prst="rect">
            <a:avLst/>
          </a:prstGeom>
          <a:noFill/>
          <a:ln/>
        </p:spPr>
        <p:txBody>
          <a:bodyPr wrap="square" lIns="0" tIns="0" rIns="0" bIns="0" rtlCol="0" anchor="ctr"/>
          <a:lstStyle/>
          <a:p>
            <a:pPr algn="ctr">
              <a:lnSpc>
                <a:spcPct val="150000"/>
              </a:lnSpc>
            </a:pPr>
            <a:r>
              <a:rPr lang="en-US" sz="1600" dirty="0">
                <a:solidFill>
                  <a:schemeClr val="bg1"/>
                </a:solidFill>
                <a:latin typeface="Times New Roman" panose="02020603050405020304" pitchFamily="18" charset="0"/>
                <a:ea typeface="Quattrocento Sans" pitchFamily="34" charset="-122"/>
                <a:cs typeface="Times New Roman" panose="02020603050405020304" pitchFamily="18" charset="0"/>
              </a:rPr>
              <a:t>AI Technologies Summer School (AITss) 2026</a:t>
            </a:r>
            <a:endParaRPr lang="en-US" sz="1600" dirty="0">
              <a:solidFill>
                <a:schemeClr val="bg1"/>
              </a:solidFill>
              <a:latin typeface="Times New Roman" panose="02020603050405020304" pitchFamily="18" charset="0"/>
              <a:cs typeface="Times New Roman" panose="02020603050405020304" pitchFamily="18" charset="0"/>
            </a:endParaRPr>
          </a:p>
          <a:p>
            <a:pPr algn="ctr">
              <a:lnSpc>
                <a:spcPct val="150000"/>
              </a:lnSpc>
            </a:pPr>
            <a:r>
              <a:rPr lang="en-US" sz="1600" dirty="0">
                <a:solidFill>
                  <a:schemeClr val="bg1"/>
                </a:solidFill>
                <a:latin typeface="Times New Roman" panose="02020603050405020304" pitchFamily="18" charset="0"/>
                <a:ea typeface="Quattrocento Sans" pitchFamily="34" charset="-122"/>
                <a:cs typeface="Times New Roman" panose="02020603050405020304" pitchFamily="18" charset="0"/>
              </a:rPr>
              <a:t>Ivan Franko National University of Lviv, Ukraine</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12" name="Shape 9"/>
          <p:cNvSpPr/>
          <p:nvPr/>
        </p:nvSpPr>
        <p:spPr>
          <a:xfrm>
            <a:off x="0" y="9093200"/>
            <a:ext cx="16256000" cy="50800"/>
          </a:xfrm>
          <a:prstGeom prst="rect">
            <a:avLst/>
          </a:prstGeom>
          <a:solidFill>
            <a:srgbClr val="2B4C7E"/>
          </a:solidFill>
          <a:ln/>
        </p:spPr>
      </p:sp>
      <p:pic>
        <p:nvPicPr>
          <p:cNvPr id="13" name="Picture 12">
            <a:extLst>
              <a:ext uri="{FF2B5EF4-FFF2-40B4-BE49-F238E27FC236}">
                <a16:creationId xmlns:a16="http://schemas.microsoft.com/office/drawing/2014/main" id="{10D421BC-98ED-EFBB-7929-032DFB048086}"/>
              </a:ext>
            </a:extLst>
          </p:cNvPr>
          <p:cNvPicPr>
            <a:picLocks noChangeAspect="1"/>
          </p:cNvPicPr>
          <p:nvPr/>
        </p:nvPicPr>
        <p:blipFill>
          <a:blip r:embed="rId3"/>
          <a:stretch>
            <a:fillRect/>
          </a:stretch>
        </p:blipFill>
        <p:spPr>
          <a:xfrm>
            <a:off x="10663880" y="36513"/>
            <a:ext cx="5592119" cy="2478087"/>
          </a:xfrm>
          <a:prstGeom prst="rect">
            <a:avLst/>
          </a:prstGeom>
        </p:spPr>
      </p:pic>
      <p:pic>
        <p:nvPicPr>
          <p:cNvPr id="15" name="Picture 14">
            <a:extLst>
              <a:ext uri="{FF2B5EF4-FFF2-40B4-BE49-F238E27FC236}">
                <a16:creationId xmlns:a16="http://schemas.microsoft.com/office/drawing/2014/main" id="{CE684A5A-3E77-0767-2C98-6FCBF0940CFD}"/>
              </a:ext>
            </a:extLst>
          </p:cNvPr>
          <p:cNvPicPr>
            <a:picLocks noChangeAspect="1"/>
          </p:cNvPicPr>
          <p:nvPr/>
        </p:nvPicPr>
        <p:blipFill>
          <a:blip r:embed="rId4"/>
          <a:stretch>
            <a:fillRect/>
          </a:stretch>
        </p:blipFill>
        <p:spPr>
          <a:xfrm>
            <a:off x="0" y="1"/>
            <a:ext cx="5592119" cy="251460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a:extLst>
            <a:ext uri="{FF2B5EF4-FFF2-40B4-BE49-F238E27FC236}">
              <a16:creationId xmlns:a16="http://schemas.microsoft.com/office/drawing/2014/main" id="{47B3EF03-DBE1-E287-73CF-344C4B9839DE}"/>
            </a:ext>
          </a:extLst>
        </p:cNvPr>
        <p:cNvGrpSpPr/>
        <p:nvPr/>
      </p:nvGrpSpPr>
      <p:grpSpPr>
        <a:xfrm>
          <a:off x="0" y="0"/>
          <a:ext cx="0" cy="0"/>
          <a:chOff x="0" y="0"/>
          <a:chExt cx="0" cy="0"/>
        </a:xfrm>
      </p:grpSpPr>
      <p:sp>
        <p:nvSpPr>
          <p:cNvPr id="12" name="Shape 9">
            <a:extLst>
              <a:ext uri="{FF2B5EF4-FFF2-40B4-BE49-F238E27FC236}">
                <a16:creationId xmlns:a16="http://schemas.microsoft.com/office/drawing/2014/main" id="{8EE6C423-2325-79D1-A5B2-34AF812CDB02}"/>
              </a:ext>
            </a:extLst>
          </p:cNvPr>
          <p:cNvSpPr/>
          <p:nvPr/>
        </p:nvSpPr>
        <p:spPr>
          <a:xfrm>
            <a:off x="0" y="9093200"/>
            <a:ext cx="16256000" cy="50800"/>
          </a:xfrm>
          <a:prstGeom prst="rect">
            <a:avLst/>
          </a:prstGeom>
          <a:solidFill>
            <a:srgbClr val="2B4C7E"/>
          </a:solidFill>
          <a:ln/>
        </p:spPr>
      </p:sp>
      <p:pic>
        <p:nvPicPr>
          <p:cNvPr id="13" name="Picture 12">
            <a:extLst>
              <a:ext uri="{FF2B5EF4-FFF2-40B4-BE49-F238E27FC236}">
                <a16:creationId xmlns:a16="http://schemas.microsoft.com/office/drawing/2014/main" id="{F39F1475-A7F8-AF9E-C382-8EEB9677A840}"/>
              </a:ext>
            </a:extLst>
          </p:cNvPr>
          <p:cNvPicPr>
            <a:picLocks noChangeAspect="1"/>
          </p:cNvPicPr>
          <p:nvPr/>
        </p:nvPicPr>
        <p:blipFill>
          <a:blip r:embed="rId3"/>
          <a:stretch>
            <a:fillRect/>
          </a:stretch>
        </p:blipFill>
        <p:spPr>
          <a:xfrm>
            <a:off x="10663880" y="36513"/>
            <a:ext cx="5592119" cy="2478087"/>
          </a:xfrm>
          <a:prstGeom prst="rect">
            <a:avLst/>
          </a:prstGeom>
        </p:spPr>
      </p:pic>
      <p:pic>
        <p:nvPicPr>
          <p:cNvPr id="15" name="Picture 14">
            <a:extLst>
              <a:ext uri="{FF2B5EF4-FFF2-40B4-BE49-F238E27FC236}">
                <a16:creationId xmlns:a16="http://schemas.microsoft.com/office/drawing/2014/main" id="{DFF45FFD-346F-E72C-CB1C-660BC5717C36}"/>
              </a:ext>
            </a:extLst>
          </p:cNvPr>
          <p:cNvPicPr>
            <a:picLocks noChangeAspect="1"/>
          </p:cNvPicPr>
          <p:nvPr/>
        </p:nvPicPr>
        <p:blipFill>
          <a:blip r:embed="rId4"/>
          <a:stretch>
            <a:fillRect/>
          </a:stretch>
        </p:blipFill>
        <p:spPr>
          <a:xfrm>
            <a:off x="0" y="1"/>
            <a:ext cx="5592119" cy="2514600"/>
          </a:xfrm>
          <a:prstGeom prst="rect">
            <a:avLst/>
          </a:prstGeom>
        </p:spPr>
      </p:pic>
      <p:sp>
        <p:nvSpPr>
          <p:cNvPr id="2" name="TextBox 1">
            <a:extLst>
              <a:ext uri="{FF2B5EF4-FFF2-40B4-BE49-F238E27FC236}">
                <a16:creationId xmlns:a16="http://schemas.microsoft.com/office/drawing/2014/main" id="{01AB6F57-8431-076D-C69E-F3E550D4FCD4}"/>
              </a:ext>
            </a:extLst>
          </p:cNvPr>
          <p:cNvSpPr txBox="1"/>
          <p:nvPr/>
        </p:nvSpPr>
        <p:spPr>
          <a:xfrm>
            <a:off x="494270" y="3237470"/>
            <a:ext cx="15285307" cy="2677656"/>
          </a:xfrm>
          <a:prstGeom prst="rect">
            <a:avLst/>
          </a:prstGeom>
          <a:noFill/>
        </p:spPr>
        <p:txBody>
          <a:bodyPr wrap="square" rtlCol="0">
            <a:spAutoFit/>
          </a:bodyPr>
          <a:lstStyle/>
          <a:p>
            <a:pPr algn="ctr"/>
            <a:r>
              <a:rPr lang="en-US" sz="4200" i="1" dirty="0">
                <a:solidFill>
                  <a:schemeClr val="bg1"/>
                </a:solidFill>
                <a:latin typeface="Engravers MT" panose="02090707080505020304" pitchFamily="18" charset="0"/>
                <a:cs typeface="Times New Roman" panose="02020603050405020304" pitchFamily="18" charset="0"/>
              </a:rPr>
              <a:t>“The goal is </a:t>
            </a:r>
          </a:p>
          <a:p>
            <a:pPr algn="ctr"/>
            <a:r>
              <a:rPr lang="en-US" sz="4200" i="1" dirty="0">
                <a:solidFill>
                  <a:schemeClr val="bg1"/>
                </a:solidFill>
                <a:latin typeface="Engravers MT" panose="02090707080505020304" pitchFamily="18" charset="0"/>
                <a:cs typeface="Times New Roman" panose="02020603050405020304" pitchFamily="18" charset="0"/>
              </a:rPr>
              <a:t>to turn data into information, </a:t>
            </a:r>
          </a:p>
          <a:p>
            <a:pPr algn="ctr"/>
            <a:r>
              <a:rPr lang="en-US" sz="4200" i="1" dirty="0">
                <a:solidFill>
                  <a:schemeClr val="bg1"/>
                </a:solidFill>
                <a:latin typeface="Engravers MT" panose="02090707080505020304" pitchFamily="18" charset="0"/>
                <a:cs typeface="Times New Roman" panose="02020603050405020304" pitchFamily="18" charset="0"/>
              </a:rPr>
              <a:t>and </a:t>
            </a:r>
          </a:p>
          <a:p>
            <a:pPr algn="ctr"/>
            <a:r>
              <a:rPr lang="en-US" sz="4200" i="1" dirty="0">
                <a:solidFill>
                  <a:schemeClr val="bg1"/>
                </a:solidFill>
                <a:latin typeface="Engravers MT" panose="02090707080505020304" pitchFamily="18" charset="0"/>
                <a:cs typeface="Times New Roman" panose="02020603050405020304" pitchFamily="18" charset="0"/>
              </a:rPr>
              <a:t>information into insight.”</a:t>
            </a:r>
            <a:endParaRPr lang="en-IN" sz="4200" i="1" dirty="0">
              <a:solidFill>
                <a:schemeClr val="bg1"/>
              </a:solidFill>
              <a:latin typeface="Engravers MT" panose="020907070805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D44CD7D5-B09A-66BA-3BC4-EF9ED19479DE}"/>
              </a:ext>
            </a:extLst>
          </p:cNvPr>
          <p:cNvSpPr txBox="1"/>
          <p:nvPr/>
        </p:nvSpPr>
        <p:spPr>
          <a:xfrm>
            <a:off x="9119287" y="6203092"/>
            <a:ext cx="5906529" cy="553998"/>
          </a:xfrm>
          <a:prstGeom prst="rect">
            <a:avLst/>
          </a:prstGeom>
          <a:noFill/>
        </p:spPr>
        <p:txBody>
          <a:bodyPr wrap="square" rtlCol="0">
            <a:spAutoFit/>
          </a:bodyPr>
          <a:lstStyle/>
          <a:p>
            <a:r>
              <a:rPr lang="en-US" sz="3000" b="1" i="1" dirty="0">
                <a:solidFill>
                  <a:schemeClr val="bg1"/>
                </a:solidFill>
                <a:latin typeface="Times New Roman" panose="02020603050405020304" pitchFamily="18" charset="0"/>
                <a:cs typeface="Times New Roman" panose="02020603050405020304" pitchFamily="18" charset="0"/>
              </a:rPr>
              <a:t>- Carly Fiorina, Former CEO of HP</a:t>
            </a:r>
            <a:endParaRPr lang="en-IN" sz="3000" b="1" i="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997226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6F8"/>
        </a:solidFill>
        <a:effectLst/>
      </p:bgPr>
    </p:bg>
    <p:spTree>
      <p:nvGrpSpPr>
        <p:cNvPr id="1" name=""/>
        <p:cNvGrpSpPr/>
        <p:nvPr/>
      </p:nvGrpSpPr>
      <p:grpSpPr>
        <a:xfrm>
          <a:off x="0" y="0"/>
          <a:ext cx="0" cy="0"/>
          <a:chOff x="0" y="0"/>
          <a:chExt cx="0" cy="0"/>
        </a:xfrm>
      </p:grpSpPr>
      <p:sp>
        <p:nvSpPr>
          <p:cNvPr id="3" name="Text 0"/>
          <p:cNvSpPr/>
          <p:nvPr/>
        </p:nvSpPr>
        <p:spPr>
          <a:xfrm>
            <a:off x="762000" y="635000"/>
            <a:ext cx="5080000" cy="571500"/>
          </a:xfrm>
          <a:prstGeom prst="rect">
            <a:avLst/>
          </a:prstGeom>
          <a:noFill/>
          <a:ln/>
        </p:spPr>
        <p:txBody>
          <a:bodyPr wrap="none" lIns="0" tIns="0" rIns="0" bIns="0" rtlCol="0" anchor="ctr"/>
          <a:lstStyle/>
          <a:p>
            <a:pPr algn="l">
              <a:lnSpc>
                <a:spcPct val="120000"/>
              </a:lnSpc>
            </a:pPr>
            <a:r>
              <a:rPr lang="en-US" sz="2800" dirty="0">
                <a:solidFill>
                  <a:srgbClr val="2B4C7E"/>
                </a:solidFill>
                <a:latin typeface="Liter" pitchFamily="34" charset="0"/>
                <a:ea typeface="Liter" pitchFamily="34" charset="-122"/>
                <a:cs typeface="Liter" pitchFamily="34" charset="-120"/>
              </a:rPr>
              <a:t>AGENDA</a:t>
            </a:r>
            <a:endParaRPr lang="en-US" sz="2800" dirty="0"/>
          </a:p>
        </p:txBody>
      </p:sp>
      <p:sp>
        <p:nvSpPr>
          <p:cNvPr id="4" name="Shape 1"/>
          <p:cNvSpPr/>
          <p:nvPr/>
        </p:nvSpPr>
        <p:spPr>
          <a:xfrm>
            <a:off x="762000" y="1270000"/>
            <a:ext cx="1016000" cy="50800"/>
          </a:xfrm>
          <a:prstGeom prst="rect">
            <a:avLst/>
          </a:prstGeom>
          <a:solidFill>
            <a:srgbClr val="D9534F"/>
          </a:solidFill>
          <a:ln/>
        </p:spPr>
      </p:sp>
      <p:sp>
        <p:nvSpPr>
          <p:cNvPr id="5" name="Shape 2"/>
          <p:cNvSpPr/>
          <p:nvPr/>
        </p:nvSpPr>
        <p:spPr>
          <a:xfrm>
            <a:off x="762000" y="1778000"/>
            <a:ext cx="4572000" cy="2921000"/>
          </a:xfrm>
          <a:prstGeom prst="rect">
            <a:avLst/>
          </a:prstGeom>
          <a:solidFill>
            <a:srgbClr val="FFFFFF"/>
          </a:solidFill>
          <a:ln/>
          <a:effectLst>
            <a:outerShdw blurRad="101600" dist="25400" dir="5400000" algn="bl" rotWithShape="0">
              <a:srgbClr val="000000">
                <a:alpha val="5098"/>
              </a:srgbClr>
            </a:outerShdw>
          </a:effectLst>
        </p:spPr>
      </p:sp>
      <p:sp>
        <p:nvSpPr>
          <p:cNvPr id="6" name="Text 3"/>
          <p:cNvSpPr/>
          <p:nvPr/>
        </p:nvSpPr>
        <p:spPr>
          <a:xfrm>
            <a:off x="1079500" y="2032000"/>
            <a:ext cx="1016000" cy="635000"/>
          </a:xfrm>
          <a:prstGeom prst="rect">
            <a:avLst/>
          </a:prstGeom>
          <a:noFill/>
          <a:ln/>
        </p:spPr>
        <p:txBody>
          <a:bodyPr wrap="none" lIns="0" tIns="0" rIns="0" bIns="0" rtlCol="0" anchor="t"/>
          <a:lstStyle/>
          <a:p>
            <a:pPr algn="l">
              <a:lnSpc>
                <a:spcPct val="120000"/>
              </a:lnSpc>
            </a:pPr>
            <a:r>
              <a:rPr lang="en-US" sz="3600" dirty="0">
                <a:solidFill>
                  <a:srgbClr val="2B4C7E"/>
                </a:solidFill>
                <a:latin typeface="Liter" pitchFamily="34" charset="0"/>
                <a:ea typeface="Liter" pitchFamily="34" charset="-122"/>
                <a:cs typeface="Liter" pitchFamily="34" charset="-120"/>
              </a:rPr>
              <a:t>01</a:t>
            </a:r>
            <a:endParaRPr lang="en-US" sz="3600" dirty="0"/>
          </a:p>
        </p:txBody>
      </p:sp>
      <p:sp>
        <p:nvSpPr>
          <p:cNvPr id="7" name="Text 4"/>
          <p:cNvSpPr/>
          <p:nvPr/>
        </p:nvSpPr>
        <p:spPr>
          <a:xfrm>
            <a:off x="1079500" y="2730500"/>
            <a:ext cx="3937000" cy="889000"/>
          </a:xfrm>
          <a:prstGeom prst="rect">
            <a:avLst/>
          </a:prstGeom>
          <a:noFill/>
          <a:ln/>
        </p:spPr>
        <p:txBody>
          <a:bodyPr wrap="square" lIns="0" tIns="0" rIns="0" bIns="0" rtlCol="0" anchor="t"/>
          <a:lstStyle/>
          <a:p>
            <a:pPr algn="l">
              <a:lnSpc>
                <a:spcPct val="140000"/>
              </a:lnSpc>
            </a:pPr>
            <a:r>
              <a:rPr lang="en-US" sz="1800" b="1" dirty="0">
                <a:solidFill>
                  <a:srgbClr val="1E293B"/>
                </a:solidFill>
                <a:latin typeface="Liter" pitchFamily="34" charset="0"/>
                <a:ea typeface="Liter" pitchFamily="34" charset="-122"/>
                <a:cs typeface="Liter" pitchFamily="34" charset="-120"/>
              </a:rPr>
              <a:t>Problem &amp; Motivation</a:t>
            </a:r>
            <a:endParaRPr lang="en-US" sz="1800" dirty="0"/>
          </a:p>
          <a:p>
            <a:pPr algn="l">
              <a:lnSpc>
                <a:spcPct val="140000"/>
              </a:lnSpc>
              <a:spcBef>
                <a:spcPts val="600"/>
              </a:spcBef>
            </a:pPr>
            <a:r>
              <a:rPr lang="en-US" sz="1400" dirty="0">
                <a:solidFill>
                  <a:srgbClr val="64748B"/>
                </a:solidFill>
                <a:latin typeface="Liter" pitchFamily="34" charset="0"/>
                <a:ea typeface="Liter" pitchFamily="34" charset="-122"/>
                <a:cs typeface="Liter" pitchFamily="34" charset="-120"/>
              </a:rPr>
              <a:t>The churn crisis in Indian telecom</a:t>
            </a:r>
            <a:endParaRPr lang="en-US" sz="1800" dirty="0"/>
          </a:p>
        </p:txBody>
      </p:sp>
      <p:sp>
        <p:nvSpPr>
          <p:cNvPr id="8" name="Shape 5"/>
          <p:cNvSpPr/>
          <p:nvPr/>
        </p:nvSpPr>
        <p:spPr>
          <a:xfrm>
            <a:off x="5842000" y="1778000"/>
            <a:ext cx="4572000" cy="2921000"/>
          </a:xfrm>
          <a:prstGeom prst="rect">
            <a:avLst/>
          </a:prstGeom>
          <a:solidFill>
            <a:srgbClr val="FFFFFF"/>
          </a:solidFill>
          <a:ln/>
          <a:effectLst>
            <a:outerShdw blurRad="101600" dist="25400" dir="5400000" algn="bl" rotWithShape="0">
              <a:srgbClr val="000000">
                <a:alpha val="5098"/>
              </a:srgbClr>
            </a:outerShdw>
          </a:effectLst>
        </p:spPr>
      </p:sp>
      <p:sp>
        <p:nvSpPr>
          <p:cNvPr id="9" name="Text 6"/>
          <p:cNvSpPr/>
          <p:nvPr/>
        </p:nvSpPr>
        <p:spPr>
          <a:xfrm>
            <a:off x="6159500" y="2032000"/>
            <a:ext cx="1016000" cy="635000"/>
          </a:xfrm>
          <a:prstGeom prst="rect">
            <a:avLst/>
          </a:prstGeom>
          <a:noFill/>
          <a:ln/>
        </p:spPr>
        <p:txBody>
          <a:bodyPr wrap="none" lIns="0" tIns="0" rIns="0" bIns="0" rtlCol="0" anchor="t"/>
          <a:lstStyle/>
          <a:p>
            <a:pPr algn="l">
              <a:lnSpc>
                <a:spcPct val="120000"/>
              </a:lnSpc>
            </a:pPr>
            <a:r>
              <a:rPr lang="en-US" sz="3600" dirty="0">
                <a:solidFill>
                  <a:srgbClr val="2B4C7E"/>
                </a:solidFill>
                <a:latin typeface="Liter" pitchFamily="34" charset="0"/>
                <a:ea typeface="Liter" pitchFamily="34" charset="-122"/>
                <a:cs typeface="Liter" pitchFamily="34" charset="-120"/>
              </a:rPr>
              <a:t>02</a:t>
            </a:r>
            <a:endParaRPr lang="en-US" sz="3600" dirty="0"/>
          </a:p>
        </p:txBody>
      </p:sp>
      <p:sp>
        <p:nvSpPr>
          <p:cNvPr id="10" name="Text 7"/>
          <p:cNvSpPr/>
          <p:nvPr/>
        </p:nvSpPr>
        <p:spPr>
          <a:xfrm>
            <a:off x="6159500" y="2730500"/>
            <a:ext cx="3937000" cy="889000"/>
          </a:xfrm>
          <a:prstGeom prst="rect">
            <a:avLst/>
          </a:prstGeom>
          <a:noFill/>
          <a:ln/>
        </p:spPr>
        <p:txBody>
          <a:bodyPr wrap="square" lIns="0" tIns="0" rIns="0" bIns="0" rtlCol="0" anchor="t"/>
          <a:lstStyle/>
          <a:p>
            <a:pPr algn="l">
              <a:lnSpc>
                <a:spcPct val="140000"/>
              </a:lnSpc>
            </a:pPr>
            <a:r>
              <a:rPr lang="en-US" sz="1800" b="1" dirty="0">
                <a:solidFill>
                  <a:srgbClr val="1E293B"/>
                </a:solidFill>
                <a:latin typeface="Liter" pitchFamily="34" charset="0"/>
                <a:ea typeface="Liter" pitchFamily="34" charset="-122"/>
                <a:cs typeface="Liter" pitchFamily="34" charset="-120"/>
              </a:rPr>
              <a:t>Data &amp; Methodology</a:t>
            </a:r>
            <a:endParaRPr lang="en-US" sz="1800" dirty="0"/>
          </a:p>
          <a:p>
            <a:pPr algn="l">
              <a:lnSpc>
                <a:spcPct val="140000"/>
              </a:lnSpc>
              <a:spcBef>
                <a:spcPts val="600"/>
              </a:spcBef>
            </a:pPr>
            <a:r>
              <a:rPr lang="en-US" sz="1400" dirty="0">
                <a:solidFill>
                  <a:srgbClr val="64748B"/>
                </a:solidFill>
                <a:latin typeface="Liter" pitchFamily="34" charset="0"/>
                <a:ea typeface="Liter" pitchFamily="34" charset="-122"/>
                <a:cs typeface="Liter" pitchFamily="34" charset="-120"/>
              </a:rPr>
              <a:t>100K records, 98 features, full pipeline</a:t>
            </a:r>
            <a:endParaRPr lang="en-US" sz="1800" dirty="0"/>
          </a:p>
        </p:txBody>
      </p:sp>
      <p:sp>
        <p:nvSpPr>
          <p:cNvPr id="11" name="Shape 8"/>
          <p:cNvSpPr/>
          <p:nvPr/>
        </p:nvSpPr>
        <p:spPr>
          <a:xfrm>
            <a:off x="10922000" y="1778000"/>
            <a:ext cx="4572000" cy="2921000"/>
          </a:xfrm>
          <a:prstGeom prst="rect">
            <a:avLst/>
          </a:prstGeom>
          <a:solidFill>
            <a:srgbClr val="FFFFFF"/>
          </a:solidFill>
          <a:ln/>
          <a:effectLst>
            <a:outerShdw blurRad="101600" dist="25400" dir="5400000" algn="bl" rotWithShape="0">
              <a:srgbClr val="000000">
                <a:alpha val="5098"/>
              </a:srgbClr>
            </a:outerShdw>
          </a:effectLst>
        </p:spPr>
      </p:sp>
      <p:sp>
        <p:nvSpPr>
          <p:cNvPr id="12" name="Text 9"/>
          <p:cNvSpPr/>
          <p:nvPr/>
        </p:nvSpPr>
        <p:spPr>
          <a:xfrm>
            <a:off x="11239500" y="2032000"/>
            <a:ext cx="1016000" cy="635000"/>
          </a:xfrm>
          <a:prstGeom prst="rect">
            <a:avLst/>
          </a:prstGeom>
          <a:noFill/>
          <a:ln/>
        </p:spPr>
        <p:txBody>
          <a:bodyPr wrap="none" lIns="0" tIns="0" rIns="0" bIns="0" rtlCol="0" anchor="t"/>
          <a:lstStyle/>
          <a:p>
            <a:pPr algn="l">
              <a:lnSpc>
                <a:spcPct val="120000"/>
              </a:lnSpc>
            </a:pPr>
            <a:r>
              <a:rPr lang="en-US" sz="3600" dirty="0">
                <a:solidFill>
                  <a:srgbClr val="2B4C7E"/>
                </a:solidFill>
                <a:latin typeface="Liter" pitchFamily="34" charset="0"/>
                <a:ea typeface="Liter" pitchFamily="34" charset="-122"/>
                <a:cs typeface="Liter" pitchFamily="34" charset="-120"/>
              </a:rPr>
              <a:t>03</a:t>
            </a:r>
            <a:endParaRPr lang="en-US" sz="3600" dirty="0"/>
          </a:p>
        </p:txBody>
      </p:sp>
      <p:sp>
        <p:nvSpPr>
          <p:cNvPr id="13" name="Text 10"/>
          <p:cNvSpPr/>
          <p:nvPr/>
        </p:nvSpPr>
        <p:spPr>
          <a:xfrm>
            <a:off x="11239500" y="2730500"/>
            <a:ext cx="3937000" cy="889000"/>
          </a:xfrm>
          <a:prstGeom prst="rect">
            <a:avLst/>
          </a:prstGeom>
          <a:noFill/>
          <a:ln/>
        </p:spPr>
        <p:txBody>
          <a:bodyPr wrap="square" lIns="0" tIns="0" rIns="0" bIns="0" rtlCol="0" anchor="t"/>
          <a:lstStyle/>
          <a:p>
            <a:pPr algn="l">
              <a:lnSpc>
                <a:spcPct val="140000"/>
              </a:lnSpc>
            </a:pPr>
            <a:r>
              <a:rPr lang="en-US" sz="1800" b="1" dirty="0">
                <a:solidFill>
                  <a:srgbClr val="1E293B"/>
                </a:solidFill>
                <a:latin typeface="Liter" pitchFamily="34" charset="0"/>
                <a:ea typeface="Liter" pitchFamily="34" charset="-122"/>
                <a:cs typeface="Liter" pitchFamily="34" charset="-120"/>
              </a:rPr>
              <a:t>Exploratory Analysis</a:t>
            </a:r>
            <a:endParaRPr lang="en-US" sz="1800" dirty="0"/>
          </a:p>
          <a:p>
            <a:pPr algn="l">
              <a:lnSpc>
                <a:spcPct val="140000"/>
              </a:lnSpc>
              <a:spcBef>
                <a:spcPts val="600"/>
              </a:spcBef>
            </a:pPr>
            <a:r>
              <a:rPr lang="en-US" sz="1400" dirty="0">
                <a:solidFill>
                  <a:srgbClr val="64748B"/>
                </a:solidFill>
                <a:latin typeface="Liter" pitchFamily="34" charset="0"/>
                <a:ea typeface="Liter" pitchFamily="34" charset="-122"/>
                <a:cs typeface="Liter" pitchFamily="34" charset="-120"/>
              </a:rPr>
              <a:t>Two validated business hypotheses</a:t>
            </a:r>
            <a:endParaRPr lang="en-US" sz="1800" dirty="0"/>
          </a:p>
        </p:txBody>
      </p:sp>
      <p:sp>
        <p:nvSpPr>
          <p:cNvPr id="14" name="Shape 11"/>
          <p:cNvSpPr/>
          <p:nvPr/>
        </p:nvSpPr>
        <p:spPr>
          <a:xfrm>
            <a:off x="762000" y="5207000"/>
            <a:ext cx="4572000" cy="2921000"/>
          </a:xfrm>
          <a:prstGeom prst="rect">
            <a:avLst/>
          </a:prstGeom>
          <a:solidFill>
            <a:srgbClr val="FFFFFF"/>
          </a:solidFill>
          <a:ln/>
          <a:effectLst>
            <a:outerShdw blurRad="101600" dist="25400" dir="5400000" algn="bl" rotWithShape="0">
              <a:srgbClr val="000000">
                <a:alpha val="5098"/>
              </a:srgbClr>
            </a:outerShdw>
          </a:effectLst>
        </p:spPr>
      </p:sp>
      <p:sp>
        <p:nvSpPr>
          <p:cNvPr id="15" name="Text 12"/>
          <p:cNvSpPr/>
          <p:nvPr/>
        </p:nvSpPr>
        <p:spPr>
          <a:xfrm>
            <a:off x="1079500" y="5461000"/>
            <a:ext cx="1016000" cy="635000"/>
          </a:xfrm>
          <a:prstGeom prst="rect">
            <a:avLst/>
          </a:prstGeom>
          <a:noFill/>
          <a:ln/>
        </p:spPr>
        <p:txBody>
          <a:bodyPr wrap="none" lIns="0" tIns="0" rIns="0" bIns="0" rtlCol="0" anchor="t"/>
          <a:lstStyle/>
          <a:p>
            <a:pPr algn="l">
              <a:lnSpc>
                <a:spcPct val="120000"/>
              </a:lnSpc>
            </a:pPr>
            <a:r>
              <a:rPr lang="en-US" sz="3600" dirty="0">
                <a:solidFill>
                  <a:srgbClr val="2B4C7E"/>
                </a:solidFill>
                <a:latin typeface="Liter" pitchFamily="34" charset="0"/>
                <a:ea typeface="Liter" pitchFamily="34" charset="-122"/>
                <a:cs typeface="Liter" pitchFamily="34" charset="-120"/>
              </a:rPr>
              <a:t>04</a:t>
            </a:r>
            <a:endParaRPr lang="en-US" sz="3600" dirty="0"/>
          </a:p>
        </p:txBody>
      </p:sp>
      <p:sp>
        <p:nvSpPr>
          <p:cNvPr id="16" name="Text 13"/>
          <p:cNvSpPr/>
          <p:nvPr/>
        </p:nvSpPr>
        <p:spPr>
          <a:xfrm>
            <a:off x="1079500" y="6159500"/>
            <a:ext cx="3937000" cy="889000"/>
          </a:xfrm>
          <a:prstGeom prst="rect">
            <a:avLst/>
          </a:prstGeom>
          <a:noFill/>
          <a:ln/>
        </p:spPr>
        <p:txBody>
          <a:bodyPr wrap="square" lIns="0" tIns="0" rIns="0" bIns="0" rtlCol="0" anchor="t"/>
          <a:lstStyle/>
          <a:p>
            <a:pPr algn="l">
              <a:lnSpc>
                <a:spcPct val="140000"/>
              </a:lnSpc>
            </a:pPr>
            <a:r>
              <a:rPr lang="en-US" sz="1800" b="1" dirty="0">
                <a:solidFill>
                  <a:srgbClr val="1E293B"/>
                </a:solidFill>
                <a:latin typeface="Liter" pitchFamily="34" charset="0"/>
                <a:ea typeface="Liter" pitchFamily="34" charset="-122"/>
                <a:cs typeface="Liter" pitchFamily="34" charset="-120"/>
              </a:rPr>
              <a:t>Modeling &amp; Results</a:t>
            </a:r>
            <a:endParaRPr lang="en-US" sz="1800" dirty="0"/>
          </a:p>
          <a:p>
            <a:pPr algn="l">
              <a:lnSpc>
                <a:spcPct val="140000"/>
              </a:lnSpc>
              <a:spcBef>
                <a:spcPts val="600"/>
              </a:spcBef>
            </a:pPr>
            <a:r>
              <a:rPr lang="en-US" sz="1400" dirty="0">
                <a:solidFill>
                  <a:srgbClr val="64748B"/>
                </a:solidFill>
                <a:latin typeface="Liter" pitchFamily="34" charset="0"/>
                <a:ea typeface="Liter" pitchFamily="34" charset="-122"/>
                <a:cs typeface="Liter" pitchFamily="34" charset="-120"/>
              </a:rPr>
              <a:t>RF vs XGBoost, feature importance</a:t>
            </a:r>
            <a:endParaRPr lang="en-US" sz="1800" dirty="0"/>
          </a:p>
        </p:txBody>
      </p:sp>
      <p:sp>
        <p:nvSpPr>
          <p:cNvPr id="17" name="Shape 14"/>
          <p:cNvSpPr/>
          <p:nvPr/>
        </p:nvSpPr>
        <p:spPr>
          <a:xfrm>
            <a:off x="5842000" y="5207000"/>
            <a:ext cx="4572000" cy="2921000"/>
          </a:xfrm>
          <a:prstGeom prst="rect">
            <a:avLst/>
          </a:prstGeom>
          <a:solidFill>
            <a:srgbClr val="FFFFFF"/>
          </a:solidFill>
          <a:ln/>
          <a:effectLst>
            <a:outerShdw blurRad="101600" dist="25400" dir="5400000" algn="bl" rotWithShape="0">
              <a:srgbClr val="000000">
                <a:alpha val="5098"/>
              </a:srgbClr>
            </a:outerShdw>
          </a:effectLst>
        </p:spPr>
      </p:sp>
      <p:sp>
        <p:nvSpPr>
          <p:cNvPr id="18" name="Text 15"/>
          <p:cNvSpPr/>
          <p:nvPr/>
        </p:nvSpPr>
        <p:spPr>
          <a:xfrm>
            <a:off x="6159500" y="5461000"/>
            <a:ext cx="1016000" cy="635000"/>
          </a:xfrm>
          <a:prstGeom prst="rect">
            <a:avLst/>
          </a:prstGeom>
          <a:noFill/>
          <a:ln/>
        </p:spPr>
        <p:txBody>
          <a:bodyPr wrap="none" lIns="0" tIns="0" rIns="0" bIns="0" rtlCol="0" anchor="t"/>
          <a:lstStyle/>
          <a:p>
            <a:pPr algn="l">
              <a:lnSpc>
                <a:spcPct val="120000"/>
              </a:lnSpc>
            </a:pPr>
            <a:r>
              <a:rPr lang="en-US" sz="3600" dirty="0">
                <a:solidFill>
                  <a:srgbClr val="D9534F"/>
                </a:solidFill>
                <a:latin typeface="Liter" pitchFamily="34" charset="0"/>
                <a:ea typeface="Liter" pitchFamily="34" charset="-122"/>
                <a:cs typeface="Liter" pitchFamily="34" charset="-120"/>
              </a:rPr>
              <a:t>05</a:t>
            </a:r>
            <a:endParaRPr lang="en-US" sz="3600" dirty="0"/>
          </a:p>
        </p:txBody>
      </p:sp>
      <p:sp>
        <p:nvSpPr>
          <p:cNvPr id="19" name="Text 16"/>
          <p:cNvSpPr/>
          <p:nvPr/>
        </p:nvSpPr>
        <p:spPr>
          <a:xfrm>
            <a:off x="6159500" y="6159500"/>
            <a:ext cx="3937000" cy="889000"/>
          </a:xfrm>
          <a:prstGeom prst="rect">
            <a:avLst/>
          </a:prstGeom>
          <a:noFill/>
          <a:ln/>
        </p:spPr>
        <p:txBody>
          <a:bodyPr wrap="square" lIns="0" tIns="0" rIns="0" bIns="0" rtlCol="0" anchor="t"/>
          <a:lstStyle/>
          <a:p>
            <a:pPr algn="l">
              <a:lnSpc>
                <a:spcPct val="140000"/>
              </a:lnSpc>
            </a:pPr>
            <a:r>
              <a:rPr lang="en-US" sz="1800" b="1" dirty="0">
                <a:solidFill>
                  <a:srgbClr val="1E293B"/>
                </a:solidFill>
                <a:latin typeface="Liter" pitchFamily="34" charset="0"/>
                <a:ea typeface="Liter" pitchFamily="34" charset="-122"/>
                <a:cs typeface="Liter" pitchFamily="34" charset="-120"/>
              </a:rPr>
              <a:t>Business Impact &amp; ROI</a:t>
            </a:r>
            <a:endParaRPr lang="en-US" sz="1800" dirty="0"/>
          </a:p>
          <a:p>
            <a:pPr algn="l">
              <a:lnSpc>
                <a:spcPct val="140000"/>
              </a:lnSpc>
              <a:spcBef>
                <a:spcPts val="600"/>
              </a:spcBef>
            </a:pPr>
            <a:r>
              <a:rPr lang="en-US" sz="1400" dirty="0">
                <a:solidFill>
                  <a:srgbClr val="64748B"/>
                </a:solidFill>
                <a:latin typeface="Liter" pitchFamily="34" charset="0"/>
                <a:ea typeface="Liter" pitchFamily="34" charset="-122"/>
                <a:cs typeface="Liter" pitchFamily="34" charset="-120"/>
              </a:rPr>
              <a:t>$17.3K net ROI simulation</a:t>
            </a:r>
            <a:endParaRPr lang="en-US" sz="1800" dirty="0"/>
          </a:p>
        </p:txBody>
      </p:sp>
      <p:sp>
        <p:nvSpPr>
          <p:cNvPr id="20" name="Shape 17"/>
          <p:cNvSpPr/>
          <p:nvPr/>
        </p:nvSpPr>
        <p:spPr>
          <a:xfrm>
            <a:off x="10922000" y="5207000"/>
            <a:ext cx="4572000" cy="2921000"/>
          </a:xfrm>
          <a:prstGeom prst="rect">
            <a:avLst/>
          </a:prstGeom>
          <a:solidFill>
            <a:srgbClr val="FFFFFF"/>
          </a:solidFill>
          <a:ln/>
          <a:effectLst>
            <a:outerShdw blurRad="101600" dist="25400" dir="5400000" algn="bl" rotWithShape="0">
              <a:srgbClr val="000000">
                <a:alpha val="5098"/>
              </a:srgbClr>
            </a:outerShdw>
          </a:effectLst>
        </p:spPr>
      </p:sp>
      <p:sp>
        <p:nvSpPr>
          <p:cNvPr id="21" name="Text 18"/>
          <p:cNvSpPr/>
          <p:nvPr/>
        </p:nvSpPr>
        <p:spPr>
          <a:xfrm>
            <a:off x="11239500" y="5461000"/>
            <a:ext cx="1016000" cy="635000"/>
          </a:xfrm>
          <a:prstGeom prst="rect">
            <a:avLst/>
          </a:prstGeom>
          <a:noFill/>
          <a:ln/>
        </p:spPr>
        <p:txBody>
          <a:bodyPr wrap="none" lIns="0" tIns="0" rIns="0" bIns="0" rtlCol="0" anchor="t"/>
          <a:lstStyle/>
          <a:p>
            <a:pPr algn="l">
              <a:lnSpc>
                <a:spcPct val="120000"/>
              </a:lnSpc>
            </a:pPr>
            <a:r>
              <a:rPr lang="en-US" sz="3600" dirty="0">
                <a:solidFill>
                  <a:srgbClr val="2B4C7E"/>
                </a:solidFill>
                <a:latin typeface="Liter" pitchFamily="34" charset="0"/>
                <a:ea typeface="Liter" pitchFamily="34" charset="-122"/>
                <a:cs typeface="Liter" pitchFamily="34" charset="-120"/>
              </a:rPr>
              <a:t>06</a:t>
            </a:r>
            <a:endParaRPr lang="en-US" sz="3600" dirty="0"/>
          </a:p>
        </p:txBody>
      </p:sp>
      <p:sp>
        <p:nvSpPr>
          <p:cNvPr id="22" name="Text 19"/>
          <p:cNvSpPr/>
          <p:nvPr/>
        </p:nvSpPr>
        <p:spPr>
          <a:xfrm>
            <a:off x="11239500" y="6159500"/>
            <a:ext cx="3937000" cy="889000"/>
          </a:xfrm>
          <a:prstGeom prst="rect">
            <a:avLst/>
          </a:prstGeom>
          <a:noFill/>
          <a:ln/>
        </p:spPr>
        <p:txBody>
          <a:bodyPr wrap="square" lIns="0" tIns="0" rIns="0" bIns="0" rtlCol="0" anchor="t"/>
          <a:lstStyle/>
          <a:p>
            <a:pPr algn="l">
              <a:lnSpc>
                <a:spcPct val="140000"/>
              </a:lnSpc>
            </a:pPr>
            <a:r>
              <a:rPr lang="en-US" sz="1800" b="1" dirty="0">
                <a:solidFill>
                  <a:srgbClr val="1E293B"/>
                </a:solidFill>
                <a:latin typeface="Liter" pitchFamily="34" charset="0"/>
                <a:ea typeface="Liter" pitchFamily="34" charset="-122"/>
                <a:cs typeface="Liter" pitchFamily="34" charset="-120"/>
              </a:rPr>
              <a:t>Roadmap &amp; Conclusion</a:t>
            </a:r>
            <a:endParaRPr lang="en-US" sz="1800" dirty="0"/>
          </a:p>
          <a:p>
            <a:pPr algn="l">
              <a:lnSpc>
                <a:spcPct val="140000"/>
              </a:lnSpc>
              <a:spcBef>
                <a:spcPts val="600"/>
              </a:spcBef>
            </a:pPr>
            <a:r>
              <a:rPr lang="en-US" sz="1400" dirty="0">
                <a:solidFill>
                  <a:srgbClr val="64748B"/>
                </a:solidFill>
                <a:latin typeface="Liter" pitchFamily="34" charset="0"/>
                <a:ea typeface="Liter" pitchFamily="34" charset="-122"/>
                <a:cs typeface="Liter" pitchFamily="34" charset="-120"/>
              </a:rPr>
              <a:t>Next steps and call to action</a:t>
            </a:r>
            <a:endParaRPr lang="en-US" sz="18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6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243E63"/>
          </a:solidFill>
          <a:ln/>
        </p:spPr>
      </p:sp>
      <p:sp>
        <p:nvSpPr>
          <p:cNvPr id="4" name="Shape 1"/>
          <p:cNvSpPr/>
          <p:nvPr/>
        </p:nvSpPr>
        <p:spPr>
          <a:xfrm>
            <a:off x="127000" y="63500"/>
            <a:ext cx="2540000" cy="381000"/>
          </a:xfrm>
          <a:prstGeom prst="roundRect">
            <a:avLst>
              <a:gd name="adj" fmla="val 8000"/>
            </a:avLst>
          </a:prstGeom>
          <a:solidFill>
            <a:srgbClr val="3A5A8C"/>
          </a:solidFill>
          <a:ln/>
        </p:spPr>
      </p:sp>
      <p:sp>
        <p:nvSpPr>
          <p:cNvPr id="5" name="Text 2"/>
          <p:cNvSpPr/>
          <p:nvPr/>
        </p:nvSpPr>
        <p:spPr>
          <a:xfrm>
            <a:off x="127000" y="63500"/>
            <a:ext cx="2540000" cy="381000"/>
          </a:xfrm>
          <a:prstGeom prst="rect">
            <a:avLst/>
          </a:prstGeom>
          <a:noFill/>
          <a:ln/>
        </p:spPr>
        <p:txBody>
          <a:bodyPr wrap="none" lIns="0" tIns="0" rIns="0" bIns="0" rtlCol="0" anchor="ctr"/>
          <a:lstStyle/>
          <a:p>
            <a:pPr algn="ctr">
              <a:lnSpc>
                <a:spcPct val="120000"/>
              </a:lnSpc>
            </a:pPr>
            <a:r>
              <a:rPr lang="en-US" sz="1100" b="1" dirty="0">
                <a:solidFill>
                  <a:srgbClr val="FFFFFF"/>
                </a:solidFill>
                <a:latin typeface="Quattrocento Sans" pitchFamily="34" charset="0"/>
                <a:ea typeface="Quattrocento Sans" pitchFamily="34" charset="-122"/>
                <a:cs typeface="Quattrocento Sans" pitchFamily="34" charset="-120"/>
              </a:rPr>
              <a:t>Problem &amp; Motivation</a:t>
            </a:r>
            <a:endParaRPr lang="en-US" sz="1100" dirty="0"/>
          </a:p>
        </p:txBody>
      </p:sp>
      <p:sp>
        <p:nvSpPr>
          <p:cNvPr id="6" name="Text 3"/>
          <p:cNvSpPr/>
          <p:nvPr/>
        </p:nvSpPr>
        <p:spPr>
          <a:xfrm>
            <a:off x="2794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Data &amp; Methodology</a:t>
            </a:r>
            <a:endParaRPr lang="en-US" sz="1100" dirty="0"/>
          </a:p>
        </p:txBody>
      </p:sp>
      <p:sp>
        <p:nvSpPr>
          <p:cNvPr id="7" name="Text 4"/>
          <p:cNvSpPr/>
          <p:nvPr/>
        </p:nvSpPr>
        <p:spPr>
          <a:xfrm>
            <a:off x="5461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Exploratory Analysis</a:t>
            </a:r>
            <a:endParaRPr lang="en-US" sz="1100" dirty="0"/>
          </a:p>
        </p:txBody>
      </p:sp>
      <p:sp>
        <p:nvSpPr>
          <p:cNvPr id="8" name="Text 5"/>
          <p:cNvSpPr/>
          <p:nvPr/>
        </p:nvSpPr>
        <p:spPr>
          <a:xfrm>
            <a:off x="8128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Modeling &amp; Results</a:t>
            </a:r>
            <a:endParaRPr lang="en-US" sz="1100" dirty="0"/>
          </a:p>
        </p:txBody>
      </p:sp>
      <p:sp>
        <p:nvSpPr>
          <p:cNvPr id="9" name="Text 6"/>
          <p:cNvSpPr/>
          <p:nvPr/>
        </p:nvSpPr>
        <p:spPr>
          <a:xfrm>
            <a:off x="10795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Business Impact</a:t>
            </a:r>
            <a:endParaRPr lang="en-US" sz="1100" dirty="0"/>
          </a:p>
        </p:txBody>
      </p:sp>
      <p:sp>
        <p:nvSpPr>
          <p:cNvPr id="10" name="Text 7"/>
          <p:cNvSpPr/>
          <p:nvPr/>
        </p:nvSpPr>
        <p:spPr>
          <a:xfrm>
            <a:off x="13462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Roadmap</a:t>
            </a:r>
            <a:endParaRPr lang="en-US" sz="1100" dirty="0"/>
          </a:p>
        </p:txBody>
      </p:sp>
      <p:sp>
        <p:nvSpPr>
          <p:cNvPr id="11" name="Shape 8"/>
          <p:cNvSpPr/>
          <p:nvPr/>
        </p:nvSpPr>
        <p:spPr>
          <a:xfrm>
            <a:off x="0" y="508000"/>
            <a:ext cx="16256000" cy="25400"/>
          </a:xfrm>
          <a:prstGeom prst="rect">
            <a:avLst/>
          </a:prstGeom>
          <a:solidFill>
            <a:srgbClr val="2B4C7E"/>
          </a:solidFill>
          <a:ln/>
        </p:spPr>
      </p:sp>
      <p:sp>
        <p:nvSpPr>
          <p:cNvPr id="12" name="Text 9"/>
          <p:cNvSpPr/>
          <p:nvPr/>
        </p:nvSpPr>
        <p:spPr>
          <a:xfrm>
            <a:off x="762000" y="736600"/>
            <a:ext cx="8890000" cy="508000"/>
          </a:xfrm>
          <a:prstGeom prst="rect">
            <a:avLst/>
          </a:prstGeom>
          <a:noFill/>
          <a:ln/>
        </p:spPr>
        <p:txBody>
          <a:bodyPr wrap="none" lIns="0" tIns="0" rIns="0" bIns="0" rtlCol="0" anchor="ctr"/>
          <a:lstStyle/>
          <a:p>
            <a:pPr algn="l">
              <a:lnSpc>
                <a:spcPct val="120000"/>
              </a:lnSpc>
            </a:pPr>
            <a:r>
              <a:rPr lang="en-US" sz="2800" dirty="0">
                <a:solidFill>
                  <a:srgbClr val="2B4C7E"/>
                </a:solidFill>
                <a:latin typeface="Liter" pitchFamily="34" charset="0"/>
                <a:ea typeface="Liter" pitchFamily="34" charset="-122"/>
                <a:cs typeface="Liter" pitchFamily="34" charset="-120"/>
              </a:rPr>
              <a:t>The Churn Problem in Indian Telecom</a:t>
            </a:r>
            <a:endParaRPr lang="en-US" sz="2800" dirty="0"/>
          </a:p>
        </p:txBody>
      </p:sp>
      <p:sp>
        <p:nvSpPr>
          <p:cNvPr id="13" name="Shape 10"/>
          <p:cNvSpPr/>
          <p:nvPr/>
        </p:nvSpPr>
        <p:spPr>
          <a:xfrm>
            <a:off x="762000" y="1308100"/>
            <a:ext cx="762000" cy="50800"/>
          </a:xfrm>
          <a:prstGeom prst="rect">
            <a:avLst/>
          </a:prstGeom>
          <a:solidFill>
            <a:srgbClr val="D9534F"/>
          </a:solidFill>
          <a:ln/>
        </p:spPr>
      </p:sp>
      <p:sp>
        <p:nvSpPr>
          <p:cNvPr id="14" name="Shape 11"/>
          <p:cNvSpPr/>
          <p:nvPr/>
        </p:nvSpPr>
        <p:spPr>
          <a:xfrm>
            <a:off x="1016000" y="1778000"/>
            <a:ext cx="457200" cy="457200"/>
          </a:xfrm>
          <a:custGeom>
            <a:avLst/>
            <a:gdLst/>
            <a:ahLst/>
            <a:cxnLst/>
            <a:rect l="l" t="t" r="r" b="b"/>
            <a:pathLst>
              <a:path w="457200" h="457200">
                <a:moveTo>
                  <a:pt x="304800" y="142875"/>
                </a:moveTo>
                <a:cubicBezTo>
                  <a:pt x="290751" y="142875"/>
                  <a:pt x="279400" y="130106"/>
                  <a:pt x="279400" y="114300"/>
                </a:cubicBezTo>
                <a:cubicBezTo>
                  <a:pt x="279400" y="98494"/>
                  <a:pt x="290751" y="85725"/>
                  <a:pt x="304800" y="85725"/>
                </a:cubicBezTo>
                <a:lnTo>
                  <a:pt x="431800" y="85725"/>
                </a:lnTo>
                <a:cubicBezTo>
                  <a:pt x="445849" y="85725"/>
                  <a:pt x="457200" y="98494"/>
                  <a:pt x="457200" y="114300"/>
                </a:cubicBezTo>
                <a:lnTo>
                  <a:pt x="457200" y="257175"/>
                </a:lnTo>
                <a:cubicBezTo>
                  <a:pt x="457200" y="272981"/>
                  <a:pt x="445849" y="285750"/>
                  <a:pt x="431800" y="285750"/>
                </a:cubicBezTo>
                <a:cubicBezTo>
                  <a:pt x="417751" y="285750"/>
                  <a:pt x="406400" y="272981"/>
                  <a:pt x="406400" y="257175"/>
                </a:cubicBezTo>
                <a:lnTo>
                  <a:pt x="406400" y="183326"/>
                </a:lnTo>
                <a:lnTo>
                  <a:pt x="271939" y="334595"/>
                </a:lnTo>
                <a:cubicBezTo>
                  <a:pt x="262017" y="345758"/>
                  <a:pt x="245904" y="345758"/>
                  <a:pt x="235982" y="334595"/>
                </a:cubicBezTo>
                <a:lnTo>
                  <a:pt x="152400" y="240476"/>
                </a:lnTo>
                <a:lnTo>
                  <a:pt x="43339" y="363081"/>
                </a:lnTo>
                <a:cubicBezTo>
                  <a:pt x="33417" y="374243"/>
                  <a:pt x="17304" y="374243"/>
                  <a:pt x="7382" y="363081"/>
                </a:cubicBezTo>
                <a:cubicBezTo>
                  <a:pt x="-2540" y="351919"/>
                  <a:pt x="-2540" y="333792"/>
                  <a:pt x="7382" y="322630"/>
                </a:cubicBezTo>
                <a:lnTo>
                  <a:pt x="134382" y="179755"/>
                </a:lnTo>
                <a:cubicBezTo>
                  <a:pt x="144304" y="168593"/>
                  <a:pt x="160417" y="168593"/>
                  <a:pt x="170339" y="179755"/>
                </a:cubicBezTo>
                <a:lnTo>
                  <a:pt x="254000" y="273874"/>
                </a:lnTo>
                <a:lnTo>
                  <a:pt x="370443" y="142875"/>
                </a:lnTo>
                <a:lnTo>
                  <a:pt x="304800" y="142875"/>
                </a:lnTo>
                <a:close/>
              </a:path>
            </a:pathLst>
          </a:custGeom>
          <a:solidFill>
            <a:srgbClr val="D9534F"/>
          </a:solidFill>
          <a:ln/>
        </p:spPr>
      </p:sp>
      <p:sp>
        <p:nvSpPr>
          <p:cNvPr id="15" name="Shape 12"/>
          <p:cNvSpPr/>
          <p:nvPr/>
        </p:nvSpPr>
        <p:spPr>
          <a:xfrm>
            <a:off x="762000" y="1651000"/>
            <a:ext cx="4572000" cy="1651000"/>
          </a:xfrm>
          <a:prstGeom prst="rect">
            <a:avLst/>
          </a:prstGeom>
          <a:solidFill>
            <a:srgbClr val="FFFFFF"/>
          </a:solidFill>
          <a:ln/>
        </p:spPr>
      </p:sp>
      <p:sp>
        <p:nvSpPr>
          <p:cNvPr id="16" name="Shape 13"/>
          <p:cNvSpPr/>
          <p:nvPr/>
        </p:nvSpPr>
        <p:spPr>
          <a:xfrm>
            <a:off x="762000" y="1651000"/>
            <a:ext cx="50800" cy="1651000"/>
          </a:xfrm>
          <a:prstGeom prst="rect">
            <a:avLst/>
          </a:prstGeom>
          <a:solidFill>
            <a:srgbClr val="D9534F"/>
          </a:solidFill>
          <a:ln/>
        </p:spPr>
      </p:sp>
      <p:sp>
        <p:nvSpPr>
          <p:cNvPr id="17" name="Text 14"/>
          <p:cNvSpPr/>
          <p:nvPr/>
        </p:nvSpPr>
        <p:spPr>
          <a:xfrm>
            <a:off x="1651000" y="1778000"/>
            <a:ext cx="3429000" cy="355600"/>
          </a:xfrm>
          <a:prstGeom prst="rect">
            <a:avLst/>
          </a:prstGeom>
          <a:noFill/>
          <a:ln/>
        </p:spPr>
        <p:txBody>
          <a:bodyPr wrap="none" lIns="0" tIns="0" rIns="0" bIns="0" rtlCol="0" anchor="ctr"/>
          <a:lstStyle/>
          <a:p>
            <a:pPr algn="l">
              <a:lnSpc>
                <a:spcPct val="120000"/>
              </a:lnSpc>
            </a:pPr>
            <a:r>
              <a:rPr lang="en-US" sz="1600" b="1" dirty="0">
                <a:solidFill>
                  <a:srgbClr val="1E293B"/>
                </a:solidFill>
                <a:latin typeface="Liter" pitchFamily="34" charset="0"/>
                <a:ea typeface="Liter" pitchFamily="34" charset="-122"/>
                <a:cs typeface="Liter" pitchFamily="34" charset="-120"/>
              </a:rPr>
              <a:t>Rising CAC</a:t>
            </a:r>
            <a:endParaRPr lang="en-US" sz="1600" dirty="0"/>
          </a:p>
        </p:txBody>
      </p:sp>
      <p:sp>
        <p:nvSpPr>
          <p:cNvPr id="18" name="Text 15"/>
          <p:cNvSpPr/>
          <p:nvPr/>
        </p:nvSpPr>
        <p:spPr>
          <a:xfrm>
            <a:off x="1651000" y="2159000"/>
            <a:ext cx="3429000" cy="9525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Customer Acquisition Cost is climbing in the saturated Indian telecom market, making ARR protection critical.</a:t>
            </a:r>
            <a:endParaRPr lang="en-US" sz="1400" dirty="0"/>
          </a:p>
        </p:txBody>
      </p:sp>
      <p:sp>
        <p:nvSpPr>
          <p:cNvPr id="19" name="Shape 16"/>
          <p:cNvSpPr/>
          <p:nvPr/>
        </p:nvSpPr>
        <p:spPr>
          <a:xfrm>
            <a:off x="5842000" y="1778000"/>
            <a:ext cx="457200" cy="457200"/>
          </a:xfrm>
          <a:custGeom>
            <a:avLst/>
            <a:gdLst/>
            <a:ahLst/>
            <a:cxnLst/>
            <a:rect l="l" t="t" r="r" b="b"/>
            <a:pathLst>
              <a:path w="457200" h="457200">
                <a:moveTo>
                  <a:pt x="457200" y="183773"/>
                </a:moveTo>
                <a:cubicBezTo>
                  <a:pt x="442096" y="192524"/>
                  <a:pt x="424747" y="199579"/>
                  <a:pt x="406683" y="205204"/>
                </a:cubicBezTo>
                <a:cubicBezTo>
                  <a:pt x="358718" y="220206"/>
                  <a:pt x="295751" y="228600"/>
                  <a:pt x="228600" y="228600"/>
                </a:cubicBezTo>
                <a:cubicBezTo>
                  <a:pt x="161449" y="228600"/>
                  <a:pt x="98380" y="220117"/>
                  <a:pt x="50517" y="205204"/>
                </a:cubicBezTo>
                <a:cubicBezTo>
                  <a:pt x="32555" y="199579"/>
                  <a:pt x="15104" y="192524"/>
                  <a:pt x="0" y="183773"/>
                </a:cubicBezTo>
                <a:lnTo>
                  <a:pt x="0" y="257175"/>
                </a:lnTo>
                <a:cubicBezTo>
                  <a:pt x="0" y="296644"/>
                  <a:pt x="102360" y="328613"/>
                  <a:pt x="228600" y="328613"/>
                </a:cubicBezTo>
                <a:cubicBezTo>
                  <a:pt x="354840" y="328613"/>
                  <a:pt x="457200" y="296644"/>
                  <a:pt x="457200" y="257175"/>
                </a:cubicBezTo>
                <a:lnTo>
                  <a:pt x="457200" y="183773"/>
                </a:lnTo>
                <a:close/>
                <a:moveTo>
                  <a:pt x="457200" y="114300"/>
                </a:moveTo>
                <a:lnTo>
                  <a:pt x="457200" y="71438"/>
                </a:lnTo>
                <a:cubicBezTo>
                  <a:pt x="457200" y="31968"/>
                  <a:pt x="354840" y="0"/>
                  <a:pt x="228600" y="0"/>
                </a:cubicBezTo>
                <a:cubicBezTo>
                  <a:pt x="102360" y="0"/>
                  <a:pt x="0" y="31968"/>
                  <a:pt x="0" y="71438"/>
                </a:cubicBezTo>
                <a:lnTo>
                  <a:pt x="0" y="114300"/>
                </a:lnTo>
                <a:cubicBezTo>
                  <a:pt x="0" y="153769"/>
                  <a:pt x="102360" y="185738"/>
                  <a:pt x="228600" y="185738"/>
                </a:cubicBezTo>
                <a:cubicBezTo>
                  <a:pt x="354840" y="185738"/>
                  <a:pt x="457200" y="153769"/>
                  <a:pt x="457200" y="114300"/>
                </a:cubicBezTo>
                <a:close/>
                <a:moveTo>
                  <a:pt x="406683" y="348079"/>
                </a:moveTo>
                <a:cubicBezTo>
                  <a:pt x="358820" y="362992"/>
                  <a:pt x="295853" y="371475"/>
                  <a:pt x="228600" y="371475"/>
                </a:cubicBezTo>
                <a:cubicBezTo>
                  <a:pt x="161347" y="371475"/>
                  <a:pt x="98380" y="362992"/>
                  <a:pt x="50517" y="348079"/>
                </a:cubicBezTo>
                <a:cubicBezTo>
                  <a:pt x="32555" y="342454"/>
                  <a:pt x="15104" y="335399"/>
                  <a:pt x="0" y="326648"/>
                </a:cubicBezTo>
                <a:lnTo>
                  <a:pt x="0" y="385763"/>
                </a:lnTo>
                <a:cubicBezTo>
                  <a:pt x="0" y="425232"/>
                  <a:pt x="102360" y="457200"/>
                  <a:pt x="228600" y="457200"/>
                </a:cubicBezTo>
                <a:cubicBezTo>
                  <a:pt x="354840" y="457200"/>
                  <a:pt x="457200" y="425232"/>
                  <a:pt x="457200" y="385763"/>
                </a:cubicBezTo>
                <a:lnTo>
                  <a:pt x="457200" y="326648"/>
                </a:lnTo>
                <a:cubicBezTo>
                  <a:pt x="442096" y="335399"/>
                  <a:pt x="424747" y="342454"/>
                  <a:pt x="406683" y="348079"/>
                </a:cubicBezTo>
                <a:close/>
              </a:path>
            </a:pathLst>
          </a:custGeom>
          <a:solidFill>
            <a:srgbClr val="3498DB"/>
          </a:solidFill>
          <a:ln/>
        </p:spPr>
      </p:sp>
      <p:sp>
        <p:nvSpPr>
          <p:cNvPr id="20" name="Shape 17"/>
          <p:cNvSpPr/>
          <p:nvPr/>
        </p:nvSpPr>
        <p:spPr>
          <a:xfrm>
            <a:off x="5588000" y="1651000"/>
            <a:ext cx="4572000" cy="1651000"/>
          </a:xfrm>
          <a:prstGeom prst="rect">
            <a:avLst/>
          </a:prstGeom>
          <a:solidFill>
            <a:srgbClr val="FFFFFF"/>
          </a:solidFill>
          <a:ln/>
        </p:spPr>
      </p:sp>
      <p:sp>
        <p:nvSpPr>
          <p:cNvPr id="21" name="Shape 18"/>
          <p:cNvSpPr/>
          <p:nvPr/>
        </p:nvSpPr>
        <p:spPr>
          <a:xfrm>
            <a:off x="5588000" y="1651000"/>
            <a:ext cx="50800" cy="1651000"/>
          </a:xfrm>
          <a:prstGeom prst="rect">
            <a:avLst/>
          </a:prstGeom>
          <a:solidFill>
            <a:srgbClr val="3498DB"/>
          </a:solidFill>
          <a:ln/>
        </p:spPr>
      </p:sp>
      <p:sp>
        <p:nvSpPr>
          <p:cNvPr id="22" name="Text 19"/>
          <p:cNvSpPr/>
          <p:nvPr/>
        </p:nvSpPr>
        <p:spPr>
          <a:xfrm>
            <a:off x="6477000" y="1778000"/>
            <a:ext cx="3429000" cy="355600"/>
          </a:xfrm>
          <a:prstGeom prst="rect">
            <a:avLst/>
          </a:prstGeom>
          <a:noFill/>
          <a:ln/>
        </p:spPr>
        <p:txBody>
          <a:bodyPr wrap="none" lIns="0" tIns="0" rIns="0" bIns="0" rtlCol="0" anchor="ctr"/>
          <a:lstStyle/>
          <a:p>
            <a:pPr algn="l">
              <a:lnSpc>
                <a:spcPct val="120000"/>
              </a:lnSpc>
            </a:pPr>
            <a:r>
              <a:rPr lang="en-US" sz="1600" b="1" dirty="0">
                <a:solidFill>
                  <a:srgbClr val="1E293B"/>
                </a:solidFill>
                <a:latin typeface="Liter" pitchFamily="34" charset="0"/>
                <a:ea typeface="Liter" pitchFamily="34" charset="-122"/>
                <a:cs typeface="Liter" pitchFamily="34" charset="-120"/>
              </a:rPr>
              <a:t>Rich but Unused Data</a:t>
            </a:r>
            <a:endParaRPr lang="en-US" sz="1600" dirty="0"/>
          </a:p>
        </p:txBody>
      </p:sp>
      <p:sp>
        <p:nvSpPr>
          <p:cNvPr id="23" name="Text 20"/>
          <p:cNvSpPr/>
          <p:nvPr/>
        </p:nvSpPr>
        <p:spPr>
          <a:xfrm>
            <a:off x="6477000" y="2159000"/>
            <a:ext cx="3429000" cy="9525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Telecoms possess extensive usage and billing data but lack systems to convert it into proactive retention.</a:t>
            </a:r>
            <a:endParaRPr lang="en-US" sz="1400" dirty="0"/>
          </a:p>
        </p:txBody>
      </p:sp>
      <p:sp>
        <p:nvSpPr>
          <p:cNvPr id="24" name="Shape 21"/>
          <p:cNvSpPr/>
          <p:nvPr/>
        </p:nvSpPr>
        <p:spPr>
          <a:xfrm>
            <a:off x="10668000" y="1778000"/>
            <a:ext cx="457200" cy="457200"/>
          </a:xfrm>
          <a:custGeom>
            <a:avLst/>
            <a:gdLst/>
            <a:ahLst/>
            <a:cxnLst/>
            <a:rect l="l" t="t" r="r" b="b"/>
            <a:pathLst>
              <a:path w="457200" h="457200">
                <a:moveTo>
                  <a:pt x="228600" y="0"/>
                </a:moveTo>
                <a:cubicBezTo>
                  <a:pt x="210537" y="0"/>
                  <a:pt x="195943" y="12769"/>
                  <a:pt x="195943" y="28575"/>
                </a:cubicBezTo>
                <a:lnTo>
                  <a:pt x="195943" y="31433"/>
                </a:lnTo>
                <a:cubicBezTo>
                  <a:pt x="121444" y="44648"/>
                  <a:pt x="65314" y="102334"/>
                  <a:pt x="65314" y="171450"/>
                </a:cubicBezTo>
                <a:lnTo>
                  <a:pt x="65314" y="190827"/>
                </a:lnTo>
                <a:cubicBezTo>
                  <a:pt x="65314" y="233779"/>
                  <a:pt x="48578" y="275481"/>
                  <a:pt x="17961" y="309056"/>
                </a:cubicBezTo>
                <a:lnTo>
                  <a:pt x="7960" y="319951"/>
                </a:lnTo>
                <a:cubicBezTo>
                  <a:pt x="2755" y="325576"/>
                  <a:pt x="0" y="332542"/>
                  <a:pt x="0" y="339775"/>
                </a:cubicBezTo>
                <a:cubicBezTo>
                  <a:pt x="0" y="357277"/>
                  <a:pt x="16227" y="371475"/>
                  <a:pt x="36229" y="371475"/>
                </a:cubicBezTo>
                <a:lnTo>
                  <a:pt x="420869" y="371475"/>
                </a:lnTo>
                <a:cubicBezTo>
                  <a:pt x="440871" y="371475"/>
                  <a:pt x="457098" y="357277"/>
                  <a:pt x="457098" y="339775"/>
                </a:cubicBezTo>
                <a:cubicBezTo>
                  <a:pt x="457098" y="332542"/>
                  <a:pt x="454343" y="325576"/>
                  <a:pt x="449138" y="319951"/>
                </a:cubicBezTo>
                <a:lnTo>
                  <a:pt x="439137" y="309056"/>
                </a:lnTo>
                <a:cubicBezTo>
                  <a:pt x="408623" y="275481"/>
                  <a:pt x="391886" y="233779"/>
                  <a:pt x="391886" y="190827"/>
                </a:cubicBezTo>
                <a:lnTo>
                  <a:pt x="391886" y="171450"/>
                </a:lnTo>
                <a:cubicBezTo>
                  <a:pt x="391886" y="102334"/>
                  <a:pt x="335756" y="44648"/>
                  <a:pt x="261257" y="31432"/>
                </a:cubicBezTo>
                <a:lnTo>
                  <a:pt x="261257" y="28575"/>
                </a:lnTo>
                <a:cubicBezTo>
                  <a:pt x="261257" y="12769"/>
                  <a:pt x="246663" y="0"/>
                  <a:pt x="228600" y="0"/>
                </a:cubicBezTo>
                <a:close/>
                <a:moveTo>
                  <a:pt x="165327" y="414338"/>
                </a:moveTo>
                <a:cubicBezTo>
                  <a:pt x="172573" y="438983"/>
                  <a:pt x="198188" y="457200"/>
                  <a:pt x="228600" y="457200"/>
                </a:cubicBezTo>
                <a:cubicBezTo>
                  <a:pt x="259012" y="457200"/>
                  <a:pt x="284627" y="438983"/>
                  <a:pt x="291873" y="414338"/>
                </a:cubicBezTo>
                <a:lnTo>
                  <a:pt x="165327" y="414338"/>
                </a:lnTo>
                <a:close/>
              </a:path>
            </a:pathLst>
          </a:custGeom>
          <a:solidFill>
            <a:srgbClr val="F39C12"/>
          </a:solidFill>
          <a:ln/>
        </p:spPr>
      </p:sp>
      <p:sp>
        <p:nvSpPr>
          <p:cNvPr id="25" name="Shape 22"/>
          <p:cNvSpPr/>
          <p:nvPr/>
        </p:nvSpPr>
        <p:spPr>
          <a:xfrm>
            <a:off x="10414000" y="1651000"/>
            <a:ext cx="5080000" cy="1651000"/>
          </a:xfrm>
          <a:prstGeom prst="rect">
            <a:avLst/>
          </a:prstGeom>
          <a:solidFill>
            <a:srgbClr val="FFFFFF"/>
          </a:solidFill>
          <a:ln/>
        </p:spPr>
      </p:sp>
      <p:sp>
        <p:nvSpPr>
          <p:cNvPr id="26" name="Shape 23"/>
          <p:cNvSpPr/>
          <p:nvPr/>
        </p:nvSpPr>
        <p:spPr>
          <a:xfrm>
            <a:off x="10414000" y="1651000"/>
            <a:ext cx="50800" cy="1651000"/>
          </a:xfrm>
          <a:prstGeom prst="rect">
            <a:avLst/>
          </a:prstGeom>
          <a:solidFill>
            <a:srgbClr val="F39C12"/>
          </a:solidFill>
          <a:ln/>
        </p:spPr>
      </p:sp>
      <p:sp>
        <p:nvSpPr>
          <p:cNvPr id="27" name="Text 24"/>
          <p:cNvSpPr/>
          <p:nvPr/>
        </p:nvSpPr>
        <p:spPr>
          <a:xfrm>
            <a:off x="11303000" y="1778000"/>
            <a:ext cx="3937000" cy="355600"/>
          </a:xfrm>
          <a:prstGeom prst="rect">
            <a:avLst/>
          </a:prstGeom>
          <a:noFill/>
          <a:ln/>
        </p:spPr>
        <p:txBody>
          <a:bodyPr wrap="none" lIns="0" tIns="0" rIns="0" bIns="0" rtlCol="0" anchor="ctr"/>
          <a:lstStyle/>
          <a:p>
            <a:pPr algn="l">
              <a:lnSpc>
                <a:spcPct val="120000"/>
              </a:lnSpc>
            </a:pPr>
            <a:r>
              <a:rPr lang="en-US" sz="1600" b="1" dirty="0">
                <a:solidFill>
                  <a:srgbClr val="1E293B"/>
                </a:solidFill>
                <a:latin typeface="Liter" pitchFamily="34" charset="0"/>
                <a:ea typeface="Liter" pitchFamily="34" charset="-122"/>
                <a:cs typeface="Liter" pitchFamily="34" charset="-120"/>
              </a:rPr>
              <a:t>Reactive Retention</a:t>
            </a:r>
            <a:endParaRPr lang="en-US" sz="1600" dirty="0"/>
          </a:p>
        </p:txBody>
      </p:sp>
      <p:sp>
        <p:nvSpPr>
          <p:cNvPr id="28" name="Text 25"/>
          <p:cNvSpPr/>
          <p:nvPr/>
        </p:nvSpPr>
        <p:spPr>
          <a:xfrm>
            <a:off x="11303000" y="2159000"/>
            <a:ext cx="3937000" cy="9525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Current approaches rely on blanket marketing after churn — too late. Need early-warning precision.</a:t>
            </a:r>
            <a:endParaRPr lang="en-US" sz="1400" dirty="0"/>
          </a:p>
        </p:txBody>
      </p:sp>
      <p:sp>
        <p:nvSpPr>
          <p:cNvPr id="29" name="Shape 26"/>
          <p:cNvSpPr/>
          <p:nvPr/>
        </p:nvSpPr>
        <p:spPr>
          <a:xfrm>
            <a:off x="762000" y="3810000"/>
            <a:ext cx="14732000" cy="1651000"/>
          </a:xfrm>
          <a:prstGeom prst="rect">
            <a:avLst/>
          </a:prstGeom>
          <a:solidFill>
            <a:srgbClr val="2B4C7E"/>
          </a:solidFill>
          <a:ln/>
        </p:spPr>
      </p:sp>
      <p:sp>
        <p:nvSpPr>
          <p:cNvPr id="30" name="Text 27"/>
          <p:cNvSpPr/>
          <p:nvPr/>
        </p:nvSpPr>
        <p:spPr>
          <a:xfrm>
            <a:off x="1143000" y="3937000"/>
            <a:ext cx="1524000" cy="355600"/>
          </a:xfrm>
          <a:prstGeom prst="rect">
            <a:avLst/>
          </a:prstGeom>
          <a:noFill/>
          <a:ln/>
        </p:spPr>
        <p:txBody>
          <a:bodyPr wrap="none" lIns="0" tIns="0" rIns="0" bIns="0" rtlCol="0" anchor="ctr"/>
          <a:lstStyle/>
          <a:p>
            <a:pPr algn="l">
              <a:lnSpc>
                <a:spcPct val="120000"/>
              </a:lnSpc>
            </a:pPr>
            <a:r>
              <a:rPr lang="en-US" sz="1400" kern="0" spc="200" dirty="0">
                <a:solidFill>
                  <a:srgbClr val="3498DB"/>
                </a:solidFill>
                <a:latin typeface="Liter" pitchFamily="34" charset="0"/>
                <a:ea typeface="Liter" pitchFamily="34" charset="-122"/>
                <a:cs typeface="Liter" pitchFamily="34" charset="-120"/>
              </a:rPr>
              <a:t>OUR GOAL</a:t>
            </a:r>
            <a:endParaRPr lang="en-US" sz="1400" dirty="0"/>
          </a:p>
        </p:txBody>
      </p:sp>
      <p:sp>
        <p:nvSpPr>
          <p:cNvPr id="31" name="Text 28"/>
          <p:cNvSpPr/>
          <p:nvPr/>
        </p:nvSpPr>
        <p:spPr>
          <a:xfrm>
            <a:off x="1143000" y="4318000"/>
            <a:ext cx="13970000" cy="952500"/>
          </a:xfrm>
          <a:prstGeom prst="rect">
            <a:avLst/>
          </a:prstGeom>
          <a:noFill/>
          <a:ln/>
        </p:spPr>
        <p:txBody>
          <a:bodyPr wrap="square" lIns="0" tIns="0" rIns="0" bIns="0" rtlCol="0" anchor="t"/>
          <a:lstStyle/>
          <a:p>
            <a:pPr algn="l">
              <a:lnSpc>
                <a:spcPct val="150000"/>
              </a:lnSpc>
            </a:pPr>
            <a:r>
              <a:rPr lang="en-US" sz="2000" dirty="0">
                <a:solidFill>
                  <a:srgbClr val="FFFFFF"/>
                </a:solidFill>
                <a:latin typeface="Quattrocento Sans" pitchFamily="34" charset="0"/>
                <a:ea typeface="Quattrocento Sans" pitchFamily="34" charset="-122"/>
                <a:cs typeface="Quattrocento Sans" pitchFamily="34" charset="-120"/>
              </a:rPr>
              <a:t>Shift from </a:t>
            </a:r>
            <a:r>
              <a:rPr lang="en-US" sz="2000" b="1" dirty="0">
                <a:solidFill>
                  <a:srgbClr val="FFFFFF"/>
                </a:solidFill>
                <a:latin typeface="Quattrocento Sans" pitchFamily="34" charset="0"/>
                <a:ea typeface="Quattrocento Sans" pitchFamily="34" charset="-122"/>
                <a:cs typeface="Quattrocento Sans" pitchFamily="34" charset="-120"/>
              </a:rPr>
              <a:t>reactive, blanket marketing</a:t>
            </a:r>
            <a:r>
              <a:rPr lang="en-US" sz="2000" dirty="0">
                <a:solidFill>
                  <a:srgbClr val="FFFFFF"/>
                </a:solidFill>
                <a:latin typeface="Quattrocento Sans" pitchFamily="34" charset="0"/>
                <a:ea typeface="Quattrocento Sans" pitchFamily="34" charset="-122"/>
                <a:cs typeface="Quattrocento Sans" pitchFamily="34" charset="-120"/>
              </a:rPr>
              <a:t> to a </a:t>
            </a:r>
            <a:r>
              <a:rPr lang="en-US" sz="2000" b="1" dirty="0">
                <a:solidFill>
                  <a:srgbClr val="FFFFFF"/>
                </a:solidFill>
                <a:latin typeface="Quattrocento Sans" pitchFamily="34" charset="0"/>
                <a:ea typeface="Quattrocento Sans" pitchFamily="34" charset="-122"/>
                <a:cs typeface="Quattrocento Sans" pitchFamily="34" charset="-120"/>
              </a:rPr>
              <a:t>precise, AI-driven early-warning system</a:t>
            </a:r>
            <a:r>
              <a:rPr lang="en-US" sz="2000" dirty="0">
                <a:solidFill>
                  <a:srgbClr val="FFFFFF"/>
                </a:solidFill>
                <a:latin typeface="Quattrocento Sans" pitchFamily="34" charset="0"/>
                <a:ea typeface="Quattrocento Sans" pitchFamily="34" charset="-122"/>
                <a:cs typeface="Quattrocento Sans" pitchFamily="34" charset="-120"/>
              </a:rPr>
              <a:t> that identifies at-risk subscribers before they churn — enabling targeted, ROI-positive retention interventions.</a:t>
            </a:r>
            <a:endParaRPr lang="en-US" sz="2000" dirty="0"/>
          </a:p>
        </p:txBody>
      </p:sp>
      <p:sp>
        <p:nvSpPr>
          <p:cNvPr id="32" name="Text 29"/>
          <p:cNvSpPr/>
          <p:nvPr/>
        </p:nvSpPr>
        <p:spPr>
          <a:xfrm>
            <a:off x="762000" y="5969000"/>
            <a:ext cx="5080000" cy="444500"/>
          </a:xfrm>
          <a:prstGeom prst="rect">
            <a:avLst/>
          </a:prstGeom>
          <a:noFill/>
          <a:ln/>
        </p:spPr>
        <p:txBody>
          <a:bodyPr wrap="none" lIns="0" tIns="0" rIns="0" bIns="0" rtlCol="0" anchor="ctr"/>
          <a:lstStyle/>
          <a:p>
            <a:pPr algn="l">
              <a:lnSpc>
                <a:spcPct val="130000"/>
              </a:lnSpc>
            </a:pPr>
            <a:r>
              <a:rPr lang="en-US" sz="2000" b="1" dirty="0">
                <a:solidFill>
                  <a:srgbClr val="1E293B"/>
                </a:solidFill>
                <a:latin typeface="Liter" pitchFamily="34" charset="0"/>
                <a:ea typeface="Liter" pitchFamily="34" charset="-122"/>
                <a:cs typeface="Liter" pitchFamily="34" charset="-120"/>
              </a:rPr>
              <a:t>Why This Matters</a:t>
            </a:r>
            <a:endParaRPr lang="en-US" sz="2000" dirty="0"/>
          </a:p>
        </p:txBody>
      </p:sp>
      <p:sp>
        <p:nvSpPr>
          <p:cNvPr id="33" name="Text 30"/>
          <p:cNvSpPr/>
          <p:nvPr/>
        </p:nvSpPr>
        <p:spPr>
          <a:xfrm>
            <a:off x="762000" y="6477000"/>
            <a:ext cx="14732000" cy="2032000"/>
          </a:xfrm>
          <a:prstGeom prst="rect">
            <a:avLst/>
          </a:prstGeom>
          <a:noFill/>
          <a:ln/>
        </p:spPr>
        <p:txBody>
          <a:bodyPr wrap="square" lIns="0" tIns="0" rIns="0" bIns="0" rtlCol="0" anchor="t"/>
          <a:lstStyle/>
          <a:p>
            <a:pPr marL="285750" indent="-285750" algn="l">
              <a:lnSpc>
                <a:spcPct val="150000"/>
              </a:lnSpc>
              <a:spcBef>
                <a:spcPts val="10"/>
              </a:spcBef>
              <a:buSzPct val="100000"/>
              <a:buChar char="•"/>
            </a:pPr>
            <a:r>
              <a:rPr lang="en-US" sz="1800" dirty="0">
                <a:solidFill>
                  <a:srgbClr val="1E293B"/>
                </a:solidFill>
                <a:latin typeface="Quattrocento Sans" pitchFamily="34" charset="0"/>
                <a:ea typeface="Quattrocento Sans" pitchFamily="34" charset="-122"/>
                <a:cs typeface="Quattrocento Sans" pitchFamily="34" charset="-120"/>
              </a:rPr>
              <a:t>The Indian telecom sector is among the most competitive globally, with razor-thin margins and price wars driving subscriber defection</a:t>
            </a:r>
            <a:endParaRPr lang="en-US" sz="1800" dirty="0"/>
          </a:p>
          <a:p>
            <a:pPr marL="285750" indent="-285750" algn="l">
              <a:lnSpc>
                <a:spcPct val="150000"/>
              </a:lnSpc>
              <a:spcBef>
                <a:spcPts val="10"/>
              </a:spcBef>
              <a:buSzPct val="100000"/>
              <a:buChar char="•"/>
            </a:pPr>
            <a:r>
              <a:rPr lang="en-US" sz="1800" dirty="0">
                <a:solidFill>
                  <a:srgbClr val="1E293B"/>
                </a:solidFill>
                <a:latin typeface="Quattrocento Sans" pitchFamily="34" charset="0"/>
                <a:ea typeface="Quattrocento Sans" pitchFamily="34" charset="-122"/>
                <a:cs typeface="Quattrocento Sans" pitchFamily="34" charset="-120"/>
              </a:rPr>
              <a:t>Acquiring a new customer costs </a:t>
            </a:r>
            <a:r>
              <a:rPr lang="en-US" sz="1800" b="1" dirty="0">
                <a:solidFill>
                  <a:srgbClr val="1E293B"/>
                </a:solidFill>
                <a:latin typeface="Quattrocento Sans" pitchFamily="34" charset="0"/>
                <a:ea typeface="Quattrocento Sans" pitchFamily="34" charset="-122"/>
                <a:cs typeface="Quattrocento Sans" pitchFamily="34" charset="-120"/>
              </a:rPr>
              <a:t>5-7x more</a:t>
            </a:r>
            <a:r>
              <a:rPr lang="en-US" sz="1800" dirty="0">
                <a:solidFill>
                  <a:srgbClr val="1E293B"/>
                </a:solidFill>
                <a:latin typeface="Quattrocento Sans" pitchFamily="34" charset="0"/>
                <a:ea typeface="Quattrocento Sans" pitchFamily="34" charset="-122"/>
                <a:cs typeface="Quattrocento Sans" pitchFamily="34" charset="-120"/>
              </a:rPr>
              <a:t> than retaining an existing one — yet retention budgets remain a fraction of acquisition spend</a:t>
            </a:r>
            <a:endParaRPr lang="en-US" sz="1800" dirty="0"/>
          </a:p>
          <a:p>
            <a:pPr marL="285750" indent="-285750" algn="l">
              <a:lnSpc>
                <a:spcPct val="150000"/>
              </a:lnSpc>
              <a:spcBef>
                <a:spcPts val="10"/>
              </a:spcBef>
              <a:buSzPct val="100000"/>
              <a:buChar char="•"/>
            </a:pPr>
            <a:r>
              <a:rPr lang="en-US" sz="1800" dirty="0">
                <a:solidFill>
                  <a:srgbClr val="1E293B"/>
                </a:solidFill>
                <a:latin typeface="Quattrocento Sans" pitchFamily="34" charset="0"/>
                <a:ea typeface="Quattrocento Sans" pitchFamily="34" charset="-122"/>
                <a:cs typeface="Quattrocento Sans" pitchFamily="34" charset="-120"/>
              </a:rPr>
              <a:t>Existing data assets (CDR, billing, equipment logs) contain predictive signals weeks before churn occurs — but remain untapped</a:t>
            </a:r>
            <a:endParaRPr lang="en-US" sz="1800" dirty="0"/>
          </a:p>
          <a:p>
            <a:pPr marL="285750" indent="-285750" algn="l">
              <a:lnSpc>
                <a:spcPct val="150000"/>
              </a:lnSpc>
              <a:spcBef>
                <a:spcPts val="10"/>
              </a:spcBef>
              <a:buSzPct val="100000"/>
              <a:buChar char="•"/>
            </a:pPr>
            <a:r>
              <a:rPr lang="en-US" sz="1800" dirty="0">
                <a:solidFill>
                  <a:srgbClr val="1E293B"/>
                </a:solidFill>
                <a:latin typeface="Quattrocento Sans" pitchFamily="34" charset="0"/>
                <a:ea typeface="Quattrocento Sans" pitchFamily="34" charset="-122"/>
                <a:cs typeface="Quattrocento Sans" pitchFamily="34" charset="-120"/>
              </a:rPr>
              <a:t>An AI-driven early warning system transforms retention from a cost center into a </a:t>
            </a:r>
            <a:r>
              <a:rPr lang="en-US" sz="1800" b="1" dirty="0">
                <a:solidFill>
                  <a:srgbClr val="1E293B"/>
                </a:solidFill>
                <a:latin typeface="Quattrocento Sans" pitchFamily="34" charset="0"/>
                <a:ea typeface="Quattrocento Sans" pitchFamily="34" charset="-122"/>
                <a:cs typeface="Quattrocento Sans" pitchFamily="34" charset="-120"/>
              </a:rPr>
              <a:t>revenue-protecting profit center</a:t>
            </a:r>
            <a:endParaRPr lang="en-US" sz="1800" dirty="0"/>
          </a:p>
        </p:txBody>
      </p:sp>
      <p:sp>
        <p:nvSpPr>
          <p:cNvPr id="34" name="Text 31"/>
          <p:cNvSpPr/>
          <p:nvPr/>
        </p:nvSpPr>
        <p:spPr>
          <a:xfrm>
            <a:off x="15113000" y="8826500"/>
            <a:ext cx="635000" cy="254000"/>
          </a:xfrm>
          <a:prstGeom prst="rect">
            <a:avLst/>
          </a:prstGeom>
          <a:noFill/>
          <a:ln/>
        </p:spPr>
        <p:txBody>
          <a:bodyPr wrap="none" lIns="0" tIns="0" rIns="0" bIns="0" rtlCol="0" anchor="ctr"/>
          <a:lstStyle/>
          <a:p>
            <a:pPr algn="r">
              <a:lnSpc>
                <a:spcPct val="130000"/>
              </a:lnSpc>
            </a:pPr>
            <a:r>
              <a:rPr lang="en-US" sz="1200" dirty="0">
                <a:solidFill>
                  <a:srgbClr val="64748B"/>
                </a:solidFill>
                <a:latin typeface="Quattrocento Sans" pitchFamily="34" charset="0"/>
                <a:ea typeface="Quattrocento Sans" pitchFamily="34" charset="-122"/>
                <a:cs typeface="Quattrocento Sans" pitchFamily="34" charset="-120"/>
              </a:rPr>
              <a:t>03</a:t>
            </a:r>
            <a:endParaRPr lang="en-US" sz="12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6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243E63"/>
          </a:solidFill>
          <a:ln/>
        </p:spPr>
      </p:sp>
      <p:sp>
        <p:nvSpPr>
          <p:cNvPr id="4" name="Text 1"/>
          <p:cNvSpPr/>
          <p:nvPr/>
        </p:nvSpPr>
        <p:spPr>
          <a:xfrm>
            <a:off x="127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Problem &amp; Motivation</a:t>
            </a:r>
            <a:endParaRPr lang="en-US" sz="1100" dirty="0"/>
          </a:p>
        </p:txBody>
      </p:sp>
      <p:sp>
        <p:nvSpPr>
          <p:cNvPr id="5" name="Shape 2"/>
          <p:cNvSpPr/>
          <p:nvPr/>
        </p:nvSpPr>
        <p:spPr>
          <a:xfrm>
            <a:off x="2794000" y="63500"/>
            <a:ext cx="2540000" cy="381000"/>
          </a:xfrm>
          <a:prstGeom prst="roundRect">
            <a:avLst>
              <a:gd name="adj" fmla="val 8000"/>
            </a:avLst>
          </a:prstGeom>
          <a:solidFill>
            <a:srgbClr val="3A5A8C"/>
          </a:solidFill>
          <a:ln/>
        </p:spPr>
      </p:sp>
      <p:sp>
        <p:nvSpPr>
          <p:cNvPr id="6" name="Text 3"/>
          <p:cNvSpPr/>
          <p:nvPr/>
        </p:nvSpPr>
        <p:spPr>
          <a:xfrm>
            <a:off x="2794000" y="63500"/>
            <a:ext cx="2540000" cy="381000"/>
          </a:xfrm>
          <a:prstGeom prst="rect">
            <a:avLst/>
          </a:prstGeom>
          <a:noFill/>
          <a:ln/>
        </p:spPr>
        <p:txBody>
          <a:bodyPr wrap="none" lIns="0" tIns="0" rIns="0" bIns="0" rtlCol="0" anchor="ctr"/>
          <a:lstStyle/>
          <a:p>
            <a:pPr algn="ctr">
              <a:lnSpc>
                <a:spcPct val="120000"/>
              </a:lnSpc>
            </a:pPr>
            <a:r>
              <a:rPr lang="en-US" sz="1100" b="1" dirty="0">
                <a:solidFill>
                  <a:srgbClr val="FFFFFF"/>
                </a:solidFill>
                <a:latin typeface="Quattrocento Sans" pitchFamily="34" charset="0"/>
                <a:ea typeface="Quattrocento Sans" pitchFamily="34" charset="-122"/>
                <a:cs typeface="Quattrocento Sans" pitchFamily="34" charset="-120"/>
              </a:rPr>
              <a:t>Data &amp; Methodology</a:t>
            </a:r>
            <a:endParaRPr lang="en-US" sz="1100" dirty="0"/>
          </a:p>
        </p:txBody>
      </p:sp>
      <p:sp>
        <p:nvSpPr>
          <p:cNvPr id="7" name="Text 4"/>
          <p:cNvSpPr/>
          <p:nvPr/>
        </p:nvSpPr>
        <p:spPr>
          <a:xfrm>
            <a:off x="5461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Exploratory Analysis</a:t>
            </a:r>
            <a:endParaRPr lang="en-US" sz="1100" dirty="0"/>
          </a:p>
        </p:txBody>
      </p:sp>
      <p:sp>
        <p:nvSpPr>
          <p:cNvPr id="8" name="Text 5"/>
          <p:cNvSpPr/>
          <p:nvPr/>
        </p:nvSpPr>
        <p:spPr>
          <a:xfrm>
            <a:off x="8128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Modeling &amp; Results</a:t>
            </a:r>
            <a:endParaRPr lang="en-US" sz="1100" dirty="0"/>
          </a:p>
        </p:txBody>
      </p:sp>
      <p:sp>
        <p:nvSpPr>
          <p:cNvPr id="9" name="Text 6"/>
          <p:cNvSpPr/>
          <p:nvPr/>
        </p:nvSpPr>
        <p:spPr>
          <a:xfrm>
            <a:off x="10795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Business Impact</a:t>
            </a:r>
            <a:endParaRPr lang="en-US" sz="1100" dirty="0"/>
          </a:p>
        </p:txBody>
      </p:sp>
      <p:sp>
        <p:nvSpPr>
          <p:cNvPr id="10" name="Text 7"/>
          <p:cNvSpPr/>
          <p:nvPr/>
        </p:nvSpPr>
        <p:spPr>
          <a:xfrm>
            <a:off x="13462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Roadmap</a:t>
            </a:r>
            <a:endParaRPr lang="en-US" sz="1100" dirty="0"/>
          </a:p>
        </p:txBody>
      </p:sp>
      <p:sp>
        <p:nvSpPr>
          <p:cNvPr id="11" name="Shape 8"/>
          <p:cNvSpPr/>
          <p:nvPr/>
        </p:nvSpPr>
        <p:spPr>
          <a:xfrm>
            <a:off x="0" y="508000"/>
            <a:ext cx="16256000" cy="25400"/>
          </a:xfrm>
          <a:prstGeom prst="rect">
            <a:avLst/>
          </a:prstGeom>
          <a:solidFill>
            <a:srgbClr val="2B4C7E"/>
          </a:solidFill>
          <a:ln/>
        </p:spPr>
      </p:sp>
      <p:sp>
        <p:nvSpPr>
          <p:cNvPr id="12" name="Text 9"/>
          <p:cNvSpPr/>
          <p:nvPr/>
        </p:nvSpPr>
        <p:spPr>
          <a:xfrm>
            <a:off x="762000" y="736600"/>
            <a:ext cx="8890000" cy="508000"/>
          </a:xfrm>
          <a:prstGeom prst="rect">
            <a:avLst/>
          </a:prstGeom>
          <a:noFill/>
          <a:ln/>
        </p:spPr>
        <p:txBody>
          <a:bodyPr wrap="none" lIns="0" tIns="0" rIns="0" bIns="0" rtlCol="0" anchor="ctr"/>
          <a:lstStyle/>
          <a:p>
            <a:pPr algn="l">
              <a:lnSpc>
                <a:spcPct val="120000"/>
              </a:lnSpc>
            </a:pPr>
            <a:r>
              <a:rPr lang="en-US" sz="2800" dirty="0">
                <a:solidFill>
                  <a:srgbClr val="2B4C7E"/>
                </a:solidFill>
                <a:latin typeface="Liter" pitchFamily="34" charset="0"/>
                <a:ea typeface="Liter" pitchFamily="34" charset="-122"/>
                <a:cs typeface="Liter" pitchFamily="34" charset="-120"/>
              </a:rPr>
              <a:t>Dataset: 100K Subscribers, 98 Features</a:t>
            </a:r>
            <a:endParaRPr lang="en-US" sz="2800" dirty="0"/>
          </a:p>
        </p:txBody>
      </p:sp>
      <p:sp>
        <p:nvSpPr>
          <p:cNvPr id="13" name="Shape 10"/>
          <p:cNvSpPr/>
          <p:nvPr/>
        </p:nvSpPr>
        <p:spPr>
          <a:xfrm>
            <a:off x="762000" y="1308100"/>
            <a:ext cx="762000" cy="50800"/>
          </a:xfrm>
          <a:prstGeom prst="rect">
            <a:avLst/>
          </a:prstGeom>
          <a:solidFill>
            <a:srgbClr val="D9534F"/>
          </a:solidFill>
          <a:ln/>
        </p:spPr>
      </p:sp>
      <p:sp>
        <p:nvSpPr>
          <p:cNvPr id="14" name="Shape 11"/>
          <p:cNvSpPr/>
          <p:nvPr/>
        </p:nvSpPr>
        <p:spPr>
          <a:xfrm>
            <a:off x="762000" y="1587500"/>
            <a:ext cx="3175000" cy="1270000"/>
          </a:xfrm>
          <a:prstGeom prst="rect">
            <a:avLst/>
          </a:prstGeom>
          <a:solidFill>
            <a:srgbClr val="FFFFFF"/>
          </a:solidFill>
          <a:ln/>
        </p:spPr>
      </p:sp>
      <p:sp>
        <p:nvSpPr>
          <p:cNvPr id="15" name="Shape 12"/>
          <p:cNvSpPr/>
          <p:nvPr/>
        </p:nvSpPr>
        <p:spPr>
          <a:xfrm>
            <a:off x="762000" y="1587500"/>
            <a:ext cx="50800" cy="1270000"/>
          </a:xfrm>
          <a:prstGeom prst="rect">
            <a:avLst/>
          </a:prstGeom>
          <a:solidFill>
            <a:srgbClr val="2B4C7E"/>
          </a:solidFill>
          <a:ln/>
        </p:spPr>
      </p:sp>
      <p:sp>
        <p:nvSpPr>
          <p:cNvPr id="16" name="Text 13"/>
          <p:cNvSpPr/>
          <p:nvPr/>
        </p:nvSpPr>
        <p:spPr>
          <a:xfrm>
            <a:off x="1016000" y="1651000"/>
            <a:ext cx="2667000" cy="635000"/>
          </a:xfrm>
          <a:prstGeom prst="rect">
            <a:avLst/>
          </a:prstGeom>
          <a:noFill/>
          <a:ln/>
        </p:spPr>
        <p:txBody>
          <a:bodyPr wrap="none" lIns="0" tIns="0" rIns="0" bIns="0" rtlCol="0" anchor="ctr"/>
          <a:lstStyle/>
          <a:p>
            <a:pPr algn="l">
              <a:lnSpc>
                <a:spcPct val="110000"/>
              </a:lnSpc>
            </a:pPr>
            <a:r>
              <a:rPr lang="en-US" sz="4200" dirty="0">
                <a:solidFill>
                  <a:srgbClr val="2B4C7E"/>
                </a:solidFill>
                <a:latin typeface="Liter" pitchFamily="34" charset="0"/>
                <a:ea typeface="Liter" pitchFamily="34" charset="-122"/>
                <a:cs typeface="Liter" pitchFamily="34" charset="-120"/>
              </a:rPr>
              <a:t>100K</a:t>
            </a:r>
            <a:endParaRPr lang="en-US" sz="4200" dirty="0"/>
          </a:p>
        </p:txBody>
      </p:sp>
      <p:sp>
        <p:nvSpPr>
          <p:cNvPr id="17" name="Text 14"/>
          <p:cNvSpPr/>
          <p:nvPr/>
        </p:nvSpPr>
        <p:spPr>
          <a:xfrm>
            <a:off x="1016000" y="2311400"/>
            <a:ext cx="2667000" cy="381000"/>
          </a:xfrm>
          <a:prstGeom prst="rect">
            <a:avLst/>
          </a:prstGeom>
          <a:noFill/>
          <a:ln/>
        </p:spPr>
        <p:txBody>
          <a:bodyPr wrap="none" lIns="0" tIns="0" rIns="0" bIns="0" rtlCol="0" anchor="ctr"/>
          <a:lstStyle/>
          <a:p>
            <a:pPr algn="l">
              <a:lnSpc>
                <a:spcPct val="120000"/>
              </a:lnSpc>
            </a:pPr>
            <a:r>
              <a:rPr lang="en-US" sz="1400" dirty="0">
                <a:solidFill>
                  <a:srgbClr val="64748B"/>
                </a:solidFill>
                <a:latin typeface="Quattrocento Sans" pitchFamily="34" charset="0"/>
                <a:ea typeface="Quattrocento Sans" pitchFamily="34" charset="-122"/>
                <a:cs typeface="Quattrocento Sans" pitchFamily="34" charset="-120"/>
              </a:rPr>
              <a:t>Total Subscribers</a:t>
            </a:r>
            <a:endParaRPr lang="en-US" sz="1400" dirty="0"/>
          </a:p>
        </p:txBody>
      </p:sp>
      <p:sp>
        <p:nvSpPr>
          <p:cNvPr id="18" name="Shape 15"/>
          <p:cNvSpPr/>
          <p:nvPr/>
        </p:nvSpPr>
        <p:spPr>
          <a:xfrm>
            <a:off x="4191000" y="1587500"/>
            <a:ext cx="3175000" cy="1270000"/>
          </a:xfrm>
          <a:prstGeom prst="rect">
            <a:avLst/>
          </a:prstGeom>
          <a:solidFill>
            <a:srgbClr val="FFFFFF"/>
          </a:solidFill>
          <a:ln/>
        </p:spPr>
      </p:sp>
      <p:sp>
        <p:nvSpPr>
          <p:cNvPr id="19" name="Shape 16"/>
          <p:cNvSpPr/>
          <p:nvPr/>
        </p:nvSpPr>
        <p:spPr>
          <a:xfrm>
            <a:off x="4191000" y="1587500"/>
            <a:ext cx="50800" cy="1270000"/>
          </a:xfrm>
          <a:prstGeom prst="rect">
            <a:avLst/>
          </a:prstGeom>
          <a:solidFill>
            <a:srgbClr val="3498DB"/>
          </a:solidFill>
          <a:ln/>
        </p:spPr>
      </p:sp>
      <p:sp>
        <p:nvSpPr>
          <p:cNvPr id="20" name="Text 17"/>
          <p:cNvSpPr/>
          <p:nvPr/>
        </p:nvSpPr>
        <p:spPr>
          <a:xfrm>
            <a:off x="4445000" y="1651000"/>
            <a:ext cx="2667000" cy="635000"/>
          </a:xfrm>
          <a:prstGeom prst="rect">
            <a:avLst/>
          </a:prstGeom>
          <a:noFill/>
          <a:ln/>
        </p:spPr>
        <p:txBody>
          <a:bodyPr wrap="none" lIns="0" tIns="0" rIns="0" bIns="0" rtlCol="0" anchor="ctr"/>
          <a:lstStyle/>
          <a:p>
            <a:pPr algn="l">
              <a:lnSpc>
                <a:spcPct val="110000"/>
              </a:lnSpc>
            </a:pPr>
            <a:r>
              <a:rPr lang="en-US" sz="4200" dirty="0">
                <a:solidFill>
                  <a:srgbClr val="2B4C7E"/>
                </a:solidFill>
                <a:latin typeface="Liter" pitchFamily="34" charset="0"/>
                <a:ea typeface="Liter" pitchFamily="34" charset="-122"/>
                <a:cs typeface="Liter" pitchFamily="34" charset="-120"/>
              </a:rPr>
              <a:t>98</a:t>
            </a:r>
            <a:endParaRPr lang="en-US" sz="4200" dirty="0"/>
          </a:p>
        </p:txBody>
      </p:sp>
      <p:sp>
        <p:nvSpPr>
          <p:cNvPr id="21" name="Text 18"/>
          <p:cNvSpPr/>
          <p:nvPr/>
        </p:nvSpPr>
        <p:spPr>
          <a:xfrm>
            <a:off x="4445000" y="2311400"/>
            <a:ext cx="2667000" cy="381000"/>
          </a:xfrm>
          <a:prstGeom prst="rect">
            <a:avLst/>
          </a:prstGeom>
          <a:noFill/>
          <a:ln/>
        </p:spPr>
        <p:txBody>
          <a:bodyPr wrap="none" lIns="0" tIns="0" rIns="0" bIns="0" rtlCol="0" anchor="ctr"/>
          <a:lstStyle/>
          <a:p>
            <a:pPr algn="l">
              <a:lnSpc>
                <a:spcPct val="120000"/>
              </a:lnSpc>
            </a:pPr>
            <a:r>
              <a:rPr lang="en-US" sz="1400" dirty="0">
                <a:solidFill>
                  <a:srgbClr val="64748B"/>
                </a:solidFill>
                <a:latin typeface="Quattrocento Sans" pitchFamily="34" charset="0"/>
                <a:ea typeface="Quattrocento Sans" pitchFamily="34" charset="-122"/>
                <a:cs typeface="Quattrocento Sans" pitchFamily="34" charset="-120"/>
              </a:rPr>
              <a:t>Final Features</a:t>
            </a:r>
            <a:endParaRPr lang="en-US" sz="1400" dirty="0"/>
          </a:p>
        </p:txBody>
      </p:sp>
      <p:sp>
        <p:nvSpPr>
          <p:cNvPr id="22" name="Text 19"/>
          <p:cNvSpPr/>
          <p:nvPr/>
        </p:nvSpPr>
        <p:spPr>
          <a:xfrm>
            <a:off x="762000" y="3111500"/>
            <a:ext cx="6604000" cy="2984500"/>
          </a:xfrm>
          <a:prstGeom prst="rect">
            <a:avLst/>
          </a:prstGeom>
          <a:noFill/>
          <a:ln/>
        </p:spPr>
        <p:txBody>
          <a:bodyPr wrap="square" lIns="0" tIns="0" rIns="0" bIns="0" rtlCol="0" anchor="t"/>
          <a:lstStyle/>
          <a:p>
            <a:pPr algn="l">
              <a:lnSpc>
                <a:spcPct val="150000"/>
              </a:lnSpc>
            </a:pPr>
            <a:r>
              <a:rPr lang="en-US" sz="1600" b="1" dirty="0">
                <a:solidFill>
                  <a:srgbClr val="1E293B"/>
                </a:solidFill>
                <a:latin typeface="Quattrocento Sans" pitchFamily="34" charset="0"/>
                <a:ea typeface="Quattrocento Sans" pitchFamily="34" charset="-122"/>
                <a:cs typeface="Quattrocento Sans" pitchFamily="34" charset="-120"/>
              </a:rPr>
              <a:t>Client.csv</a:t>
            </a:r>
            <a:r>
              <a:rPr lang="en-US" sz="1600" dirty="0">
                <a:solidFill>
                  <a:srgbClr val="1E293B"/>
                </a:solidFill>
                <a:latin typeface="Quattrocento Sans" pitchFamily="34" charset="0"/>
                <a:ea typeface="Quattrocento Sans" pitchFamily="34" charset="-122"/>
                <a:cs typeface="Quattrocento Sans" pitchFamily="34" charset="-120"/>
              </a:rPr>
              <a:t> — 100K rows x 50 cols</a:t>
            </a:r>
            <a:endParaRPr lang="en-US" sz="1600" dirty="0"/>
          </a:p>
          <a:p>
            <a:pPr algn="l">
              <a:lnSpc>
                <a:spcPct val="150000"/>
              </a:lnSpc>
            </a:pPr>
            <a:r>
              <a:rPr lang="en-US" sz="1600" dirty="0">
                <a:solidFill>
                  <a:srgbClr val="64748B"/>
                </a:solidFill>
                <a:latin typeface="Quattrocento Sans" pitchFamily="34" charset="0"/>
                <a:ea typeface="Quattrocento Sans" pitchFamily="34" charset="-122"/>
                <a:cs typeface="Quattrocento Sans" pitchFamily="34" charset="-120"/>
              </a:rPr>
              <a:t>Account-level: tenure, plan, demographics, equipment</a:t>
            </a:r>
            <a:endParaRPr lang="en-US" sz="1600" dirty="0"/>
          </a:p>
          <a:p>
            <a:pPr algn="l">
              <a:lnSpc>
                <a:spcPct val="15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Record.csv</a:t>
            </a:r>
            <a:r>
              <a:rPr lang="en-US" sz="1600" dirty="0">
                <a:solidFill>
                  <a:srgbClr val="1E293B"/>
                </a:solidFill>
                <a:latin typeface="Quattrocento Sans" pitchFamily="34" charset="0"/>
                <a:ea typeface="Quattrocento Sans" pitchFamily="34" charset="-122"/>
                <a:cs typeface="Quattrocento Sans" pitchFamily="34" charset="-120"/>
              </a:rPr>
              <a:t> — 100K rows x 51 cols</a:t>
            </a:r>
            <a:endParaRPr lang="en-US" sz="1600" dirty="0"/>
          </a:p>
          <a:p>
            <a:pPr algn="l">
              <a:lnSpc>
                <a:spcPct val="150000"/>
              </a:lnSpc>
            </a:pPr>
            <a:r>
              <a:rPr lang="en-US" sz="1600" dirty="0">
                <a:solidFill>
                  <a:srgbClr val="64748B"/>
                </a:solidFill>
                <a:latin typeface="Quattrocento Sans" pitchFamily="34" charset="0"/>
                <a:ea typeface="Quattrocento Sans" pitchFamily="34" charset="-122"/>
                <a:cs typeface="Quattrocento Sans" pitchFamily="34" charset="-120"/>
              </a:rPr>
              <a:t>Usage, billing, call quality, churn label</a:t>
            </a:r>
            <a:endParaRPr lang="en-US" sz="1600" dirty="0"/>
          </a:p>
          <a:p>
            <a:pPr algn="l">
              <a:lnSpc>
                <a:spcPct val="15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Merge:</a:t>
            </a:r>
            <a:r>
              <a:rPr lang="en-US" sz="1600" dirty="0">
                <a:solidFill>
                  <a:srgbClr val="1E293B"/>
                </a:solidFill>
                <a:latin typeface="Quattrocento Sans" pitchFamily="34" charset="0"/>
                <a:ea typeface="Quattrocento Sans" pitchFamily="34" charset="-122"/>
                <a:cs typeface="Quattrocento Sans" pitchFamily="34" charset="-120"/>
              </a:rPr>
              <a:t> Inner join on Customer_ID</a:t>
            </a:r>
            <a:endParaRPr lang="en-US" sz="1600" dirty="0"/>
          </a:p>
          <a:p>
            <a:pPr algn="l">
              <a:lnSpc>
                <a:spcPct val="150000"/>
              </a:lnSpc>
            </a:pPr>
            <a:r>
              <a:rPr lang="en-US" sz="1600" dirty="0">
                <a:solidFill>
                  <a:srgbClr val="64748B"/>
                </a:solidFill>
                <a:latin typeface="Quattrocento Sans" pitchFamily="34" charset="0"/>
                <a:ea typeface="Quattrocento Sans" pitchFamily="34" charset="-122"/>
                <a:cs typeface="Quattrocento Sans" pitchFamily="34" charset="-120"/>
              </a:rPr>
              <a:t>100K rows x 100 cols, zero rows dropped</a:t>
            </a:r>
            <a:endParaRPr lang="en-US" sz="1600" dirty="0"/>
          </a:p>
          <a:p>
            <a:pPr algn="l">
              <a:lnSpc>
                <a:spcPct val="15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Cleaned:</a:t>
            </a:r>
            <a:r>
              <a:rPr lang="en-US" sz="1600" dirty="0">
                <a:solidFill>
                  <a:srgbClr val="1E293B"/>
                </a:solidFill>
                <a:latin typeface="Quattrocento Sans" pitchFamily="34" charset="0"/>
                <a:ea typeface="Quattrocento Sans" pitchFamily="34" charset="-122"/>
                <a:cs typeface="Quattrocento Sans" pitchFamily="34" charset="-120"/>
              </a:rPr>
              <a:t> 100K samples x 98 features</a:t>
            </a:r>
            <a:endParaRPr lang="en-US" sz="1600" dirty="0"/>
          </a:p>
        </p:txBody>
      </p:sp>
      <p:sp>
        <p:nvSpPr>
          <p:cNvPr id="23" name="Shape 20"/>
          <p:cNvSpPr/>
          <p:nvPr/>
        </p:nvSpPr>
        <p:spPr>
          <a:xfrm>
            <a:off x="762000" y="6197600"/>
            <a:ext cx="6604000" cy="1016000"/>
          </a:xfrm>
          <a:prstGeom prst="rect">
            <a:avLst/>
          </a:prstGeom>
          <a:solidFill>
            <a:srgbClr val="2B4C7E"/>
          </a:solidFill>
          <a:ln/>
        </p:spPr>
      </p:sp>
      <p:sp>
        <p:nvSpPr>
          <p:cNvPr id="24" name="Text 21"/>
          <p:cNvSpPr/>
          <p:nvPr/>
        </p:nvSpPr>
        <p:spPr>
          <a:xfrm>
            <a:off x="1016000" y="6261100"/>
            <a:ext cx="6096000" cy="889000"/>
          </a:xfrm>
          <a:prstGeom prst="rect">
            <a:avLst/>
          </a:prstGeom>
          <a:noFill/>
          <a:ln/>
        </p:spPr>
        <p:txBody>
          <a:bodyPr wrap="square" lIns="0" tIns="0" rIns="0" bIns="0" rtlCol="0" anchor="ctr"/>
          <a:lstStyle/>
          <a:p>
            <a:pPr algn="l">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Class Balance:</a:t>
            </a:r>
            <a:r>
              <a:rPr lang="en-US" sz="1600" dirty="0">
                <a:solidFill>
                  <a:srgbClr val="FFFFFF"/>
                </a:solidFill>
                <a:latin typeface="Quattrocento Sans" pitchFamily="34" charset="0"/>
                <a:ea typeface="Quattrocento Sans" pitchFamily="34" charset="-122"/>
                <a:cs typeface="Quattrocento Sans" pitchFamily="34" charset="-120"/>
              </a:rPr>
              <a:t> 50,438 Retained vs 49,562 Churned</a:t>
            </a:r>
            <a:endParaRPr lang="en-US" sz="1600" dirty="0"/>
          </a:p>
          <a:p>
            <a:pPr algn="l">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Near-perfectly balanced, realistic dataset</a:t>
            </a:r>
            <a:endParaRPr lang="en-US" sz="1600" dirty="0"/>
          </a:p>
        </p:txBody>
      </p:sp>
      <p:sp>
        <p:nvSpPr>
          <p:cNvPr id="25" name="Text 22"/>
          <p:cNvSpPr/>
          <p:nvPr/>
        </p:nvSpPr>
        <p:spPr>
          <a:xfrm>
            <a:off x="8001000" y="1587328"/>
            <a:ext cx="7620000" cy="381000"/>
          </a:xfrm>
          <a:prstGeom prst="rect">
            <a:avLst/>
          </a:prstGeom>
          <a:noFill/>
          <a:ln/>
        </p:spPr>
        <p:txBody>
          <a:bodyPr wrap="none" lIns="0" tIns="0" rIns="0" bIns="0" rtlCol="0" anchor="ctr"/>
          <a:lstStyle/>
          <a:p>
            <a:pPr algn="ctr">
              <a:lnSpc>
                <a:spcPct val="120000"/>
              </a:lnSpc>
            </a:pPr>
            <a:r>
              <a:rPr lang="en-US" sz="1400" b="1" dirty="0">
                <a:solidFill>
                  <a:srgbClr val="64748B"/>
                </a:solidFill>
                <a:latin typeface="Times New Roman" panose="02020603050405020304" pitchFamily="18" charset="0"/>
                <a:ea typeface="Liter" pitchFamily="34" charset="-122"/>
                <a:cs typeface="Times New Roman" panose="02020603050405020304" pitchFamily="18" charset="0"/>
              </a:rPr>
              <a:t>CHURN DISTRIBUTION</a:t>
            </a:r>
            <a:endParaRPr lang="en-US" sz="1400" b="1" dirty="0">
              <a:latin typeface="Times New Roman" panose="02020603050405020304" pitchFamily="18" charset="0"/>
              <a:cs typeface="Times New Roman" panose="02020603050405020304" pitchFamily="18" charset="0"/>
            </a:endParaRPr>
          </a:p>
        </p:txBody>
      </p:sp>
      <p:sp>
        <p:nvSpPr>
          <p:cNvPr id="27" name="Text 23"/>
          <p:cNvSpPr/>
          <p:nvPr/>
        </p:nvSpPr>
        <p:spPr>
          <a:xfrm>
            <a:off x="15113000" y="8826500"/>
            <a:ext cx="635000" cy="254000"/>
          </a:xfrm>
          <a:prstGeom prst="rect">
            <a:avLst/>
          </a:prstGeom>
          <a:noFill/>
          <a:ln/>
        </p:spPr>
        <p:txBody>
          <a:bodyPr wrap="none" lIns="0" tIns="0" rIns="0" bIns="0" rtlCol="0" anchor="ctr"/>
          <a:lstStyle/>
          <a:p>
            <a:pPr algn="r">
              <a:lnSpc>
                <a:spcPct val="130000"/>
              </a:lnSpc>
            </a:pPr>
            <a:r>
              <a:rPr lang="en-US" sz="1200" dirty="0">
                <a:solidFill>
                  <a:srgbClr val="64748B"/>
                </a:solidFill>
                <a:latin typeface="Quattrocento Sans" pitchFamily="34" charset="0"/>
                <a:ea typeface="Quattrocento Sans" pitchFamily="34" charset="-122"/>
                <a:cs typeface="Quattrocento Sans" pitchFamily="34" charset="-120"/>
              </a:rPr>
              <a:t>04</a:t>
            </a:r>
            <a:endParaRPr lang="en-US" sz="1200" dirty="0"/>
          </a:p>
        </p:txBody>
      </p:sp>
      <p:pic>
        <p:nvPicPr>
          <p:cNvPr id="32" name="Picture 31">
            <a:extLst>
              <a:ext uri="{FF2B5EF4-FFF2-40B4-BE49-F238E27FC236}">
                <a16:creationId xmlns:a16="http://schemas.microsoft.com/office/drawing/2014/main" id="{537BB343-1A74-46DE-53ED-4CE245DBF268}"/>
              </a:ext>
            </a:extLst>
          </p:cNvPr>
          <p:cNvPicPr>
            <a:picLocks noChangeAspect="1"/>
          </p:cNvPicPr>
          <p:nvPr/>
        </p:nvPicPr>
        <p:blipFill>
          <a:blip r:embed="rId3"/>
          <a:stretch>
            <a:fillRect/>
          </a:stretch>
        </p:blipFill>
        <p:spPr>
          <a:xfrm>
            <a:off x="9042390" y="1595115"/>
            <a:ext cx="6248110" cy="5052819"/>
          </a:xfrm>
          <a:prstGeom prst="rect">
            <a:avLst/>
          </a:prstGeom>
        </p:spPr>
      </p:pic>
      <p:sp>
        <p:nvSpPr>
          <p:cNvPr id="34" name="Text 11">
            <a:extLst>
              <a:ext uri="{FF2B5EF4-FFF2-40B4-BE49-F238E27FC236}">
                <a16:creationId xmlns:a16="http://schemas.microsoft.com/office/drawing/2014/main" id="{C15771CD-A4A8-ADD5-A9EA-2102E54F78C6}"/>
              </a:ext>
            </a:extLst>
          </p:cNvPr>
          <p:cNvSpPr/>
          <p:nvPr/>
        </p:nvSpPr>
        <p:spPr>
          <a:xfrm>
            <a:off x="8490465" y="6832600"/>
            <a:ext cx="8128000" cy="317500"/>
          </a:xfrm>
          <a:prstGeom prst="rect">
            <a:avLst/>
          </a:prstGeom>
          <a:noFill/>
          <a:ln/>
        </p:spPr>
        <p:txBody>
          <a:bodyPr wrap="none" lIns="0" tIns="0" rIns="0" bIns="0" rtlCol="0" anchor="ctr"/>
          <a:lstStyle/>
          <a:p>
            <a:pPr algn="ctr">
              <a:lnSpc>
                <a:spcPct val="120000"/>
              </a:lnSpc>
            </a:pPr>
            <a:r>
              <a:rPr lang="en-US" sz="1200" b="1" i="1" dirty="0">
                <a:solidFill>
                  <a:srgbClr val="64748B"/>
                </a:solidFill>
                <a:latin typeface="Times New Roman" panose="02020603050405020304" pitchFamily="18" charset="0"/>
                <a:ea typeface="Quattrocento Sans" pitchFamily="34" charset="-122"/>
                <a:cs typeface="Times New Roman" panose="02020603050405020304" pitchFamily="18" charset="0"/>
              </a:rPr>
              <a:t>Fig. 1: Customer Churn Distribution</a:t>
            </a:r>
            <a:endParaRPr lang="en-US" sz="1200" b="1" dirty="0">
              <a:latin typeface="Times New Roman" panose="02020603050405020304" pitchFamily="18" charset="0"/>
              <a:cs typeface="Times New Roman" panose="02020603050405020304" pitchFamily="18" charset="0"/>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6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243E63"/>
          </a:solidFill>
          <a:ln/>
        </p:spPr>
      </p:sp>
      <p:sp>
        <p:nvSpPr>
          <p:cNvPr id="4" name="Text 1"/>
          <p:cNvSpPr/>
          <p:nvPr/>
        </p:nvSpPr>
        <p:spPr>
          <a:xfrm>
            <a:off x="127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Problem &amp; Motivation</a:t>
            </a:r>
            <a:endParaRPr lang="en-US" sz="1100" dirty="0"/>
          </a:p>
        </p:txBody>
      </p:sp>
      <p:sp>
        <p:nvSpPr>
          <p:cNvPr id="5" name="Shape 2"/>
          <p:cNvSpPr/>
          <p:nvPr/>
        </p:nvSpPr>
        <p:spPr>
          <a:xfrm>
            <a:off x="2794000" y="63500"/>
            <a:ext cx="2540000" cy="381000"/>
          </a:xfrm>
          <a:prstGeom prst="roundRect">
            <a:avLst>
              <a:gd name="adj" fmla="val 8000"/>
            </a:avLst>
          </a:prstGeom>
          <a:solidFill>
            <a:srgbClr val="3A5A8C"/>
          </a:solidFill>
          <a:ln/>
        </p:spPr>
      </p:sp>
      <p:sp>
        <p:nvSpPr>
          <p:cNvPr id="6" name="Text 3"/>
          <p:cNvSpPr/>
          <p:nvPr/>
        </p:nvSpPr>
        <p:spPr>
          <a:xfrm>
            <a:off x="2794000" y="63500"/>
            <a:ext cx="2540000" cy="381000"/>
          </a:xfrm>
          <a:prstGeom prst="rect">
            <a:avLst/>
          </a:prstGeom>
          <a:noFill/>
          <a:ln/>
        </p:spPr>
        <p:txBody>
          <a:bodyPr wrap="none" lIns="0" tIns="0" rIns="0" bIns="0" rtlCol="0" anchor="ctr"/>
          <a:lstStyle/>
          <a:p>
            <a:pPr algn="ctr">
              <a:lnSpc>
                <a:spcPct val="120000"/>
              </a:lnSpc>
            </a:pPr>
            <a:r>
              <a:rPr lang="en-US" sz="1100" b="1" dirty="0">
                <a:solidFill>
                  <a:srgbClr val="FFFFFF"/>
                </a:solidFill>
                <a:latin typeface="Quattrocento Sans" pitchFamily="34" charset="0"/>
                <a:ea typeface="Quattrocento Sans" pitchFamily="34" charset="-122"/>
                <a:cs typeface="Quattrocento Sans" pitchFamily="34" charset="-120"/>
              </a:rPr>
              <a:t>Data &amp; Methodology</a:t>
            </a:r>
            <a:endParaRPr lang="en-US" sz="1100" dirty="0"/>
          </a:p>
        </p:txBody>
      </p:sp>
      <p:sp>
        <p:nvSpPr>
          <p:cNvPr id="7" name="Text 4"/>
          <p:cNvSpPr/>
          <p:nvPr/>
        </p:nvSpPr>
        <p:spPr>
          <a:xfrm>
            <a:off x="5461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Exploratory Analysis</a:t>
            </a:r>
            <a:endParaRPr lang="en-US" sz="1100" dirty="0"/>
          </a:p>
        </p:txBody>
      </p:sp>
      <p:sp>
        <p:nvSpPr>
          <p:cNvPr id="8" name="Text 5"/>
          <p:cNvSpPr/>
          <p:nvPr/>
        </p:nvSpPr>
        <p:spPr>
          <a:xfrm>
            <a:off x="8128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Modeling &amp; Results</a:t>
            </a:r>
            <a:endParaRPr lang="en-US" sz="1100" dirty="0"/>
          </a:p>
        </p:txBody>
      </p:sp>
      <p:sp>
        <p:nvSpPr>
          <p:cNvPr id="9" name="Text 6"/>
          <p:cNvSpPr/>
          <p:nvPr/>
        </p:nvSpPr>
        <p:spPr>
          <a:xfrm>
            <a:off x="10795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Business Impact</a:t>
            </a:r>
            <a:endParaRPr lang="en-US" sz="1100" dirty="0"/>
          </a:p>
        </p:txBody>
      </p:sp>
      <p:sp>
        <p:nvSpPr>
          <p:cNvPr id="10" name="Text 7"/>
          <p:cNvSpPr/>
          <p:nvPr/>
        </p:nvSpPr>
        <p:spPr>
          <a:xfrm>
            <a:off x="13462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Roadmap</a:t>
            </a:r>
            <a:endParaRPr lang="en-US" sz="1100" dirty="0"/>
          </a:p>
        </p:txBody>
      </p:sp>
      <p:sp>
        <p:nvSpPr>
          <p:cNvPr id="11" name="Shape 8"/>
          <p:cNvSpPr/>
          <p:nvPr/>
        </p:nvSpPr>
        <p:spPr>
          <a:xfrm>
            <a:off x="0" y="508000"/>
            <a:ext cx="16256000" cy="25400"/>
          </a:xfrm>
          <a:prstGeom prst="rect">
            <a:avLst/>
          </a:prstGeom>
          <a:solidFill>
            <a:srgbClr val="2B4C7E"/>
          </a:solidFill>
          <a:ln/>
        </p:spPr>
      </p:sp>
      <p:sp>
        <p:nvSpPr>
          <p:cNvPr id="12" name="Text 9"/>
          <p:cNvSpPr/>
          <p:nvPr/>
        </p:nvSpPr>
        <p:spPr>
          <a:xfrm>
            <a:off x="762000" y="736600"/>
            <a:ext cx="8890000" cy="508000"/>
          </a:xfrm>
          <a:prstGeom prst="rect">
            <a:avLst/>
          </a:prstGeom>
          <a:noFill/>
          <a:ln/>
        </p:spPr>
        <p:txBody>
          <a:bodyPr wrap="none" lIns="0" tIns="0" rIns="0" bIns="0" rtlCol="0" anchor="ctr"/>
          <a:lstStyle/>
          <a:p>
            <a:pPr algn="l">
              <a:lnSpc>
                <a:spcPct val="120000"/>
              </a:lnSpc>
            </a:pPr>
            <a:r>
              <a:rPr lang="en-US" sz="2800" dirty="0">
                <a:solidFill>
                  <a:srgbClr val="2B4C7E"/>
                </a:solidFill>
                <a:latin typeface="Liter" pitchFamily="34" charset="0"/>
                <a:ea typeface="Liter" pitchFamily="34" charset="-122"/>
                <a:cs typeface="Liter" pitchFamily="34" charset="-120"/>
              </a:rPr>
              <a:t>End-to-End ML Pipeline</a:t>
            </a:r>
            <a:endParaRPr lang="en-US" sz="2800" dirty="0"/>
          </a:p>
        </p:txBody>
      </p:sp>
      <p:sp>
        <p:nvSpPr>
          <p:cNvPr id="13" name="Shape 10"/>
          <p:cNvSpPr/>
          <p:nvPr/>
        </p:nvSpPr>
        <p:spPr>
          <a:xfrm>
            <a:off x="762000" y="1308100"/>
            <a:ext cx="762000" cy="50800"/>
          </a:xfrm>
          <a:prstGeom prst="rect">
            <a:avLst/>
          </a:prstGeom>
          <a:solidFill>
            <a:srgbClr val="D9534F"/>
          </a:solidFill>
          <a:ln/>
        </p:spPr>
      </p:sp>
      <p:sp>
        <p:nvSpPr>
          <p:cNvPr id="14" name="Shape 11"/>
          <p:cNvSpPr/>
          <p:nvPr/>
        </p:nvSpPr>
        <p:spPr>
          <a:xfrm>
            <a:off x="762000" y="1778000"/>
            <a:ext cx="2476500" cy="889000"/>
          </a:xfrm>
          <a:prstGeom prst="roundRect">
            <a:avLst>
              <a:gd name="adj" fmla="val 8000"/>
            </a:avLst>
          </a:prstGeom>
          <a:solidFill>
            <a:srgbClr val="2B4C7E"/>
          </a:solidFill>
          <a:ln/>
        </p:spPr>
      </p:sp>
      <p:sp>
        <p:nvSpPr>
          <p:cNvPr id="15" name="Text 12"/>
          <p:cNvSpPr/>
          <p:nvPr/>
        </p:nvSpPr>
        <p:spPr>
          <a:xfrm>
            <a:off x="762000" y="1778000"/>
            <a:ext cx="2476500" cy="889000"/>
          </a:xfrm>
          <a:prstGeom prst="rect">
            <a:avLst/>
          </a:prstGeom>
          <a:noFill/>
          <a:ln/>
        </p:spPr>
        <p:txBody>
          <a:bodyPr wrap="square" lIns="0" tIns="0" rIns="0" bIns="0" rtlCol="0" anchor="ctr"/>
          <a:lstStyle/>
          <a:p>
            <a:pPr algn="ctr">
              <a:lnSpc>
                <a:spcPct val="130000"/>
              </a:lnSpc>
            </a:pPr>
            <a:r>
              <a:rPr lang="en-US" sz="1300" b="1" dirty="0">
                <a:solidFill>
                  <a:srgbClr val="FFFFFF"/>
                </a:solidFill>
                <a:latin typeface="Quattrocento Sans" pitchFamily="34" charset="0"/>
                <a:ea typeface="Quattrocento Sans" pitchFamily="34" charset="-122"/>
                <a:cs typeface="Quattrocento Sans" pitchFamily="34" charset="-120"/>
              </a:rPr>
              <a:t>Data Ingestion</a:t>
            </a:r>
            <a:endParaRPr lang="en-US" sz="1300" dirty="0"/>
          </a:p>
          <a:p>
            <a:pPr algn="ctr">
              <a:lnSpc>
                <a:spcPct val="130000"/>
              </a:lnSpc>
            </a:pPr>
            <a:r>
              <a:rPr lang="en-US" sz="1300" dirty="0">
                <a:solidFill>
                  <a:srgbClr val="FFFFFF"/>
                </a:solidFill>
                <a:latin typeface="Quattrocento Sans" pitchFamily="34" charset="0"/>
                <a:ea typeface="Quattrocento Sans" pitchFamily="34" charset="-122"/>
                <a:cs typeface="Quattrocento Sans" pitchFamily="34" charset="-120"/>
              </a:rPr>
              <a:t>Client + Record CSV</a:t>
            </a:r>
            <a:endParaRPr lang="en-US" sz="1300" dirty="0"/>
          </a:p>
        </p:txBody>
      </p:sp>
      <p:sp>
        <p:nvSpPr>
          <p:cNvPr id="16" name="Shape 13"/>
          <p:cNvSpPr/>
          <p:nvPr/>
        </p:nvSpPr>
        <p:spPr>
          <a:xfrm>
            <a:off x="3238500" y="2133600"/>
            <a:ext cx="317500" cy="0"/>
          </a:xfrm>
          <a:prstGeom prst="straightConnector1">
            <a:avLst/>
          </a:prstGeom>
          <a:noFill/>
          <a:ln w="25400">
            <a:solidFill>
              <a:srgbClr val="2B4C7E"/>
            </a:solidFill>
            <a:prstDash val="solid"/>
            <a:headEnd type="none"/>
            <a:tailEnd type="arrow"/>
          </a:ln>
        </p:spPr>
      </p:sp>
      <p:sp>
        <p:nvSpPr>
          <p:cNvPr id="17" name="Shape 14"/>
          <p:cNvSpPr/>
          <p:nvPr/>
        </p:nvSpPr>
        <p:spPr>
          <a:xfrm>
            <a:off x="3556000" y="1778000"/>
            <a:ext cx="2476500" cy="889000"/>
          </a:xfrm>
          <a:prstGeom prst="roundRect">
            <a:avLst>
              <a:gd name="adj" fmla="val 8000"/>
            </a:avLst>
          </a:prstGeom>
          <a:solidFill>
            <a:srgbClr val="2B4C7E"/>
          </a:solidFill>
          <a:ln/>
        </p:spPr>
      </p:sp>
      <p:sp>
        <p:nvSpPr>
          <p:cNvPr id="18" name="Text 15"/>
          <p:cNvSpPr/>
          <p:nvPr/>
        </p:nvSpPr>
        <p:spPr>
          <a:xfrm>
            <a:off x="3556000" y="1778000"/>
            <a:ext cx="2476500" cy="889000"/>
          </a:xfrm>
          <a:prstGeom prst="rect">
            <a:avLst/>
          </a:prstGeom>
          <a:noFill/>
          <a:ln/>
        </p:spPr>
        <p:txBody>
          <a:bodyPr wrap="square" lIns="0" tIns="0" rIns="0" bIns="0" rtlCol="0" anchor="ctr"/>
          <a:lstStyle/>
          <a:p>
            <a:pPr algn="ctr">
              <a:lnSpc>
                <a:spcPct val="130000"/>
              </a:lnSpc>
            </a:pPr>
            <a:r>
              <a:rPr lang="en-US" sz="1300" b="1" dirty="0">
                <a:solidFill>
                  <a:srgbClr val="FFFFFF"/>
                </a:solidFill>
                <a:latin typeface="Quattrocento Sans" pitchFamily="34" charset="0"/>
                <a:ea typeface="Quattrocento Sans" pitchFamily="34" charset="-122"/>
                <a:cs typeface="Quattrocento Sans" pitchFamily="34" charset="-120"/>
              </a:rPr>
              <a:t>Merge &amp; Detect</a:t>
            </a:r>
            <a:endParaRPr lang="en-US" sz="1300" dirty="0"/>
          </a:p>
          <a:p>
            <a:pPr algn="ctr">
              <a:lnSpc>
                <a:spcPct val="130000"/>
              </a:lnSpc>
            </a:pPr>
            <a:r>
              <a:rPr lang="en-US" sz="1300" dirty="0">
                <a:solidFill>
                  <a:srgbClr val="FFFFFF"/>
                </a:solidFill>
                <a:latin typeface="Quattrocento Sans" pitchFamily="34" charset="0"/>
                <a:ea typeface="Quattrocento Sans" pitchFamily="34" charset="-122"/>
                <a:cs typeface="Quattrocento Sans" pitchFamily="34" charset="-120"/>
              </a:rPr>
              <a:t>Inner join, churn col auto-detect</a:t>
            </a:r>
            <a:endParaRPr lang="en-US" sz="1300" dirty="0"/>
          </a:p>
        </p:txBody>
      </p:sp>
      <p:sp>
        <p:nvSpPr>
          <p:cNvPr id="19" name="Shape 16"/>
          <p:cNvSpPr/>
          <p:nvPr/>
        </p:nvSpPr>
        <p:spPr>
          <a:xfrm>
            <a:off x="6032500" y="2133600"/>
            <a:ext cx="317500" cy="0"/>
          </a:xfrm>
          <a:prstGeom prst="straightConnector1">
            <a:avLst/>
          </a:prstGeom>
          <a:noFill/>
          <a:ln w="25400">
            <a:solidFill>
              <a:srgbClr val="2B4C7E"/>
            </a:solidFill>
            <a:prstDash val="solid"/>
            <a:headEnd type="none"/>
            <a:tailEnd type="arrow"/>
          </a:ln>
        </p:spPr>
      </p:sp>
      <p:sp>
        <p:nvSpPr>
          <p:cNvPr id="20" name="Shape 17"/>
          <p:cNvSpPr/>
          <p:nvPr/>
        </p:nvSpPr>
        <p:spPr>
          <a:xfrm>
            <a:off x="6350000" y="1778000"/>
            <a:ext cx="2476500" cy="889000"/>
          </a:xfrm>
          <a:prstGeom prst="roundRect">
            <a:avLst>
              <a:gd name="adj" fmla="val 8000"/>
            </a:avLst>
          </a:prstGeom>
          <a:solidFill>
            <a:srgbClr val="3498DB"/>
          </a:solidFill>
          <a:ln/>
        </p:spPr>
      </p:sp>
      <p:sp>
        <p:nvSpPr>
          <p:cNvPr id="21" name="Text 18"/>
          <p:cNvSpPr/>
          <p:nvPr/>
        </p:nvSpPr>
        <p:spPr>
          <a:xfrm>
            <a:off x="6350000" y="1778000"/>
            <a:ext cx="2476500" cy="889000"/>
          </a:xfrm>
          <a:prstGeom prst="rect">
            <a:avLst/>
          </a:prstGeom>
          <a:noFill/>
          <a:ln/>
        </p:spPr>
        <p:txBody>
          <a:bodyPr wrap="square" lIns="0" tIns="0" rIns="0" bIns="0" rtlCol="0" anchor="ctr"/>
          <a:lstStyle/>
          <a:p>
            <a:pPr algn="ctr">
              <a:lnSpc>
                <a:spcPct val="130000"/>
              </a:lnSpc>
            </a:pPr>
            <a:r>
              <a:rPr lang="en-US" sz="1300" b="1" dirty="0">
                <a:solidFill>
                  <a:srgbClr val="FFFFFF"/>
                </a:solidFill>
                <a:latin typeface="Quattrocento Sans" pitchFamily="34" charset="0"/>
                <a:ea typeface="Quattrocento Sans" pitchFamily="34" charset="-122"/>
                <a:cs typeface="Quattrocento Sans" pitchFamily="34" charset="-120"/>
              </a:rPr>
              <a:t>Cleaning</a:t>
            </a:r>
            <a:endParaRPr lang="en-US" sz="1300" dirty="0"/>
          </a:p>
          <a:p>
            <a:pPr algn="ctr">
              <a:lnSpc>
                <a:spcPct val="130000"/>
              </a:lnSpc>
            </a:pPr>
            <a:r>
              <a:rPr lang="en-US" sz="1300" dirty="0">
                <a:solidFill>
                  <a:srgbClr val="FFFFFF"/>
                </a:solidFill>
                <a:latin typeface="Quattrocento Sans" pitchFamily="34" charset="0"/>
                <a:ea typeface="Quattrocento Sans" pitchFamily="34" charset="-122"/>
                <a:cs typeface="Quattrocento Sans" pitchFamily="34" charset="-120"/>
              </a:rPr>
              <a:t>Median impute, label encode</a:t>
            </a:r>
            <a:endParaRPr lang="en-US" sz="1300" dirty="0"/>
          </a:p>
        </p:txBody>
      </p:sp>
      <p:sp>
        <p:nvSpPr>
          <p:cNvPr id="22" name="Shape 19"/>
          <p:cNvSpPr/>
          <p:nvPr/>
        </p:nvSpPr>
        <p:spPr>
          <a:xfrm>
            <a:off x="8826500" y="2133600"/>
            <a:ext cx="317500" cy="0"/>
          </a:xfrm>
          <a:prstGeom prst="straightConnector1">
            <a:avLst/>
          </a:prstGeom>
          <a:noFill/>
          <a:ln w="25400">
            <a:solidFill>
              <a:srgbClr val="3498DB"/>
            </a:solidFill>
            <a:prstDash val="solid"/>
            <a:headEnd type="none"/>
            <a:tailEnd type="arrow"/>
          </a:ln>
        </p:spPr>
      </p:sp>
      <p:sp>
        <p:nvSpPr>
          <p:cNvPr id="23" name="Shape 20"/>
          <p:cNvSpPr/>
          <p:nvPr/>
        </p:nvSpPr>
        <p:spPr>
          <a:xfrm>
            <a:off x="9144000" y="1778000"/>
            <a:ext cx="2476500" cy="889000"/>
          </a:xfrm>
          <a:prstGeom prst="roundRect">
            <a:avLst>
              <a:gd name="adj" fmla="val 8000"/>
            </a:avLst>
          </a:prstGeom>
          <a:solidFill>
            <a:srgbClr val="3498DB"/>
          </a:solidFill>
          <a:ln/>
        </p:spPr>
      </p:sp>
      <p:sp>
        <p:nvSpPr>
          <p:cNvPr id="24" name="Text 21"/>
          <p:cNvSpPr/>
          <p:nvPr/>
        </p:nvSpPr>
        <p:spPr>
          <a:xfrm>
            <a:off x="9144000" y="1778000"/>
            <a:ext cx="2476500" cy="889000"/>
          </a:xfrm>
          <a:prstGeom prst="rect">
            <a:avLst/>
          </a:prstGeom>
          <a:noFill/>
          <a:ln/>
        </p:spPr>
        <p:txBody>
          <a:bodyPr wrap="square" lIns="0" tIns="0" rIns="0" bIns="0" rtlCol="0" anchor="ctr"/>
          <a:lstStyle/>
          <a:p>
            <a:pPr algn="ctr">
              <a:lnSpc>
                <a:spcPct val="130000"/>
              </a:lnSpc>
            </a:pPr>
            <a:r>
              <a:rPr lang="en-US" sz="1300" b="1" dirty="0">
                <a:solidFill>
                  <a:srgbClr val="FFFFFF"/>
                </a:solidFill>
                <a:latin typeface="Quattrocento Sans" pitchFamily="34" charset="0"/>
                <a:ea typeface="Quattrocento Sans" pitchFamily="34" charset="-122"/>
                <a:cs typeface="Quattrocento Sans" pitchFamily="34" charset="-120"/>
              </a:rPr>
              <a:t>Feature Selection</a:t>
            </a:r>
            <a:endParaRPr lang="en-US" sz="1300" dirty="0"/>
          </a:p>
          <a:p>
            <a:pPr algn="ctr">
              <a:lnSpc>
                <a:spcPct val="130000"/>
              </a:lnSpc>
            </a:pPr>
            <a:r>
              <a:rPr lang="en-US" sz="1300" dirty="0">
                <a:solidFill>
                  <a:srgbClr val="FFFFFF"/>
                </a:solidFill>
                <a:latin typeface="Quattrocento Sans" pitchFamily="34" charset="0"/>
                <a:ea typeface="Quattrocento Sans" pitchFamily="34" charset="-122"/>
                <a:cs typeface="Quattrocento Sans" pitchFamily="34" charset="-120"/>
              </a:rPr>
              <a:t>High-cardinality removal (&gt;95%)</a:t>
            </a:r>
            <a:endParaRPr lang="en-US" sz="1300" dirty="0"/>
          </a:p>
        </p:txBody>
      </p:sp>
      <p:sp>
        <p:nvSpPr>
          <p:cNvPr id="25" name="Shape 22"/>
          <p:cNvSpPr/>
          <p:nvPr/>
        </p:nvSpPr>
        <p:spPr>
          <a:xfrm>
            <a:off x="11620500" y="2133600"/>
            <a:ext cx="317500" cy="0"/>
          </a:xfrm>
          <a:prstGeom prst="straightConnector1">
            <a:avLst/>
          </a:prstGeom>
          <a:noFill/>
          <a:ln w="25400">
            <a:solidFill>
              <a:srgbClr val="3498DB"/>
            </a:solidFill>
            <a:prstDash val="solid"/>
            <a:headEnd type="none"/>
            <a:tailEnd type="arrow"/>
          </a:ln>
        </p:spPr>
      </p:sp>
      <p:sp>
        <p:nvSpPr>
          <p:cNvPr id="26" name="Shape 23"/>
          <p:cNvSpPr/>
          <p:nvPr/>
        </p:nvSpPr>
        <p:spPr>
          <a:xfrm>
            <a:off x="11938000" y="1778000"/>
            <a:ext cx="2476500" cy="889000"/>
          </a:xfrm>
          <a:prstGeom prst="roundRect">
            <a:avLst>
              <a:gd name="adj" fmla="val 8000"/>
            </a:avLst>
          </a:prstGeom>
          <a:solidFill>
            <a:srgbClr val="3498DB"/>
          </a:solidFill>
          <a:ln/>
        </p:spPr>
      </p:sp>
      <p:sp>
        <p:nvSpPr>
          <p:cNvPr id="27" name="Text 24"/>
          <p:cNvSpPr/>
          <p:nvPr/>
        </p:nvSpPr>
        <p:spPr>
          <a:xfrm>
            <a:off x="11938000" y="1778000"/>
            <a:ext cx="2476500" cy="889000"/>
          </a:xfrm>
          <a:prstGeom prst="rect">
            <a:avLst/>
          </a:prstGeom>
          <a:noFill/>
          <a:ln/>
        </p:spPr>
        <p:txBody>
          <a:bodyPr wrap="square" lIns="0" tIns="0" rIns="0" bIns="0" rtlCol="0" anchor="ctr"/>
          <a:lstStyle/>
          <a:p>
            <a:pPr algn="ctr">
              <a:lnSpc>
                <a:spcPct val="130000"/>
              </a:lnSpc>
            </a:pPr>
            <a:r>
              <a:rPr lang="en-US" sz="1300" b="1" dirty="0">
                <a:solidFill>
                  <a:srgbClr val="FFFFFF"/>
                </a:solidFill>
                <a:latin typeface="Quattrocento Sans" pitchFamily="34" charset="0"/>
                <a:ea typeface="Quattrocento Sans" pitchFamily="34" charset="-122"/>
                <a:cs typeface="Quattrocento Sans" pitchFamily="34" charset="-120"/>
              </a:rPr>
              <a:t>Train/Test Split</a:t>
            </a:r>
            <a:endParaRPr lang="en-US" sz="1300" dirty="0"/>
          </a:p>
          <a:p>
            <a:pPr algn="ctr">
              <a:lnSpc>
                <a:spcPct val="130000"/>
              </a:lnSpc>
            </a:pPr>
            <a:r>
              <a:rPr lang="en-US" sz="1300" dirty="0">
                <a:solidFill>
                  <a:srgbClr val="FFFFFF"/>
                </a:solidFill>
                <a:latin typeface="Quattrocento Sans" pitchFamily="34" charset="0"/>
                <a:ea typeface="Quattrocento Sans" pitchFamily="34" charset="-122"/>
                <a:cs typeface="Quattrocento Sans" pitchFamily="34" charset="-120"/>
              </a:rPr>
              <a:t>80/20 stratified</a:t>
            </a:r>
            <a:endParaRPr lang="en-US" sz="1300" dirty="0"/>
          </a:p>
        </p:txBody>
      </p:sp>
      <p:sp>
        <p:nvSpPr>
          <p:cNvPr id="28" name="Shape 25"/>
          <p:cNvSpPr/>
          <p:nvPr/>
        </p:nvSpPr>
        <p:spPr>
          <a:xfrm>
            <a:off x="13169900" y="2667000"/>
            <a:ext cx="0" cy="381000"/>
          </a:xfrm>
          <a:prstGeom prst="straightConnector1">
            <a:avLst/>
          </a:prstGeom>
          <a:noFill/>
          <a:ln w="25400">
            <a:solidFill>
              <a:srgbClr val="64748B"/>
            </a:solidFill>
            <a:prstDash val="solid"/>
            <a:headEnd type="none"/>
            <a:tailEnd type="arrow"/>
          </a:ln>
        </p:spPr>
      </p:sp>
      <p:sp>
        <p:nvSpPr>
          <p:cNvPr id="29" name="Shape 26"/>
          <p:cNvSpPr/>
          <p:nvPr/>
        </p:nvSpPr>
        <p:spPr>
          <a:xfrm>
            <a:off x="11938000" y="3048000"/>
            <a:ext cx="2476500" cy="889000"/>
          </a:xfrm>
          <a:prstGeom prst="roundRect">
            <a:avLst>
              <a:gd name="adj" fmla="val 8000"/>
            </a:avLst>
          </a:prstGeom>
          <a:solidFill>
            <a:srgbClr val="2ECC71"/>
          </a:solidFill>
          <a:ln/>
        </p:spPr>
      </p:sp>
      <p:sp>
        <p:nvSpPr>
          <p:cNvPr id="30" name="Text 27"/>
          <p:cNvSpPr/>
          <p:nvPr/>
        </p:nvSpPr>
        <p:spPr>
          <a:xfrm>
            <a:off x="11938000" y="3048000"/>
            <a:ext cx="2476500" cy="889000"/>
          </a:xfrm>
          <a:prstGeom prst="rect">
            <a:avLst/>
          </a:prstGeom>
          <a:noFill/>
          <a:ln/>
        </p:spPr>
        <p:txBody>
          <a:bodyPr wrap="square" lIns="0" tIns="0" rIns="0" bIns="0" rtlCol="0" anchor="ctr"/>
          <a:lstStyle/>
          <a:p>
            <a:pPr algn="ctr">
              <a:lnSpc>
                <a:spcPct val="130000"/>
              </a:lnSpc>
            </a:pPr>
            <a:r>
              <a:rPr lang="en-US" sz="1300" b="1" dirty="0">
                <a:solidFill>
                  <a:srgbClr val="FFFFFF"/>
                </a:solidFill>
                <a:latin typeface="Quattrocento Sans" pitchFamily="34" charset="0"/>
                <a:ea typeface="Quattrocento Sans" pitchFamily="34" charset="-122"/>
                <a:cs typeface="Quattrocento Sans" pitchFamily="34" charset="-120"/>
              </a:rPr>
              <a:t>SMOTE</a:t>
            </a:r>
            <a:endParaRPr lang="en-US" sz="1300" dirty="0"/>
          </a:p>
          <a:p>
            <a:pPr algn="ctr">
              <a:lnSpc>
                <a:spcPct val="130000"/>
              </a:lnSpc>
            </a:pPr>
            <a:r>
              <a:rPr lang="en-US" sz="1300" dirty="0">
                <a:solidFill>
                  <a:srgbClr val="FFFFFF"/>
                </a:solidFill>
                <a:latin typeface="Quattrocento Sans" pitchFamily="34" charset="0"/>
                <a:ea typeface="Quattrocento Sans" pitchFamily="34" charset="-122"/>
                <a:cs typeface="Quattrocento Sans" pitchFamily="34" charset="-120"/>
              </a:rPr>
              <a:t>Oversample train only</a:t>
            </a:r>
            <a:endParaRPr lang="en-US" sz="1300" dirty="0"/>
          </a:p>
        </p:txBody>
      </p:sp>
      <p:sp>
        <p:nvSpPr>
          <p:cNvPr id="31" name="Shape 28"/>
          <p:cNvSpPr/>
          <p:nvPr/>
        </p:nvSpPr>
        <p:spPr>
          <a:xfrm>
            <a:off x="11620500" y="3403600"/>
            <a:ext cx="317500" cy="0"/>
          </a:xfrm>
          <a:prstGeom prst="straightConnector1">
            <a:avLst/>
          </a:prstGeom>
          <a:noFill/>
          <a:ln w="25400">
            <a:solidFill>
              <a:srgbClr val="2ECC71"/>
            </a:solidFill>
            <a:prstDash val="solid"/>
            <a:headEnd type="arrow"/>
            <a:tailEnd type="none"/>
          </a:ln>
        </p:spPr>
      </p:sp>
      <p:sp>
        <p:nvSpPr>
          <p:cNvPr id="32" name="Shape 29"/>
          <p:cNvSpPr/>
          <p:nvPr/>
        </p:nvSpPr>
        <p:spPr>
          <a:xfrm>
            <a:off x="9144000" y="3048000"/>
            <a:ext cx="2476500" cy="889000"/>
          </a:xfrm>
          <a:prstGeom prst="roundRect">
            <a:avLst>
              <a:gd name="adj" fmla="val 8000"/>
            </a:avLst>
          </a:prstGeom>
          <a:solidFill>
            <a:srgbClr val="2ECC71"/>
          </a:solidFill>
          <a:ln/>
        </p:spPr>
      </p:sp>
      <p:sp>
        <p:nvSpPr>
          <p:cNvPr id="33" name="Text 30"/>
          <p:cNvSpPr/>
          <p:nvPr/>
        </p:nvSpPr>
        <p:spPr>
          <a:xfrm>
            <a:off x="9144000" y="3048000"/>
            <a:ext cx="2476500" cy="889000"/>
          </a:xfrm>
          <a:prstGeom prst="rect">
            <a:avLst/>
          </a:prstGeom>
          <a:noFill/>
          <a:ln/>
        </p:spPr>
        <p:txBody>
          <a:bodyPr wrap="square" lIns="0" tIns="0" rIns="0" bIns="0" rtlCol="0" anchor="ctr"/>
          <a:lstStyle/>
          <a:p>
            <a:pPr algn="ctr">
              <a:lnSpc>
                <a:spcPct val="130000"/>
              </a:lnSpc>
            </a:pPr>
            <a:r>
              <a:rPr lang="en-US" sz="1300" b="1" dirty="0">
                <a:solidFill>
                  <a:srgbClr val="FFFFFF"/>
                </a:solidFill>
                <a:latin typeface="Quattrocento Sans" pitchFamily="34" charset="0"/>
                <a:ea typeface="Quattrocento Sans" pitchFamily="34" charset="-122"/>
                <a:cs typeface="Quattrocento Sans" pitchFamily="34" charset="-120"/>
              </a:rPr>
              <a:t>Model Training</a:t>
            </a:r>
            <a:endParaRPr lang="en-US" sz="1300" dirty="0"/>
          </a:p>
          <a:p>
            <a:pPr algn="ctr">
              <a:lnSpc>
                <a:spcPct val="130000"/>
              </a:lnSpc>
            </a:pPr>
            <a:r>
              <a:rPr lang="en-US" sz="1300" dirty="0">
                <a:solidFill>
                  <a:srgbClr val="FFFFFF"/>
                </a:solidFill>
                <a:latin typeface="Quattrocento Sans" pitchFamily="34" charset="0"/>
                <a:ea typeface="Quattrocento Sans" pitchFamily="34" charset="-122"/>
                <a:cs typeface="Quattrocento Sans" pitchFamily="34" charset="-120"/>
              </a:rPr>
              <a:t>RF + XGBoost</a:t>
            </a:r>
            <a:endParaRPr lang="en-US" sz="1300" dirty="0"/>
          </a:p>
        </p:txBody>
      </p:sp>
      <p:sp>
        <p:nvSpPr>
          <p:cNvPr id="34" name="Shape 31"/>
          <p:cNvSpPr/>
          <p:nvPr/>
        </p:nvSpPr>
        <p:spPr>
          <a:xfrm>
            <a:off x="8826500" y="3403600"/>
            <a:ext cx="317500" cy="0"/>
          </a:xfrm>
          <a:prstGeom prst="straightConnector1">
            <a:avLst/>
          </a:prstGeom>
          <a:noFill/>
          <a:ln w="25400">
            <a:solidFill>
              <a:srgbClr val="2ECC71"/>
            </a:solidFill>
            <a:prstDash val="solid"/>
            <a:headEnd type="arrow"/>
            <a:tailEnd type="none"/>
          </a:ln>
        </p:spPr>
      </p:sp>
      <p:sp>
        <p:nvSpPr>
          <p:cNvPr id="35" name="Shape 32"/>
          <p:cNvSpPr/>
          <p:nvPr/>
        </p:nvSpPr>
        <p:spPr>
          <a:xfrm>
            <a:off x="6350000" y="3048000"/>
            <a:ext cx="2476500" cy="889000"/>
          </a:xfrm>
          <a:prstGeom prst="roundRect">
            <a:avLst>
              <a:gd name="adj" fmla="val 8000"/>
            </a:avLst>
          </a:prstGeom>
          <a:solidFill>
            <a:srgbClr val="F39C12"/>
          </a:solidFill>
          <a:ln/>
        </p:spPr>
      </p:sp>
      <p:sp>
        <p:nvSpPr>
          <p:cNvPr id="36" name="Text 33"/>
          <p:cNvSpPr/>
          <p:nvPr/>
        </p:nvSpPr>
        <p:spPr>
          <a:xfrm>
            <a:off x="6350000" y="3048000"/>
            <a:ext cx="2476500" cy="889000"/>
          </a:xfrm>
          <a:prstGeom prst="rect">
            <a:avLst/>
          </a:prstGeom>
          <a:noFill/>
          <a:ln/>
        </p:spPr>
        <p:txBody>
          <a:bodyPr wrap="square" lIns="0" tIns="0" rIns="0" bIns="0" rtlCol="0" anchor="ctr"/>
          <a:lstStyle/>
          <a:p>
            <a:pPr algn="ctr">
              <a:lnSpc>
                <a:spcPct val="130000"/>
              </a:lnSpc>
            </a:pPr>
            <a:r>
              <a:rPr lang="en-US" sz="1300" b="1" dirty="0">
                <a:solidFill>
                  <a:srgbClr val="FFFFFF"/>
                </a:solidFill>
                <a:latin typeface="Quattrocento Sans" pitchFamily="34" charset="0"/>
                <a:ea typeface="Quattrocento Sans" pitchFamily="34" charset="-122"/>
                <a:cs typeface="Quattrocento Sans" pitchFamily="34" charset="-120"/>
              </a:rPr>
              <a:t>Threshold Tuning</a:t>
            </a:r>
            <a:endParaRPr lang="en-US" sz="1300" dirty="0"/>
          </a:p>
          <a:p>
            <a:pPr algn="ctr">
              <a:lnSpc>
                <a:spcPct val="130000"/>
              </a:lnSpc>
            </a:pPr>
            <a:r>
              <a:rPr lang="en-US" sz="1300" dirty="0">
                <a:solidFill>
                  <a:srgbClr val="FFFFFF"/>
                </a:solidFill>
                <a:latin typeface="Quattrocento Sans" pitchFamily="34" charset="0"/>
                <a:ea typeface="Quattrocento Sans" pitchFamily="34" charset="-122"/>
                <a:cs typeface="Quattrocento Sans" pitchFamily="34" charset="-120"/>
              </a:rPr>
              <a:t>Scan 0.10-0.90</a:t>
            </a:r>
            <a:endParaRPr lang="en-US" sz="1300" dirty="0"/>
          </a:p>
        </p:txBody>
      </p:sp>
      <p:sp>
        <p:nvSpPr>
          <p:cNvPr id="37" name="Shape 34"/>
          <p:cNvSpPr/>
          <p:nvPr/>
        </p:nvSpPr>
        <p:spPr>
          <a:xfrm>
            <a:off x="6032500" y="3403600"/>
            <a:ext cx="317500" cy="0"/>
          </a:xfrm>
          <a:prstGeom prst="straightConnector1">
            <a:avLst/>
          </a:prstGeom>
          <a:noFill/>
          <a:ln w="25400">
            <a:solidFill>
              <a:srgbClr val="F39C12"/>
            </a:solidFill>
            <a:prstDash val="solid"/>
            <a:headEnd type="arrow"/>
            <a:tailEnd type="none"/>
          </a:ln>
        </p:spPr>
      </p:sp>
      <p:sp>
        <p:nvSpPr>
          <p:cNvPr id="38" name="Shape 35"/>
          <p:cNvSpPr/>
          <p:nvPr/>
        </p:nvSpPr>
        <p:spPr>
          <a:xfrm>
            <a:off x="3556000" y="3048000"/>
            <a:ext cx="2476500" cy="889000"/>
          </a:xfrm>
          <a:prstGeom prst="roundRect">
            <a:avLst>
              <a:gd name="adj" fmla="val 8000"/>
            </a:avLst>
          </a:prstGeom>
          <a:solidFill>
            <a:srgbClr val="F39C12"/>
          </a:solidFill>
          <a:ln/>
        </p:spPr>
      </p:sp>
      <p:sp>
        <p:nvSpPr>
          <p:cNvPr id="39" name="Text 36"/>
          <p:cNvSpPr/>
          <p:nvPr/>
        </p:nvSpPr>
        <p:spPr>
          <a:xfrm>
            <a:off x="3556000" y="3048000"/>
            <a:ext cx="2476500" cy="889000"/>
          </a:xfrm>
          <a:prstGeom prst="rect">
            <a:avLst/>
          </a:prstGeom>
          <a:noFill/>
          <a:ln/>
        </p:spPr>
        <p:txBody>
          <a:bodyPr wrap="square" lIns="0" tIns="0" rIns="0" bIns="0" rtlCol="0" anchor="ctr"/>
          <a:lstStyle/>
          <a:p>
            <a:pPr algn="ctr">
              <a:lnSpc>
                <a:spcPct val="130000"/>
              </a:lnSpc>
            </a:pPr>
            <a:r>
              <a:rPr lang="en-US" sz="1300" b="1" dirty="0">
                <a:solidFill>
                  <a:srgbClr val="FFFFFF"/>
                </a:solidFill>
                <a:latin typeface="Quattrocento Sans" pitchFamily="34" charset="0"/>
                <a:ea typeface="Quattrocento Sans" pitchFamily="34" charset="-122"/>
                <a:cs typeface="Quattrocento Sans" pitchFamily="34" charset="-120"/>
              </a:rPr>
              <a:t>ROI Simulation</a:t>
            </a:r>
            <a:endParaRPr lang="en-US" sz="1300" dirty="0"/>
          </a:p>
          <a:p>
            <a:pPr algn="ctr">
              <a:lnSpc>
                <a:spcPct val="130000"/>
              </a:lnSpc>
            </a:pPr>
            <a:r>
              <a:rPr lang="en-US" sz="1300" dirty="0">
                <a:solidFill>
                  <a:srgbClr val="FFFFFF"/>
                </a:solidFill>
                <a:latin typeface="Quattrocento Sans" pitchFamily="34" charset="0"/>
                <a:ea typeface="Quattrocento Sans" pitchFamily="34" charset="-122"/>
                <a:cs typeface="Quattrocento Sans" pitchFamily="34" charset="-120"/>
              </a:rPr>
              <a:t>Financial modeling</a:t>
            </a:r>
            <a:endParaRPr lang="en-US" sz="1300" dirty="0"/>
          </a:p>
        </p:txBody>
      </p:sp>
      <p:sp>
        <p:nvSpPr>
          <p:cNvPr id="40" name="Text 37"/>
          <p:cNvSpPr/>
          <p:nvPr/>
        </p:nvSpPr>
        <p:spPr>
          <a:xfrm>
            <a:off x="762000" y="4445000"/>
            <a:ext cx="5080000" cy="444500"/>
          </a:xfrm>
          <a:prstGeom prst="rect">
            <a:avLst/>
          </a:prstGeom>
          <a:noFill/>
          <a:ln/>
        </p:spPr>
        <p:txBody>
          <a:bodyPr wrap="none" lIns="0" tIns="0" rIns="0" bIns="0" rtlCol="0" anchor="ctr"/>
          <a:lstStyle/>
          <a:p>
            <a:pPr algn="l">
              <a:lnSpc>
                <a:spcPct val="130000"/>
              </a:lnSpc>
            </a:pPr>
            <a:r>
              <a:rPr lang="en-US" sz="2000" b="1" dirty="0">
                <a:solidFill>
                  <a:srgbClr val="1E293B"/>
                </a:solidFill>
                <a:latin typeface="Liter" pitchFamily="34" charset="0"/>
                <a:ea typeface="Liter" pitchFamily="34" charset="-122"/>
                <a:cs typeface="Liter" pitchFamily="34" charset="-120"/>
              </a:rPr>
              <a:t>Key Design Decisions</a:t>
            </a:r>
            <a:endParaRPr lang="en-US" sz="2000" dirty="0"/>
          </a:p>
        </p:txBody>
      </p:sp>
      <p:sp>
        <p:nvSpPr>
          <p:cNvPr id="41" name="Shape 38"/>
          <p:cNvSpPr/>
          <p:nvPr/>
        </p:nvSpPr>
        <p:spPr>
          <a:xfrm>
            <a:off x="762000" y="5016500"/>
            <a:ext cx="4572000" cy="1651000"/>
          </a:xfrm>
          <a:prstGeom prst="rect">
            <a:avLst/>
          </a:prstGeom>
          <a:solidFill>
            <a:srgbClr val="FFFFFF"/>
          </a:solidFill>
          <a:ln/>
        </p:spPr>
      </p:sp>
      <p:sp>
        <p:nvSpPr>
          <p:cNvPr id="42" name="Shape 39"/>
          <p:cNvSpPr/>
          <p:nvPr/>
        </p:nvSpPr>
        <p:spPr>
          <a:xfrm>
            <a:off x="762000" y="5016500"/>
            <a:ext cx="4572000" cy="50800"/>
          </a:xfrm>
          <a:prstGeom prst="rect">
            <a:avLst/>
          </a:prstGeom>
          <a:solidFill>
            <a:srgbClr val="2ECC71"/>
          </a:solidFill>
          <a:ln/>
        </p:spPr>
      </p:sp>
      <p:sp>
        <p:nvSpPr>
          <p:cNvPr id="43" name="Text 40"/>
          <p:cNvSpPr/>
          <p:nvPr/>
        </p:nvSpPr>
        <p:spPr>
          <a:xfrm>
            <a:off x="1016000" y="5207000"/>
            <a:ext cx="4064000" cy="1397000"/>
          </a:xfrm>
          <a:prstGeom prst="rect">
            <a:avLst/>
          </a:prstGeom>
          <a:noFill/>
          <a:ln/>
        </p:spPr>
        <p:txBody>
          <a:bodyPr wrap="square" lIns="0" tIns="0" rIns="0" bIns="0" rtlCol="0" anchor="t"/>
          <a:lstStyle/>
          <a:p>
            <a:pPr algn="l">
              <a:lnSpc>
                <a:spcPct val="150000"/>
              </a:lnSpc>
            </a:pPr>
            <a:r>
              <a:rPr lang="en-US" sz="1500" b="1" dirty="0">
                <a:solidFill>
                  <a:srgbClr val="1E293B"/>
                </a:solidFill>
                <a:latin typeface="Quattrocento Sans" pitchFamily="34" charset="0"/>
                <a:ea typeface="Quattrocento Sans" pitchFamily="34" charset="-122"/>
                <a:cs typeface="Quattrocento Sans" pitchFamily="34" charset="-120"/>
              </a:rPr>
              <a:t>SMOTE on Training Only</a:t>
            </a:r>
            <a:endParaRPr lang="en-US" sz="1500" dirty="0"/>
          </a:p>
          <a:p>
            <a:pPr algn="l">
              <a:lnSpc>
                <a:spcPct val="150000"/>
              </a:lnSpc>
            </a:pPr>
            <a:r>
              <a:rPr lang="en-US" sz="1500" dirty="0">
                <a:solidFill>
                  <a:srgbClr val="64748B"/>
                </a:solidFill>
                <a:latin typeface="Quattrocento Sans" pitchFamily="34" charset="0"/>
                <a:ea typeface="Quattrocento Sans" pitchFamily="34" charset="-122"/>
                <a:cs typeface="Quattrocento Sans" pitchFamily="34" charset="-120"/>
              </a:rPr>
              <a:t>Prevents data leakage into test set — synthetic samples generated only from training data</a:t>
            </a:r>
            <a:endParaRPr lang="en-US" sz="1500" dirty="0"/>
          </a:p>
        </p:txBody>
      </p:sp>
      <p:sp>
        <p:nvSpPr>
          <p:cNvPr id="44" name="Shape 41"/>
          <p:cNvSpPr/>
          <p:nvPr/>
        </p:nvSpPr>
        <p:spPr>
          <a:xfrm>
            <a:off x="5588000" y="5016500"/>
            <a:ext cx="4572000" cy="1524000"/>
          </a:xfrm>
          <a:prstGeom prst="rect">
            <a:avLst/>
          </a:prstGeom>
          <a:solidFill>
            <a:srgbClr val="FFFFFF"/>
          </a:solidFill>
          <a:ln/>
        </p:spPr>
      </p:sp>
      <p:sp>
        <p:nvSpPr>
          <p:cNvPr id="45" name="Shape 42"/>
          <p:cNvSpPr/>
          <p:nvPr/>
        </p:nvSpPr>
        <p:spPr>
          <a:xfrm>
            <a:off x="5588000" y="5016500"/>
            <a:ext cx="4572000" cy="50800"/>
          </a:xfrm>
          <a:prstGeom prst="rect">
            <a:avLst/>
          </a:prstGeom>
          <a:solidFill>
            <a:srgbClr val="3498DB"/>
          </a:solidFill>
          <a:ln/>
        </p:spPr>
      </p:sp>
      <p:sp>
        <p:nvSpPr>
          <p:cNvPr id="46" name="Text 43"/>
          <p:cNvSpPr/>
          <p:nvPr/>
        </p:nvSpPr>
        <p:spPr>
          <a:xfrm>
            <a:off x="5842000" y="5207000"/>
            <a:ext cx="4064000" cy="1206500"/>
          </a:xfrm>
          <a:prstGeom prst="rect">
            <a:avLst/>
          </a:prstGeom>
          <a:noFill/>
          <a:ln/>
        </p:spPr>
        <p:txBody>
          <a:bodyPr wrap="square" lIns="0" tIns="0" rIns="0" bIns="0" rtlCol="0" anchor="t"/>
          <a:lstStyle/>
          <a:p>
            <a:pPr algn="l">
              <a:lnSpc>
                <a:spcPct val="150000"/>
              </a:lnSpc>
            </a:pPr>
            <a:r>
              <a:rPr lang="en-US" sz="1500" b="1" dirty="0">
                <a:solidFill>
                  <a:srgbClr val="1E293B"/>
                </a:solidFill>
                <a:latin typeface="Quattrocento Sans" pitchFamily="34" charset="0"/>
                <a:ea typeface="Quattrocento Sans" pitchFamily="34" charset="-122"/>
                <a:cs typeface="Quattrocento Sans" pitchFamily="34" charset="-120"/>
              </a:rPr>
              <a:t>Stratified 80/20 Split</a:t>
            </a:r>
            <a:endParaRPr lang="en-US" sz="1500" dirty="0"/>
          </a:p>
          <a:p>
            <a:pPr algn="l">
              <a:lnSpc>
                <a:spcPct val="150000"/>
              </a:lnSpc>
            </a:pPr>
            <a:r>
              <a:rPr lang="en-US" sz="1500" dirty="0">
                <a:solidFill>
                  <a:srgbClr val="64748B"/>
                </a:solidFill>
                <a:latin typeface="Quattrocento Sans" pitchFamily="34" charset="0"/>
                <a:ea typeface="Quattrocento Sans" pitchFamily="34" charset="-122"/>
                <a:cs typeface="Quattrocento Sans" pitchFamily="34" charset="-120"/>
              </a:rPr>
              <a:t>Preserves class distribution in both train and test — critical for balanced evaluation</a:t>
            </a:r>
            <a:endParaRPr lang="en-US" sz="1500" dirty="0"/>
          </a:p>
        </p:txBody>
      </p:sp>
      <p:sp>
        <p:nvSpPr>
          <p:cNvPr id="47" name="Shape 44"/>
          <p:cNvSpPr/>
          <p:nvPr/>
        </p:nvSpPr>
        <p:spPr>
          <a:xfrm>
            <a:off x="10414000" y="5016500"/>
            <a:ext cx="5080000" cy="1524000"/>
          </a:xfrm>
          <a:prstGeom prst="rect">
            <a:avLst/>
          </a:prstGeom>
          <a:solidFill>
            <a:srgbClr val="FFFFFF"/>
          </a:solidFill>
          <a:ln/>
        </p:spPr>
      </p:sp>
      <p:sp>
        <p:nvSpPr>
          <p:cNvPr id="48" name="Shape 45"/>
          <p:cNvSpPr/>
          <p:nvPr/>
        </p:nvSpPr>
        <p:spPr>
          <a:xfrm>
            <a:off x="10414000" y="5016500"/>
            <a:ext cx="5080000" cy="50800"/>
          </a:xfrm>
          <a:prstGeom prst="rect">
            <a:avLst/>
          </a:prstGeom>
          <a:solidFill>
            <a:srgbClr val="D9534F"/>
          </a:solidFill>
          <a:ln/>
        </p:spPr>
      </p:sp>
      <p:sp>
        <p:nvSpPr>
          <p:cNvPr id="49" name="Text 46"/>
          <p:cNvSpPr/>
          <p:nvPr/>
        </p:nvSpPr>
        <p:spPr>
          <a:xfrm>
            <a:off x="10668000" y="5207000"/>
            <a:ext cx="4572000" cy="1206500"/>
          </a:xfrm>
          <a:prstGeom prst="rect">
            <a:avLst/>
          </a:prstGeom>
          <a:noFill/>
          <a:ln/>
        </p:spPr>
        <p:txBody>
          <a:bodyPr wrap="square" lIns="0" tIns="0" rIns="0" bIns="0" rtlCol="0" anchor="t"/>
          <a:lstStyle/>
          <a:p>
            <a:pPr algn="l">
              <a:lnSpc>
                <a:spcPct val="150000"/>
              </a:lnSpc>
            </a:pPr>
            <a:r>
              <a:rPr lang="en-US" sz="1500" b="1" dirty="0">
                <a:solidFill>
                  <a:srgbClr val="1E293B"/>
                </a:solidFill>
                <a:latin typeface="Quattrocento Sans" pitchFamily="34" charset="0"/>
                <a:ea typeface="Quattrocento Sans" pitchFamily="34" charset="-122"/>
                <a:cs typeface="Quattrocento Sans" pitchFamily="34" charset="-120"/>
              </a:rPr>
              <a:t>High-Cardinality Removal</a:t>
            </a:r>
            <a:endParaRPr lang="en-US" sz="1500" dirty="0"/>
          </a:p>
          <a:p>
            <a:pPr algn="l">
              <a:lnSpc>
                <a:spcPct val="150000"/>
              </a:lnSpc>
            </a:pPr>
            <a:r>
              <a:rPr lang="en-US" sz="1500" dirty="0">
                <a:solidFill>
                  <a:srgbClr val="64748B"/>
                </a:solidFill>
                <a:latin typeface="Quattrocento Sans" pitchFamily="34" charset="0"/>
                <a:ea typeface="Quattrocento Sans" pitchFamily="34" charset="-122"/>
                <a:cs typeface="Quattrocento Sans" pitchFamily="34" charset="-120"/>
              </a:rPr>
              <a:t>Features with &gt;95% uniqueness dropped to prevent overfitting and improve generalization</a:t>
            </a:r>
            <a:endParaRPr lang="en-US" sz="1500" dirty="0"/>
          </a:p>
        </p:txBody>
      </p:sp>
      <p:sp>
        <p:nvSpPr>
          <p:cNvPr id="50" name="Text 47"/>
          <p:cNvSpPr/>
          <p:nvPr/>
        </p:nvSpPr>
        <p:spPr>
          <a:xfrm>
            <a:off x="762000" y="6858000"/>
            <a:ext cx="14732000" cy="762000"/>
          </a:xfrm>
          <a:prstGeom prst="rect">
            <a:avLst/>
          </a:prstGeom>
          <a:noFill/>
          <a:ln/>
        </p:spPr>
        <p:txBody>
          <a:bodyPr wrap="square" lIns="0" tIns="0" rIns="0" bIns="0" rtlCol="0" anchor="t"/>
          <a:lstStyle/>
          <a:p>
            <a:pPr algn="l">
              <a:lnSpc>
                <a:spcPct val="140000"/>
              </a:lnSpc>
            </a:pPr>
            <a:r>
              <a:rPr lang="en-US" sz="1400" i="1" dirty="0">
                <a:solidFill>
                  <a:srgbClr val="64748B"/>
                </a:solidFill>
                <a:latin typeface="Quattrocento Sans" pitchFamily="34" charset="0"/>
                <a:ea typeface="Quattrocento Sans" pitchFamily="34" charset="-122"/>
                <a:cs typeface="Quattrocento Sans" pitchFamily="34" charset="-120"/>
              </a:rPr>
              <a:t>Note: All preprocessing steps (cleaning, encoding, SMOTE) are fitted on training data only and applied to test data via transformers — ensuring zero leakage and realistic performance estimates.</a:t>
            </a:r>
            <a:endParaRPr lang="en-US" sz="1400" dirty="0"/>
          </a:p>
        </p:txBody>
      </p:sp>
      <p:sp>
        <p:nvSpPr>
          <p:cNvPr id="51" name="Text 48"/>
          <p:cNvSpPr/>
          <p:nvPr/>
        </p:nvSpPr>
        <p:spPr>
          <a:xfrm>
            <a:off x="15113000" y="8826500"/>
            <a:ext cx="635000" cy="254000"/>
          </a:xfrm>
          <a:prstGeom prst="rect">
            <a:avLst/>
          </a:prstGeom>
          <a:noFill/>
          <a:ln/>
        </p:spPr>
        <p:txBody>
          <a:bodyPr wrap="none" lIns="0" tIns="0" rIns="0" bIns="0" rtlCol="0" anchor="ctr"/>
          <a:lstStyle/>
          <a:p>
            <a:pPr algn="r">
              <a:lnSpc>
                <a:spcPct val="130000"/>
              </a:lnSpc>
            </a:pPr>
            <a:r>
              <a:rPr lang="en-US" sz="1200" dirty="0">
                <a:solidFill>
                  <a:srgbClr val="64748B"/>
                </a:solidFill>
                <a:latin typeface="Quattrocento Sans" pitchFamily="34" charset="0"/>
                <a:ea typeface="Quattrocento Sans" pitchFamily="34" charset="-122"/>
                <a:cs typeface="Quattrocento Sans" pitchFamily="34" charset="-120"/>
              </a:rPr>
              <a:t>05</a:t>
            </a:r>
            <a:endParaRPr lang="en-US" sz="12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6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243E63"/>
          </a:solidFill>
          <a:ln/>
        </p:spPr>
      </p:sp>
      <p:sp>
        <p:nvSpPr>
          <p:cNvPr id="4" name="Text 1"/>
          <p:cNvSpPr/>
          <p:nvPr/>
        </p:nvSpPr>
        <p:spPr>
          <a:xfrm>
            <a:off x="127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Problem &amp; Motivation</a:t>
            </a:r>
            <a:endParaRPr lang="en-US" sz="1100" dirty="0"/>
          </a:p>
        </p:txBody>
      </p:sp>
      <p:sp>
        <p:nvSpPr>
          <p:cNvPr id="5" name="Text 2"/>
          <p:cNvSpPr/>
          <p:nvPr/>
        </p:nvSpPr>
        <p:spPr>
          <a:xfrm>
            <a:off x="2794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Data &amp; Methodology</a:t>
            </a:r>
            <a:endParaRPr lang="en-US" sz="1100" dirty="0"/>
          </a:p>
        </p:txBody>
      </p:sp>
      <p:sp>
        <p:nvSpPr>
          <p:cNvPr id="6" name="Shape 3"/>
          <p:cNvSpPr/>
          <p:nvPr/>
        </p:nvSpPr>
        <p:spPr>
          <a:xfrm>
            <a:off x="5461000" y="63500"/>
            <a:ext cx="2540000" cy="381000"/>
          </a:xfrm>
          <a:prstGeom prst="roundRect">
            <a:avLst>
              <a:gd name="adj" fmla="val 8000"/>
            </a:avLst>
          </a:prstGeom>
          <a:solidFill>
            <a:srgbClr val="3A5A8C"/>
          </a:solidFill>
          <a:ln/>
        </p:spPr>
      </p:sp>
      <p:sp>
        <p:nvSpPr>
          <p:cNvPr id="7" name="Text 4"/>
          <p:cNvSpPr/>
          <p:nvPr/>
        </p:nvSpPr>
        <p:spPr>
          <a:xfrm>
            <a:off x="5461000" y="63500"/>
            <a:ext cx="2540000" cy="381000"/>
          </a:xfrm>
          <a:prstGeom prst="rect">
            <a:avLst/>
          </a:prstGeom>
          <a:noFill/>
          <a:ln/>
        </p:spPr>
        <p:txBody>
          <a:bodyPr wrap="none" lIns="0" tIns="0" rIns="0" bIns="0" rtlCol="0" anchor="ctr"/>
          <a:lstStyle/>
          <a:p>
            <a:pPr algn="ctr">
              <a:lnSpc>
                <a:spcPct val="120000"/>
              </a:lnSpc>
            </a:pPr>
            <a:r>
              <a:rPr lang="en-US" sz="1100" b="1" dirty="0">
                <a:solidFill>
                  <a:srgbClr val="FFFFFF"/>
                </a:solidFill>
                <a:latin typeface="Quattrocento Sans" pitchFamily="34" charset="0"/>
                <a:ea typeface="Quattrocento Sans" pitchFamily="34" charset="-122"/>
                <a:cs typeface="Quattrocento Sans" pitchFamily="34" charset="-120"/>
              </a:rPr>
              <a:t>Exploratory Analysis</a:t>
            </a:r>
            <a:endParaRPr lang="en-US" sz="1100" dirty="0"/>
          </a:p>
        </p:txBody>
      </p:sp>
      <p:sp>
        <p:nvSpPr>
          <p:cNvPr id="8" name="Text 5"/>
          <p:cNvSpPr/>
          <p:nvPr/>
        </p:nvSpPr>
        <p:spPr>
          <a:xfrm>
            <a:off x="8128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Modeling &amp; Results</a:t>
            </a:r>
            <a:endParaRPr lang="en-US" sz="1100" dirty="0"/>
          </a:p>
        </p:txBody>
      </p:sp>
      <p:sp>
        <p:nvSpPr>
          <p:cNvPr id="9" name="Text 6"/>
          <p:cNvSpPr/>
          <p:nvPr/>
        </p:nvSpPr>
        <p:spPr>
          <a:xfrm>
            <a:off x="10795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Business Impact</a:t>
            </a:r>
            <a:endParaRPr lang="en-US" sz="1100" dirty="0"/>
          </a:p>
        </p:txBody>
      </p:sp>
      <p:sp>
        <p:nvSpPr>
          <p:cNvPr id="10" name="Text 7"/>
          <p:cNvSpPr/>
          <p:nvPr/>
        </p:nvSpPr>
        <p:spPr>
          <a:xfrm>
            <a:off x="13462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Roadmap</a:t>
            </a:r>
            <a:endParaRPr lang="en-US" sz="1100" dirty="0"/>
          </a:p>
        </p:txBody>
      </p:sp>
      <p:sp>
        <p:nvSpPr>
          <p:cNvPr id="11" name="Shape 8"/>
          <p:cNvSpPr/>
          <p:nvPr/>
        </p:nvSpPr>
        <p:spPr>
          <a:xfrm>
            <a:off x="0" y="508000"/>
            <a:ext cx="16256000" cy="25400"/>
          </a:xfrm>
          <a:prstGeom prst="rect">
            <a:avLst/>
          </a:prstGeom>
          <a:solidFill>
            <a:srgbClr val="2B4C7E"/>
          </a:solidFill>
          <a:ln/>
        </p:spPr>
      </p:sp>
      <p:sp>
        <p:nvSpPr>
          <p:cNvPr id="12" name="Text 9"/>
          <p:cNvSpPr/>
          <p:nvPr/>
        </p:nvSpPr>
        <p:spPr>
          <a:xfrm>
            <a:off x="762000" y="736600"/>
            <a:ext cx="10160000" cy="508000"/>
          </a:xfrm>
          <a:prstGeom prst="rect">
            <a:avLst/>
          </a:prstGeom>
          <a:noFill/>
          <a:ln/>
        </p:spPr>
        <p:txBody>
          <a:bodyPr wrap="none" lIns="0" tIns="0" rIns="0" bIns="0" rtlCol="0" anchor="ctr"/>
          <a:lstStyle/>
          <a:p>
            <a:pPr algn="l">
              <a:lnSpc>
                <a:spcPct val="120000"/>
              </a:lnSpc>
            </a:pPr>
            <a:r>
              <a:rPr lang="en-US" sz="2800" dirty="0">
                <a:solidFill>
                  <a:srgbClr val="2B4C7E"/>
                </a:solidFill>
                <a:latin typeface="Liter" pitchFamily="34" charset="0"/>
                <a:ea typeface="Liter" pitchFamily="34" charset="-122"/>
                <a:cs typeface="Liter" pitchFamily="34" charset="-120"/>
              </a:rPr>
              <a:t>EDA — Two Business Hypotheses</a:t>
            </a:r>
            <a:endParaRPr lang="en-US" sz="2800" dirty="0"/>
          </a:p>
        </p:txBody>
      </p:sp>
      <p:sp>
        <p:nvSpPr>
          <p:cNvPr id="13" name="Shape 10"/>
          <p:cNvSpPr/>
          <p:nvPr/>
        </p:nvSpPr>
        <p:spPr>
          <a:xfrm>
            <a:off x="762000" y="1308100"/>
            <a:ext cx="762000" cy="50800"/>
          </a:xfrm>
          <a:prstGeom prst="rect">
            <a:avLst/>
          </a:prstGeom>
          <a:solidFill>
            <a:srgbClr val="D9534F"/>
          </a:solidFill>
          <a:ln/>
        </p:spPr>
      </p:sp>
      <p:pic>
        <p:nvPicPr>
          <p:cNvPr id="14" name="Image 0" descr="/mnt/agents/output/graphs/churn_drivers.png"/>
          <p:cNvPicPr>
            <a:picLocks noChangeAspect="1"/>
          </p:cNvPicPr>
          <p:nvPr/>
        </p:nvPicPr>
        <p:blipFill>
          <a:blip r:embed="rId3"/>
          <a:srcRect/>
          <a:stretch/>
        </p:blipFill>
        <p:spPr>
          <a:xfrm>
            <a:off x="508000" y="1524000"/>
            <a:ext cx="8382000" cy="7063946"/>
          </a:xfrm>
          <a:prstGeom prst="rect">
            <a:avLst/>
          </a:prstGeom>
        </p:spPr>
      </p:pic>
      <p:sp>
        <p:nvSpPr>
          <p:cNvPr id="15" name="Text 11"/>
          <p:cNvSpPr/>
          <p:nvPr/>
        </p:nvSpPr>
        <p:spPr>
          <a:xfrm>
            <a:off x="508000" y="8613346"/>
            <a:ext cx="8128000" cy="317500"/>
          </a:xfrm>
          <a:prstGeom prst="rect">
            <a:avLst/>
          </a:prstGeom>
          <a:noFill/>
          <a:ln/>
        </p:spPr>
        <p:txBody>
          <a:bodyPr wrap="none" lIns="0" tIns="0" rIns="0" bIns="0" rtlCol="0" anchor="ctr"/>
          <a:lstStyle/>
          <a:p>
            <a:pPr algn="ctr">
              <a:lnSpc>
                <a:spcPct val="120000"/>
              </a:lnSpc>
            </a:pPr>
            <a:r>
              <a:rPr lang="en-US" sz="1200" b="1" i="1" dirty="0">
                <a:solidFill>
                  <a:srgbClr val="64748B"/>
                </a:solidFill>
                <a:latin typeface="Times New Roman" panose="02020603050405020304" pitchFamily="18" charset="0"/>
                <a:ea typeface="Quattrocento Sans" pitchFamily="34" charset="-122"/>
                <a:cs typeface="Times New Roman" panose="02020603050405020304" pitchFamily="18" charset="0"/>
              </a:rPr>
              <a:t>Fig. 2: Equipment age (eqpdays) distribution by churn status — churners show consistently older hardware</a:t>
            </a:r>
            <a:endParaRPr lang="en-US" sz="1200" b="1" dirty="0">
              <a:latin typeface="Times New Roman" panose="02020603050405020304" pitchFamily="18" charset="0"/>
              <a:cs typeface="Times New Roman" panose="02020603050405020304" pitchFamily="18" charset="0"/>
            </a:endParaRPr>
          </a:p>
        </p:txBody>
      </p:sp>
      <p:sp>
        <p:nvSpPr>
          <p:cNvPr id="16" name="Shape 12"/>
          <p:cNvSpPr/>
          <p:nvPr/>
        </p:nvSpPr>
        <p:spPr>
          <a:xfrm>
            <a:off x="9271000" y="1587500"/>
            <a:ext cx="6223000" cy="2476500"/>
          </a:xfrm>
          <a:prstGeom prst="rect">
            <a:avLst/>
          </a:prstGeom>
          <a:solidFill>
            <a:srgbClr val="FFFFFF"/>
          </a:solidFill>
          <a:ln/>
        </p:spPr>
      </p:sp>
      <p:sp>
        <p:nvSpPr>
          <p:cNvPr id="17" name="Shape 13"/>
          <p:cNvSpPr/>
          <p:nvPr/>
        </p:nvSpPr>
        <p:spPr>
          <a:xfrm>
            <a:off x="9271000" y="1587500"/>
            <a:ext cx="6223000" cy="63500"/>
          </a:xfrm>
          <a:prstGeom prst="rect">
            <a:avLst/>
          </a:prstGeom>
          <a:solidFill>
            <a:srgbClr val="D9534F"/>
          </a:solidFill>
          <a:ln/>
        </p:spPr>
      </p:sp>
      <p:sp>
        <p:nvSpPr>
          <p:cNvPr id="18" name="Text 14"/>
          <p:cNvSpPr/>
          <p:nvPr/>
        </p:nvSpPr>
        <p:spPr>
          <a:xfrm>
            <a:off x="9525000" y="1803400"/>
            <a:ext cx="1524000" cy="304800"/>
          </a:xfrm>
          <a:prstGeom prst="rect">
            <a:avLst/>
          </a:prstGeom>
          <a:noFill/>
          <a:ln/>
        </p:spPr>
        <p:txBody>
          <a:bodyPr wrap="none" lIns="0" tIns="0" rIns="0" bIns="0" rtlCol="0" anchor="ctr"/>
          <a:lstStyle/>
          <a:p>
            <a:pPr algn="l">
              <a:lnSpc>
                <a:spcPct val="120000"/>
              </a:lnSpc>
            </a:pPr>
            <a:r>
              <a:rPr lang="en-US" sz="1200" kern="0" spc="100" dirty="0">
                <a:solidFill>
                  <a:srgbClr val="D9534F"/>
                </a:solidFill>
                <a:latin typeface="Liter" pitchFamily="34" charset="0"/>
                <a:ea typeface="Liter" pitchFamily="34" charset="-122"/>
                <a:cs typeface="Liter" pitchFamily="34" charset="-120"/>
              </a:rPr>
              <a:t>HYPOTHESIS 1</a:t>
            </a:r>
            <a:endParaRPr lang="en-US" sz="1200" dirty="0"/>
          </a:p>
        </p:txBody>
      </p:sp>
      <p:sp>
        <p:nvSpPr>
          <p:cNvPr id="19" name="Text 15"/>
          <p:cNvSpPr/>
          <p:nvPr/>
        </p:nvSpPr>
        <p:spPr>
          <a:xfrm>
            <a:off x="9525000" y="2159000"/>
            <a:ext cx="5715000" cy="381000"/>
          </a:xfrm>
          <a:prstGeom prst="rect">
            <a:avLst/>
          </a:prstGeom>
          <a:noFill/>
          <a:ln/>
        </p:spPr>
        <p:txBody>
          <a:bodyPr wrap="none" lIns="0" tIns="0" rIns="0" bIns="0" rtlCol="0" anchor="ctr"/>
          <a:lstStyle/>
          <a:p>
            <a:pPr algn="l">
              <a:lnSpc>
                <a:spcPct val="120000"/>
              </a:lnSpc>
            </a:pPr>
            <a:r>
              <a:rPr lang="en-US" sz="2000" b="1" dirty="0">
                <a:solidFill>
                  <a:srgbClr val="1E293B"/>
                </a:solidFill>
                <a:latin typeface="Liter" pitchFamily="34" charset="0"/>
                <a:ea typeface="Liter" pitchFamily="34" charset="-122"/>
                <a:cs typeface="Liter" pitchFamily="34" charset="-120"/>
              </a:rPr>
              <a:t>"Hardware Fatigue"</a:t>
            </a:r>
            <a:endParaRPr lang="en-US" sz="2000" dirty="0"/>
          </a:p>
        </p:txBody>
      </p:sp>
      <p:sp>
        <p:nvSpPr>
          <p:cNvPr id="20" name="Text 16"/>
          <p:cNvSpPr/>
          <p:nvPr/>
        </p:nvSpPr>
        <p:spPr>
          <a:xfrm>
            <a:off x="9525000" y="2603500"/>
            <a:ext cx="5715000" cy="1270000"/>
          </a:xfrm>
          <a:prstGeom prst="rect">
            <a:avLst/>
          </a:prstGeom>
          <a:noFill/>
          <a:ln/>
        </p:spPr>
        <p:txBody>
          <a:bodyPr wrap="square" lIns="0" tIns="0" rIns="0" bIns="0" rtlCol="0" anchor="t"/>
          <a:lstStyle/>
          <a:p>
            <a:pPr algn="l">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Customers with older handsets (</a:t>
            </a:r>
            <a:r>
              <a:rPr lang="en-US" sz="1500" b="1" dirty="0">
                <a:solidFill>
                  <a:srgbClr val="1E293B"/>
                </a:solidFill>
                <a:latin typeface="Quattrocento Sans" pitchFamily="34" charset="0"/>
                <a:ea typeface="Quattrocento Sans" pitchFamily="34" charset="-122"/>
                <a:cs typeface="Quattrocento Sans" pitchFamily="34" charset="-120"/>
              </a:rPr>
              <a:t>eqpdays</a:t>
            </a:r>
            <a:r>
              <a:rPr lang="en-US" sz="1500" dirty="0">
                <a:solidFill>
                  <a:srgbClr val="1E293B"/>
                </a:solidFill>
                <a:latin typeface="Quattrocento Sans" pitchFamily="34" charset="0"/>
                <a:ea typeface="Quattrocento Sans" pitchFamily="34" charset="-122"/>
                <a:cs typeface="Quattrocento Sans" pitchFamily="34" charset="-120"/>
              </a:rPr>
              <a:t>) are more likely to churn — they become susceptible to competitor upgrade offers and new-device promotions.</a:t>
            </a:r>
            <a:endParaRPr lang="en-US" sz="1500" dirty="0"/>
          </a:p>
        </p:txBody>
      </p:sp>
      <p:sp>
        <p:nvSpPr>
          <p:cNvPr id="21" name="Shape 17"/>
          <p:cNvSpPr/>
          <p:nvPr/>
        </p:nvSpPr>
        <p:spPr>
          <a:xfrm>
            <a:off x="9271000" y="4318000"/>
            <a:ext cx="6223000" cy="2476500"/>
          </a:xfrm>
          <a:prstGeom prst="rect">
            <a:avLst/>
          </a:prstGeom>
          <a:solidFill>
            <a:srgbClr val="FFFFFF"/>
          </a:solidFill>
          <a:ln/>
        </p:spPr>
      </p:sp>
      <p:sp>
        <p:nvSpPr>
          <p:cNvPr id="22" name="Shape 18"/>
          <p:cNvSpPr/>
          <p:nvPr/>
        </p:nvSpPr>
        <p:spPr>
          <a:xfrm>
            <a:off x="9271000" y="4318000"/>
            <a:ext cx="6223000" cy="63500"/>
          </a:xfrm>
          <a:prstGeom prst="rect">
            <a:avLst/>
          </a:prstGeom>
          <a:solidFill>
            <a:srgbClr val="3498DB"/>
          </a:solidFill>
          <a:ln/>
        </p:spPr>
      </p:sp>
      <p:sp>
        <p:nvSpPr>
          <p:cNvPr id="23" name="Text 19"/>
          <p:cNvSpPr/>
          <p:nvPr/>
        </p:nvSpPr>
        <p:spPr>
          <a:xfrm>
            <a:off x="9525000" y="4533900"/>
            <a:ext cx="1524000" cy="304800"/>
          </a:xfrm>
          <a:prstGeom prst="rect">
            <a:avLst/>
          </a:prstGeom>
          <a:noFill/>
          <a:ln/>
        </p:spPr>
        <p:txBody>
          <a:bodyPr wrap="none" lIns="0" tIns="0" rIns="0" bIns="0" rtlCol="0" anchor="ctr"/>
          <a:lstStyle/>
          <a:p>
            <a:pPr algn="l">
              <a:lnSpc>
                <a:spcPct val="120000"/>
              </a:lnSpc>
            </a:pPr>
            <a:r>
              <a:rPr lang="en-US" sz="1200" kern="0" spc="100" dirty="0">
                <a:solidFill>
                  <a:srgbClr val="3498DB"/>
                </a:solidFill>
                <a:latin typeface="Liter" pitchFamily="34" charset="0"/>
                <a:ea typeface="Liter" pitchFamily="34" charset="-122"/>
                <a:cs typeface="Liter" pitchFamily="34" charset="-120"/>
              </a:rPr>
              <a:t>HYPOTHESIS 2</a:t>
            </a:r>
            <a:endParaRPr lang="en-US" sz="1200" dirty="0"/>
          </a:p>
        </p:txBody>
      </p:sp>
      <p:sp>
        <p:nvSpPr>
          <p:cNvPr id="24" name="Text 20"/>
          <p:cNvSpPr/>
          <p:nvPr/>
        </p:nvSpPr>
        <p:spPr>
          <a:xfrm>
            <a:off x="9525000" y="4889500"/>
            <a:ext cx="5715000" cy="381000"/>
          </a:xfrm>
          <a:prstGeom prst="rect">
            <a:avLst/>
          </a:prstGeom>
          <a:noFill/>
          <a:ln/>
        </p:spPr>
        <p:txBody>
          <a:bodyPr wrap="none" lIns="0" tIns="0" rIns="0" bIns="0" rtlCol="0" anchor="ctr"/>
          <a:lstStyle/>
          <a:p>
            <a:pPr algn="l">
              <a:lnSpc>
                <a:spcPct val="120000"/>
              </a:lnSpc>
            </a:pPr>
            <a:r>
              <a:rPr lang="en-US" sz="2000" b="1" dirty="0">
                <a:solidFill>
                  <a:srgbClr val="1E293B"/>
                </a:solidFill>
                <a:latin typeface="Liter" pitchFamily="34" charset="0"/>
                <a:ea typeface="Liter" pitchFamily="34" charset="-122"/>
                <a:cs typeface="Liter" pitchFamily="34" charset="-120"/>
              </a:rPr>
              <a:t>"Silent Departure"</a:t>
            </a:r>
            <a:endParaRPr lang="en-US" sz="2000" dirty="0"/>
          </a:p>
        </p:txBody>
      </p:sp>
      <p:sp>
        <p:nvSpPr>
          <p:cNvPr id="25" name="Text 21"/>
          <p:cNvSpPr/>
          <p:nvPr/>
        </p:nvSpPr>
        <p:spPr>
          <a:xfrm>
            <a:off x="9525000" y="5334000"/>
            <a:ext cx="5715000" cy="1270000"/>
          </a:xfrm>
          <a:prstGeom prst="rect">
            <a:avLst/>
          </a:prstGeom>
          <a:noFill/>
          <a:ln/>
        </p:spPr>
        <p:txBody>
          <a:bodyPr wrap="square" lIns="0" tIns="0" rIns="0" bIns="0" rtlCol="0" anchor="t"/>
          <a:lstStyle/>
          <a:p>
            <a:pPr algn="l">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A gradual decline in </a:t>
            </a:r>
            <a:r>
              <a:rPr lang="en-US" sz="1500" b="1" dirty="0">
                <a:solidFill>
                  <a:srgbClr val="1E293B"/>
                </a:solidFill>
                <a:latin typeface="Quattrocento Sans" pitchFamily="34" charset="0"/>
                <a:ea typeface="Quattrocento Sans" pitchFamily="34" charset="-122"/>
                <a:cs typeface="Quattrocento Sans" pitchFamily="34" charset="-120"/>
              </a:rPr>
              <a:t>Minutes of Use (MoU)</a:t>
            </a:r>
            <a:r>
              <a:rPr lang="en-US" sz="1500" dirty="0">
                <a:solidFill>
                  <a:srgbClr val="1E293B"/>
                </a:solidFill>
                <a:latin typeface="Quattrocento Sans" pitchFamily="34" charset="0"/>
                <a:ea typeface="Quattrocento Sans" pitchFamily="34" charset="-122"/>
                <a:cs typeface="Quattrocento Sans" pitchFamily="34" charset="-120"/>
              </a:rPr>
              <a:t> is a leading indicator of churn — customers disengage weeks before formally cancelling.</a:t>
            </a:r>
            <a:endParaRPr lang="en-US" sz="1500" dirty="0"/>
          </a:p>
        </p:txBody>
      </p:sp>
      <p:sp>
        <p:nvSpPr>
          <p:cNvPr id="26" name="Shape 22"/>
          <p:cNvSpPr/>
          <p:nvPr/>
        </p:nvSpPr>
        <p:spPr>
          <a:xfrm>
            <a:off x="9271000" y="7048500"/>
            <a:ext cx="6223000" cy="762000"/>
          </a:xfrm>
          <a:prstGeom prst="rect">
            <a:avLst/>
          </a:prstGeom>
          <a:solidFill>
            <a:srgbClr val="2B4C7E"/>
          </a:solidFill>
          <a:ln/>
        </p:spPr>
      </p:sp>
      <p:sp>
        <p:nvSpPr>
          <p:cNvPr id="27" name="Text 23"/>
          <p:cNvSpPr/>
          <p:nvPr/>
        </p:nvSpPr>
        <p:spPr>
          <a:xfrm>
            <a:off x="9525000" y="7112000"/>
            <a:ext cx="5715000" cy="635000"/>
          </a:xfrm>
          <a:prstGeom prst="rect">
            <a:avLst/>
          </a:prstGeom>
          <a:noFill/>
          <a:ln/>
        </p:spPr>
        <p:txBody>
          <a:bodyPr wrap="square" lIns="0" tIns="0" rIns="0" bIns="0" rtlCol="0" anchor="ctr"/>
          <a:lstStyle/>
          <a:p>
            <a:pPr algn="l">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Key Finding:</a:t>
            </a:r>
            <a:r>
              <a:rPr lang="en-US" sz="1400" dirty="0">
                <a:solidFill>
                  <a:srgbClr val="FFFFFF"/>
                </a:solidFill>
                <a:latin typeface="Quattrocento Sans" pitchFamily="34" charset="0"/>
                <a:ea typeface="Quattrocento Sans" pitchFamily="34" charset="-122"/>
                <a:cs typeface="Quattrocento Sans" pitchFamily="34" charset="-120"/>
              </a:rPr>
              <a:t> Box plot evidence confirms churners sit on older hardware — validating eqpdays as a core predictive signal.</a:t>
            </a:r>
            <a:endParaRPr lang="en-US" sz="1400" dirty="0"/>
          </a:p>
        </p:txBody>
      </p:sp>
      <p:sp>
        <p:nvSpPr>
          <p:cNvPr id="28" name="Text 24"/>
          <p:cNvSpPr/>
          <p:nvPr/>
        </p:nvSpPr>
        <p:spPr>
          <a:xfrm>
            <a:off x="15113000" y="8826500"/>
            <a:ext cx="635000" cy="254000"/>
          </a:xfrm>
          <a:prstGeom prst="rect">
            <a:avLst/>
          </a:prstGeom>
          <a:noFill/>
          <a:ln/>
        </p:spPr>
        <p:txBody>
          <a:bodyPr wrap="none" lIns="0" tIns="0" rIns="0" bIns="0" rtlCol="0" anchor="ctr"/>
          <a:lstStyle/>
          <a:p>
            <a:pPr algn="r">
              <a:lnSpc>
                <a:spcPct val="130000"/>
              </a:lnSpc>
            </a:pPr>
            <a:r>
              <a:rPr lang="en-US" sz="1200" dirty="0">
                <a:solidFill>
                  <a:srgbClr val="64748B"/>
                </a:solidFill>
                <a:latin typeface="Quattrocento Sans" pitchFamily="34" charset="0"/>
                <a:ea typeface="Quattrocento Sans" pitchFamily="34" charset="-122"/>
                <a:cs typeface="Quattrocento Sans" pitchFamily="34" charset="-120"/>
              </a:rPr>
              <a:t>06</a:t>
            </a:r>
            <a:endParaRPr lang="en-US" sz="1200" dirty="0"/>
          </a:p>
        </p:txBody>
      </p:sp>
      <p:pic>
        <p:nvPicPr>
          <p:cNvPr id="29" name="Picture 28">
            <a:extLst>
              <a:ext uri="{FF2B5EF4-FFF2-40B4-BE49-F238E27FC236}">
                <a16:creationId xmlns:a16="http://schemas.microsoft.com/office/drawing/2014/main" id="{7B91864D-C635-15E0-AB1B-31C40B52EE71}"/>
              </a:ext>
            </a:extLst>
          </p:cNvPr>
          <p:cNvPicPr>
            <a:picLocks noChangeAspect="1"/>
          </p:cNvPicPr>
          <p:nvPr/>
        </p:nvPicPr>
        <p:blipFill>
          <a:blip r:embed="rId4"/>
          <a:stretch>
            <a:fillRect/>
          </a:stretch>
        </p:blipFill>
        <p:spPr>
          <a:xfrm>
            <a:off x="565396" y="1587500"/>
            <a:ext cx="8158474" cy="3294449"/>
          </a:xfrm>
          <a:prstGeom prst="rect">
            <a:avLst/>
          </a:prstGeom>
        </p:spPr>
      </p:pic>
      <p:pic>
        <p:nvPicPr>
          <p:cNvPr id="31" name="Picture 30">
            <a:extLst>
              <a:ext uri="{FF2B5EF4-FFF2-40B4-BE49-F238E27FC236}">
                <a16:creationId xmlns:a16="http://schemas.microsoft.com/office/drawing/2014/main" id="{A6C5B718-38FD-546F-06F6-322D07AC2B5F}"/>
              </a:ext>
            </a:extLst>
          </p:cNvPr>
          <p:cNvPicPr>
            <a:picLocks noChangeAspect="1"/>
          </p:cNvPicPr>
          <p:nvPr/>
        </p:nvPicPr>
        <p:blipFill>
          <a:blip r:embed="rId5"/>
          <a:stretch>
            <a:fillRect/>
          </a:stretch>
        </p:blipFill>
        <p:spPr>
          <a:xfrm>
            <a:off x="565396" y="5064725"/>
            <a:ext cx="8107174" cy="3459549"/>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F6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243E63"/>
          </a:solidFill>
          <a:ln/>
        </p:spPr>
      </p:sp>
      <p:sp>
        <p:nvSpPr>
          <p:cNvPr id="4" name="Text 1"/>
          <p:cNvSpPr/>
          <p:nvPr/>
        </p:nvSpPr>
        <p:spPr>
          <a:xfrm>
            <a:off x="127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Problem &amp; Motivation</a:t>
            </a:r>
            <a:endParaRPr lang="en-US" sz="1100" dirty="0"/>
          </a:p>
        </p:txBody>
      </p:sp>
      <p:sp>
        <p:nvSpPr>
          <p:cNvPr id="5" name="Text 2"/>
          <p:cNvSpPr/>
          <p:nvPr/>
        </p:nvSpPr>
        <p:spPr>
          <a:xfrm>
            <a:off x="2794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Data &amp; Methodology</a:t>
            </a:r>
            <a:endParaRPr lang="en-US" sz="1100" dirty="0"/>
          </a:p>
        </p:txBody>
      </p:sp>
      <p:sp>
        <p:nvSpPr>
          <p:cNvPr id="6" name="Text 3"/>
          <p:cNvSpPr/>
          <p:nvPr/>
        </p:nvSpPr>
        <p:spPr>
          <a:xfrm>
            <a:off x="5461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Exploratory Analysis</a:t>
            </a:r>
            <a:endParaRPr lang="en-US" sz="1100" dirty="0"/>
          </a:p>
        </p:txBody>
      </p:sp>
      <p:sp>
        <p:nvSpPr>
          <p:cNvPr id="7" name="Shape 4"/>
          <p:cNvSpPr/>
          <p:nvPr/>
        </p:nvSpPr>
        <p:spPr>
          <a:xfrm>
            <a:off x="8128000" y="63500"/>
            <a:ext cx="2540000" cy="381000"/>
          </a:xfrm>
          <a:prstGeom prst="roundRect">
            <a:avLst>
              <a:gd name="adj" fmla="val 8000"/>
            </a:avLst>
          </a:prstGeom>
          <a:solidFill>
            <a:srgbClr val="3A5A8C"/>
          </a:solidFill>
          <a:ln/>
        </p:spPr>
      </p:sp>
      <p:sp>
        <p:nvSpPr>
          <p:cNvPr id="8" name="Text 5"/>
          <p:cNvSpPr/>
          <p:nvPr/>
        </p:nvSpPr>
        <p:spPr>
          <a:xfrm>
            <a:off x="8128000" y="63500"/>
            <a:ext cx="2540000" cy="381000"/>
          </a:xfrm>
          <a:prstGeom prst="rect">
            <a:avLst/>
          </a:prstGeom>
          <a:noFill/>
          <a:ln/>
        </p:spPr>
        <p:txBody>
          <a:bodyPr wrap="none" lIns="0" tIns="0" rIns="0" bIns="0" rtlCol="0" anchor="ctr"/>
          <a:lstStyle/>
          <a:p>
            <a:pPr algn="ctr">
              <a:lnSpc>
                <a:spcPct val="120000"/>
              </a:lnSpc>
            </a:pPr>
            <a:r>
              <a:rPr lang="en-US" sz="1100" b="1" dirty="0">
                <a:solidFill>
                  <a:srgbClr val="FFFFFF"/>
                </a:solidFill>
                <a:latin typeface="Quattrocento Sans" pitchFamily="34" charset="0"/>
                <a:ea typeface="Quattrocento Sans" pitchFamily="34" charset="-122"/>
                <a:cs typeface="Quattrocento Sans" pitchFamily="34" charset="-120"/>
              </a:rPr>
              <a:t>Modeling &amp; Results</a:t>
            </a:r>
            <a:endParaRPr lang="en-US" sz="1100" dirty="0"/>
          </a:p>
        </p:txBody>
      </p:sp>
      <p:sp>
        <p:nvSpPr>
          <p:cNvPr id="9" name="Text 6"/>
          <p:cNvSpPr/>
          <p:nvPr/>
        </p:nvSpPr>
        <p:spPr>
          <a:xfrm>
            <a:off x="10795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Business Impact</a:t>
            </a:r>
            <a:endParaRPr lang="en-US" sz="1100" dirty="0"/>
          </a:p>
        </p:txBody>
      </p:sp>
      <p:sp>
        <p:nvSpPr>
          <p:cNvPr id="10" name="Text 7"/>
          <p:cNvSpPr/>
          <p:nvPr/>
        </p:nvSpPr>
        <p:spPr>
          <a:xfrm>
            <a:off x="13462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Roadmap</a:t>
            </a:r>
            <a:endParaRPr lang="en-US" sz="1100" dirty="0"/>
          </a:p>
        </p:txBody>
      </p:sp>
      <p:sp>
        <p:nvSpPr>
          <p:cNvPr id="11" name="Shape 8"/>
          <p:cNvSpPr/>
          <p:nvPr/>
        </p:nvSpPr>
        <p:spPr>
          <a:xfrm>
            <a:off x="0" y="508000"/>
            <a:ext cx="16256000" cy="25400"/>
          </a:xfrm>
          <a:prstGeom prst="rect">
            <a:avLst/>
          </a:prstGeom>
          <a:solidFill>
            <a:srgbClr val="2B4C7E"/>
          </a:solidFill>
          <a:ln/>
        </p:spPr>
      </p:sp>
      <p:sp>
        <p:nvSpPr>
          <p:cNvPr id="12" name="Text 9"/>
          <p:cNvSpPr/>
          <p:nvPr/>
        </p:nvSpPr>
        <p:spPr>
          <a:xfrm>
            <a:off x="762000" y="736600"/>
            <a:ext cx="10160000" cy="508000"/>
          </a:xfrm>
          <a:prstGeom prst="rect">
            <a:avLst/>
          </a:prstGeom>
          <a:noFill/>
          <a:ln/>
        </p:spPr>
        <p:txBody>
          <a:bodyPr wrap="none" lIns="0" tIns="0" rIns="0" bIns="0" rtlCol="0" anchor="ctr"/>
          <a:lstStyle/>
          <a:p>
            <a:pPr algn="l">
              <a:lnSpc>
                <a:spcPct val="120000"/>
              </a:lnSpc>
            </a:pPr>
            <a:r>
              <a:rPr lang="en-US" sz="2800" dirty="0">
                <a:solidFill>
                  <a:srgbClr val="2B4C7E"/>
                </a:solidFill>
                <a:latin typeface="Liter" pitchFamily="34" charset="0"/>
                <a:ea typeface="Liter" pitchFamily="34" charset="-122"/>
                <a:cs typeface="Liter" pitchFamily="34" charset="-120"/>
              </a:rPr>
              <a:t>Model Performance — RF vs. XGBoost</a:t>
            </a:r>
            <a:endParaRPr lang="en-US" sz="2800" dirty="0"/>
          </a:p>
        </p:txBody>
      </p:sp>
      <p:sp>
        <p:nvSpPr>
          <p:cNvPr id="13" name="Shape 10"/>
          <p:cNvSpPr/>
          <p:nvPr/>
        </p:nvSpPr>
        <p:spPr>
          <a:xfrm>
            <a:off x="762000" y="1308100"/>
            <a:ext cx="762000" cy="50800"/>
          </a:xfrm>
          <a:prstGeom prst="rect">
            <a:avLst/>
          </a:prstGeom>
          <a:solidFill>
            <a:srgbClr val="D9534F"/>
          </a:solidFill>
          <a:ln/>
        </p:spPr>
      </p:sp>
      <p:pic>
        <p:nvPicPr>
          <p:cNvPr id="14" name="Image 0" descr="/mnt/agents/output/graphs/model_comparison.png"/>
          <p:cNvPicPr>
            <a:picLocks noChangeAspect="1"/>
          </p:cNvPicPr>
          <p:nvPr/>
        </p:nvPicPr>
        <p:blipFill>
          <a:blip r:embed="rId3"/>
          <a:srcRect/>
          <a:stretch/>
        </p:blipFill>
        <p:spPr>
          <a:xfrm>
            <a:off x="762000" y="1587500"/>
            <a:ext cx="7620000" cy="4826000"/>
          </a:xfrm>
          <a:prstGeom prst="rect">
            <a:avLst/>
          </a:prstGeom>
        </p:spPr>
      </p:pic>
      <p:sp>
        <p:nvSpPr>
          <p:cNvPr id="15" name="Text 11"/>
          <p:cNvSpPr/>
          <p:nvPr/>
        </p:nvSpPr>
        <p:spPr>
          <a:xfrm>
            <a:off x="762000" y="6477000"/>
            <a:ext cx="7620000" cy="317500"/>
          </a:xfrm>
          <a:prstGeom prst="rect">
            <a:avLst/>
          </a:prstGeom>
          <a:noFill/>
          <a:ln/>
        </p:spPr>
        <p:txBody>
          <a:bodyPr wrap="none" lIns="0" tIns="0" rIns="0" bIns="0" rtlCol="0" anchor="ctr"/>
          <a:lstStyle/>
          <a:p>
            <a:pPr algn="ctr">
              <a:lnSpc>
                <a:spcPct val="120000"/>
              </a:lnSpc>
            </a:pPr>
            <a:r>
              <a:rPr lang="en-US" sz="1200" b="1" i="1" dirty="0">
                <a:solidFill>
                  <a:srgbClr val="64748B"/>
                </a:solidFill>
                <a:latin typeface="Times New Roman" panose="02020603050405020304" pitchFamily="18" charset="0"/>
                <a:ea typeface="Quattrocento Sans" pitchFamily="34" charset="-122"/>
                <a:cs typeface="Times New Roman" panose="02020603050405020304" pitchFamily="18" charset="0"/>
              </a:rPr>
              <a:t>Fig. 3: Model accuracy comparison — XGBoost edges out Random Forest</a:t>
            </a:r>
            <a:endParaRPr lang="en-US" sz="1200" b="1" dirty="0">
              <a:latin typeface="Times New Roman" panose="02020603050405020304" pitchFamily="18" charset="0"/>
              <a:cs typeface="Times New Roman" panose="02020603050405020304" pitchFamily="18" charset="0"/>
            </a:endParaRPr>
          </a:p>
        </p:txBody>
      </p:sp>
      <p:sp>
        <p:nvSpPr>
          <p:cNvPr id="16" name="Shape 12"/>
          <p:cNvSpPr/>
          <p:nvPr/>
        </p:nvSpPr>
        <p:spPr>
          <a:xfrm>
            <a:off x="8763000" y="1587500"/>
            <a:ext cx="6731000" cy="3556000"/>
          </a:xfrm>
          <a:prstGeom prst="rect">
            <a:avLst/>
          </a:prstGeom>
          <a:solidFill>
            <a:srgbClr val="FFFFFF"/>
          </a:solidFill>
          <a:ln/>
        </p:spPr>
      </p:sp>
      <p:sp>
        <p:nvSpPr>
          <p:cNvPr id="17" name="Shape 13"/>
          <p:cNvSpPr/>
          <p:nvPr/>
        </p:nvSpPr>
        <p:spPr>
          <a:xfrm>
            <a:off x="8763000" y="1587500"/>
            <a:ext cx="6731000" cy="508000"/>
          </a:xfrm>
          <a:prstGeom prst="rect">
            <a:avLst/>
          </a:prstGeom>
          <a:solidFill>
            <a:srgbClr val="2B4C7E"/>
          </a:solidFill>
          <a:ln/>
        </p:spPr>
      </p:sp>
      <p:sp>
        <p:nvSpPr>
          <p:cNvPr id="18" name="Text 14"/>
          <p:cNvSpPr/>
          <p:nvPr/>
        </p:nvSpPr>
        <p:spPr>
          <a:xfrm>
            <a:off x="9017000" y="1587500"/>
            <a:ext cx="6223000" cy="508000"/>
          </a:xfrm>
          <a:prstGeom prst="rect">
            <a:avLst/>
          </a:prstGeom>
          <a:noFill/>
          <a:ln/>
        </p:spPr>
        <p:txBody>
          <a:bodyPr wrap="none" lIns="0" tIns="0" rIns="0" bIns="0" rtlCol="0" anchor="ctr"/>
          <a:lstStyle/>
          <a:p>
            <a:pPr algn="l">
              <a:lnSpc>
                <a:spcPct val="120000"/>
              </a:lnSpc>
            </a:pPr>
            <a:r>
              <a:rPr lang="en-US" sz="1600" b="1" dirty="0">
                <a:solidFill>
                  <a:srgbClr val="FFFFFF"/>
                </a:solidFill>
                <a:latin typeface="Liter" pitchFamily="34" charset="0"/>
                <a:ea typeface="Liter" pitchFamily="34" charset="-122"/>
                <a:cs typeface="Liter" pitchFamily="34" charset="-120"/>
              </a:rPr>
              <a:t>XGBoost (Selected Model)</a:t>
            </a:r>
            <a:endParaRPr lang="en-US" sz="1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8890000" y="2286000"/>
          <a:ext cx="6477000" cy="2667000"/>
        </p:xfrm>
        <a:graphic>
          <a:graphicData uri="http://schemas.openxmlformats.org/drawingml/2006/table">
            <a:tbl>
              <a:tblPr/>
              <a:tblGrid>
                <a:gridCol w="323850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tblGrid>
              <a:tr h="533400">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Metric</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B4C7E"/>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Score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B4C7E"/>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Notes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B4C7E"/>
                    </a:solidFill>
                  </a:tcPr>
                </a:tc>
                <a:extLst>
                  <a:ext uri="{0D108BD9-81ED-4DB2-BD59-A6C34878D82A}">
                    <a16:rowId xmlns:a16="http://schemas.microsoft.com/office/drawing/2014/main" val="10000"/>
                  </a:ext>
                </a:extLst>
              </a:tr>
              <a:tr h="533400">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Test Accuracy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r>
                        <a:rPr lang="en-US" sz="1400" b="1" dirty="0">
                          <a:solidFill>
                            <a:srgbClr val="1E293B"/>
                          </a:solidFill>
                          <a:latin typeface="Quattrocento Sans" pitchFamily="34" charset="0"/>
                          <a:ea typeface="Quattrocento Sans" pitchFamily="34" charset="-122"/>
                          <a:cs typeface="Quattrocento Sans" pitchFamily="34" charset="-120"/>
                        </a:rPr>
                        <a:t>62.82%</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r>
                        <a:rPr lang="en-US" sz="1200" dirty="0">
                          <a:solidFill>
                            <a:srgbClr val="1E293B"/>
                          </a:solidFill>
                          <a:latin typeface="Quattrocento Sans" pitchFamily="34" charset="0"/>
                          <a:ea typeface="Quattrocento Sans" pitchFamily="34" charset="-122"/>
                          <a:cs typeface="Quattrocento Sans" pitchFamily="34" charset="-120"/>
                        </a:rPr>
                        <a:t>SMOTE-balanced</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3400">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ROC-AUC</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tc>
                  <a:txBody>
                    <a:bodyPr/>
                    <a:lstStyle/>
                    <a:p>
                      <a:pPr algn="ctr"/>
                      <a:r>
                        <a:rPr lang="en-US" sz="1400" b="1" dirty="0">
                          <a:solidFill>
                            <a:srgbClr val="1E293B"/>
                          </a:solidFill>
                          <a:latin typeface="Quattrocento Sans" pitchFamily="34" charset="0"/>
                          <a:ea typeface="Quattrocento Sans" pitchFamily="34" charset="-122"/>
                          <a:cs typeface="Quattrocento Sans" pitchFamily="34" charset="-120"/>
                        </a:rPr>
                        <a:t>0.682</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tc>
                  <a:txBody>
                    <a:bodyPr/>
                    <a:lstStyle/>
                    <a:p>
                      <a:pPr algn="ctr"/>
                      <a:r>
                        <a:rPr lang="en-US" sz="1200" dirty="0">
                          <a:solidFill>
                            <a:srgbClr val="1E293B"/>
                          </a:solidFill>
                          <a:latin typeface="Quattrocento Sans" pitchFamily="34" charset="0"/>
                          <a:ea typeface="Quattrocento Sans" pitchFamily="34" charset="-122"/>
                          <a:cs typeface="Quattrocento Sans" pitchFamily="34" charset="-120"/>
                        </a:rPr>
                        <a:t>Discrimination</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533400">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Churn Recall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r>
                        <a:rPr lang="en-US" sz="1400" b="1" dirty="0">
                          <a:solidFill>
                            <a:srgbClr val="2ECC71"/>
                          </a:solidFill>
                          <a:latin typeface="Quattrocento Sans" pitchFamily="34" charset="0"/>
                          <a:ea typeface="Quattrocento Sans" pitchFamily="34" charset="-122"/>
                          <a:cs typeface="Quattrocento Sans" pitchFamily="34" charset="-120"/>
                        </a:rPr>
                        <a:t>66%</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r>
                        <a:rPr lang="en-US" sz="1200" dirty="0">
                          <a:solidFill>
                            <a:srgbClr val="1E293B"/>
                          </a:solidFill>
                          <a:latin typeface="Quattrocento Sans" pitchFamily="34" charset="0"/>
                          <a:ea typeface="Quattrocento Sans" pitchFamily="34" charset="-122"/>
                          <a:cs typeface="Quattrocento Sans" pitchFamily="34" charset="-120"/>
                        </a:rPr>
                        <a:t>Minority class</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3400">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Churn Precision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tc>
                  <a:txBody>
                    <a:bodyPr/>
                    <a:lstStyle/>
                    <a:p>
                      <a:pPr algn="ctr"/>
                      <a:r>
                        <a:rPr lang="en-US" sz="1400" b="1" dirty="0">
                          <a:solidFill>
                            <a:srgbClr val="1E293B"/>
                          </a:solidFill>
                          <a:latin typeface="Quattrocento Sans" pitchFamily="34" charset="0"/>
                          <a:ea typeface="Quattrocento Sans" pitchFamily="34" charset="-122"/>
                          <a:cs typeface="Quattrocento Sans" pitchFamily="34" charset="-120"/>
                        </a:rPr>
                        <a:t>62%</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tc>
                  <a:txBody>
                    <a:bodyPr/>
                    <a:lstStyle/>
                    <a:p>
                      <a:pPr algn="ctr"/>
                      <a:r>
                        <a:rPr lang="en-US" sz="1200" dirty="0">
                          <a:solidFill>
                            <a:srgbClr val="1E293B"/>
                          </a:solidFill>
                          <a:latin typeface="Quattrocento Sans" pitchFamily="34" charset="0"/>
                          <a:ea typeface="Quattrocento Sans" pitchFamily="34" charset="-122"/>
                          <a:cs typeface="Quattrocento Sans" pitchFamily="34" charset="-120"/>
                        </a:rPr>
                        <a:t>Positive predict</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20" name="Shape 15"/>
          <p:cNvSpPr/>
          <p:nvPr/>
        </p:nvSpPr>
        <p:spPr>
          <a:xfrm>
            <a:off x="8763000" y="5397500"/>
            <a:ext cx="6731000" cy="1016000"/>
          </a:xfrm>
          <a:prstGeom prst="rect">
            <a:avLst/>
          </a:prstGeom>
          <a:solidFill>
            <a:srgbClr val="2B4C7E">
              <a:alpha val="6275"/>
            </a:srgbClr>
          </a:solidFill>
          <a:ln/>
        </p:spPr>
      </p:sp>
      <p:sp>
        <p:nvSpPr>
          <p:cNvPr id="21" name="Shape 16"/>
          <p:cNvSpPr/>
          <p:nvPr/>
        </p:nvSpPr>
        <p:spPr>
          <a:xfrm>
            <a:off x="8763000" y="5397500"/>
            <a:ext cx="50800" cy="1016000"/>
          </a:xfrm>
          <a:prstGeom prst="rect">
            <a:avLst/>
          </a:prstGeom>
          <a:solidFill>
            <a:srgbClr val="F39C12"/>
          </a:solidFill>
          <a:ln/>
        </p:spPr>
      </p:sp>
      <p:sp>
        <p:nvSpPr>
          <p:cNvPr id="22" name="Text 17"/>
          <p:cNvSpPr/>
          <p:nvPr/>
        </p:nvSpPr>
        <p:spPr>
          <a:xfrm>
            <a:off x="9017000" y="5486400"/>
            <a:ext cx="6223000" cy="825500"/>
          </a:xfrm>
          <a:prstGeom prst="rect">
            <a:avLst/>
          </a:prstGeom>
          <a:noFill/>
          <a:ln/>
        </p:spPr>
        <p:txBody>
          <a:bodyPr wrap="square" lIns="0" tIns="0" rIns="0" bIns="0" rtlCol="0" anchor="ctr"/>
          <a:lstStyle/>
          <a:p>
            <a:pPr algn="l">
              <a:lnSpc>
                <a:spcPct val="140000"/>
              </a:lnSpc>
            </a:pPr>
            <a:r>
              <a:rPr lang="en-US" sz="1500" b="1" dirty="0">
                <a:solidFill>
                  <a:srgbClr val="1E293B"/>
                </a:solidFill>
                <a:latin typeface="Quattrocento Sans" pitchFamily="34" charset="0"/>
                <a:ea typeface="Quattrocento Sans" pitchFamily="34" charset="-122"/>
                <a:cs typeface="Quattrocento Sans" pitchFamily="34" charset="-120"/>
              </a:rPr>
              <a:t>Optimal Threshold:</a:t>
            </a:r>
            <a:r>
              <a:rPr lang="en-US" sz="1500" dirty="0">
                <a:solidFill>
                  <a:srgbClr val="1E293B"/>
                </a:solidFill>
                <a:latin typeface="Quattrocento Sans" pitchFamily="34" charset="0"/>
                <a:ea typeface="Quattrocento Sans" pitchFamily="34" charset="-122"/>
                <a:cs typeface="Quattrocento Sans" pitchFamily="34" charset="-120"/>
              </a:rPr>
              <a:t> 0.50 (confirmed via 0.10-0.90 scan)</a:t>
            </a:r>
            <a:endParaRPr lang="en-US" sz="1500" dirty="0"/>
          </a:p>
          <a:p>
            <a:pPr algn="l">
              <a:lnSpc>
                <a:spcPct val="140000"/>
              </a:lnSpc>
            </a:pPr>
            <a:r>
              <a:rPr lang="en-US" sz="1500" dirty="0">
                <a:solidFill>
                  <a:srgbClr val="64748B"/>
                </a:solidFill>
                <a:latin typeface="Quattrocento Sans" pitchFamily="34" charset="0"/>
                <a:ea typeface="Quattrocento Sans" pitchFamily="34" charset="-122"/>
                <a:cs typeface="Quattrocento Sans" pitchFamily="34" charset="-120"/>
              </a:rPr>
              <a:t>Default cutoff was already optimal — no manual tuning needed</a:t>
            </a:r>
            <a:endParaRPr lang="en-US" sz="1500" dirty="0"/>
          </a:p>
        </p:txBody>
      </p:sp>
      <p:sp>
        <p:nvSpPr>
          <p:cNvPr id="23" name="Text 18"/>
          <p:cNvSpPr/>
          <p:nvPr/>
        </p:nvSpPr>
        <p:spPr>
          <a:xfrm>
            <a:off x="762000" y="7048500"/>
            <a:ext cx="14732000" cy="762000"/>
          </a:xfrm>
          <a:prstGeom prst="rect">
            <a:avLst/>
          </a:prstGeom>
          <a:noFill/>
          <a:ln/>
        </p:spPr>
        <p:txBody>
          <a:bodyPr wrap="square" lIns="0" tIns="0" rIns="0" bIns="0" rtlCol="0" anchor="t"/>
          <a:lstStyle/>
          <a:p>
            <a:pPr algn="l">
              <a:lnSpc>
                <a:spcPct val="150000"/>
              </a:lnSpc>
            </a:pPr>
            <a:r>
              <a:rPr lang="en-US" sz="1500" b="1" dirty="0">
                <a:solidFill>
                  <a:srgbClr val="1E293B"/>
                </a:solidFill>
                <a:latin typeface="Quattrocento Sans" pitchFamily="34" charset="0"/>
                <a:ea typeface="Quattrocento Sans" pitchFamily="34" charset="-122"/>
                <a:cs typeface="Quattrocento Sans" pitchFamily="34" charset="-120"/>
              </a:rPr>
              <a:t>Accuracy Paradox:</a:t>
            </a:r>
            <a:r>
              <a:rPr lang="en-US" sz="1500" dirty="0">
                <a:solidFill>
                  <a:srgbClr val="1E293B"/>
                </a:solidFill>
                <a:latin typeface="Quattrocento Sans" pitchFamily="34" charset="0"/>
                <a:ea typeface="Quattrocento Sans" pitchFamily="34" charset="-122"/>
                <a:cs typeface="Quattrocento Sans" pitchFamily="34" charset="-120"/>
              </a:rPr>
              <a:t> A naive always-predict-retained model scores ~50% but generates </a:t>
            </a:r>
            <a:r>
              <a:rPr lang="en-US" sz="1500" dirty="0">
                <a:solidFill>
                  <a:srgbClr val="D9534F"/>
                </a:solidFill>
                <a:latin typeface="Quattrocento Sans" pitchFamily="34" charset="0"/>
                <a:ea typeface="Quattrocento Sans" pitchFamily="34" charset="-122"/>
                <a:cs typeface="Quattrocento Sans" pitchFamily="34" charset="-120"/>
              </a:rPr>
              <a:t>zero business value</a:t>
            </a:r>
            <a:r>
              <a:rPr lang="en-US" sz="1500" dirty="0">
                <a:solidFill>
                  <a:srgbClr val="1E293B"/>
                </a:solidFill>
                <a:latin typeface="Quattrocento Sans" pitchFamily="34" charset="0"/>
                <a:ea typeface="Quattrocento Sans" pitchFamily="34" charset="-122"/>
                <a:cs typeface="Quattrocento Sans" pitchFamily="34" charset="-120"/>
              </a:rPr>
              <a:t>. Our model trades raw accuracy for </a:t>
            </a:r>
            <a:r>
              <a:rPr lang="en-US" sz="1500" b="1" dirty="0">
                <a:solidFill>
                  <a:srgbClr val="2ECC71"/>
                </a:solidFill>
                <a:latin typeface="Quattrocento Sans" pitchFamily="34" charset="0"/>
                <a:ea typeface="Quattrocento Sans" pitchFamily="34" charset="-122"/>
                <a:cs typeface="Quattrocento Sans" pitchFamily="34" charset="-120"/>
              </a:rPr>
              <a:t>churner catch-rate</a:t>
            </a:r>
            <a:r>
              <a:rPr lang="en-US" sz="1500" dirty="0">
                <a:solidFill>
                  <a:srgbClr val="1E293B"/>
                </a:solidFill>
                <a:latin typeface="Quattrocento Sans" pitchFamily="34" charset="0"/>
                <a:ea typeface="Quattrocento Sans" pitchFamily="34" charset="-122"/>
                <a:cs typeface="Quattrocento Sans" pitchFamily="34" charset="-120"/>
              </a:rPr>
              <a:t> — the metric that actually protects revenue.</a:t>
            </a:r>
            <a:endParaRPr lang="en-US" sz="1500" dirty="0"/>
          </a:p>
        </p:txBody>
      </p:sp>
      <p:sp>
        <p:nvSpPr>
          <p:cNvPr id="24" name="Text 19"/>
          <p:cNvSpPr/>
          <p:nvPr/>
        </p:nvSpPr>
        <p:spPr>
          <a:xfrm>
            <a:off x="15113000" y="8826500"/>
            <a:ext cx="635000" cy="254000"/>
          </a:xfrm>
          <a:prstGeom prst="rect">
            <a:avLst/>
          </a:prstGeom>
          <a:noFill/>
          <a:ln/>
        </p:spPr>
        <p:txBody>
          <a:bodyPr wrap="none" lIns="0" tIns="0" rIns="0" bIns="0" rtlCol="0" anchor="ctr"/>
          <a:lstStyle/>
          <a:p>
            <a:pPr algn="r">
              <a:lnSpc>
                <a:spcPct val="130000"/>
              </a:lnSpc>
            </a:pPr>
            <a:r>
              <a:rPr lang="en-US" sz="1200" dirty="0">
                <a:solidFill>
                  <a:srgbClr val="64748B"/>
                </a:solidFill>
                <a:latin typeface="Quattrocento Sans" pitchFamily="34" charset="0"/>
                <a:ea typeface="Quattrocento Sans" pitchFamily="34" charset="-122"/>
                <a:cs typeface="Quattrocento Sans" pitchFamily="34" charset="-120"/>
              </a:rPr>
              <a:t>07</a:t>
            </a:r>
            <a:endParaRPr lang="en-US" sz="1200" dirty="0"/>
          </a:p>
        </p:txBody>
      </p:sp>
      <p:pic>
        <p:nvPicPr>
          <p:cNvPr id="25" name="Picture 24">
            <a:extLst>
              <a:ext uri="{FF2B5EF4-FFF2-40B4-BE49-F238E27FC236}">
                <a16:creationId xmlns:a16="http://schemas.microsoft.com/office/drawing/2014/main" id="{985EA775-C35C-69AD-93D3-005DC0D3DDD9}"/>
              </a:ext>
            </a:extLst>
          </p:cNvPr>
          <p:cNvPicPr>
            <a:picLocks noChangeAspect="1"/>
          </p:cNvPicPr>
          <p:nvPr/>
        </p:nvPicPr>
        <p:blipFill>
          <a:blip r:embed="rId4"/>
          <a:stretch>
            <a:fillRect/>
          </a:stretch>
        </p:blipFill>
        <p:spPr>
          <a:xfrm>
            <a:off x="849184" y="1651000"/>
            <a:ext cx="7429843" cy="4546600"/>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5F6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243E63"/>
          </a:solidFill>
          <a:ln/>
        </p:spPr>
      </p:sp>
      <p:sp>
        <p:nvSpPr>
          <p:cNvPr id="4" name="Text 1"/>
          <p:cNvSpPr/>
          <p:nvPr/>
        </p:nvSpPr>
        <p:spPr>
          <a:xfrm>
            <a:off x="127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Problem &amp; Motivation</a:t>
            </a:r>
            <a:endParaRPr lang="en-US" sz="1100" dirty="0"/>
          </a:p>
        </p:txBody>
      </p:sp>
      <p:sp>
        <p:nvSpPr>
          <p:cNvPr id="5" name="Text 2"/>
          <p:cNvSpPr/>
          <p:nvPr/>
        </p:nvSpPr>
        <p:spPr>
          <a:xfrm>
            <a:off x="2794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Data &amp; Methodology</a:t>
            </a:r>
            <a:endParaRPr lang="en-US" sz="1100" dirty="0"/>
          </a:p>
        </p:txBody>
      </p:sp>
      <p:sp>
        <p:nvSpPr>
          <p:cNvPr id="6" name="Text 3"/>
          <p:cNvSpPr/>
          <p:nvPr/>
        </p:nvSpPr>
        <p:spPr>
          <a:xfrm>
            <a:off x="5461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Exploratory Analysis</a:t>
            </a:r>
            <a:endParaRPr lang="en-US" sz="1100" dirty="0"/>
          </a:p>
        </p:txBody>
      </p:sp>
      <p:sp>
        <p:nvSpPr>
          <p:cNvPr id="7" name="Shape 4"/>
          <p:cNvSpPr/>
          <p:nvPr/>
        </p:nvSpPr>
        <p:spPr>
          <a:xfrm>
            <a:off x="8128000" y="63500"/>
            <a:ext cx="2540000" cy="381000"/>
          </a:xfrm>
          <a:prstGeom prst="roundRect">
            <a:avLst>
              <a:gd name="adj" fmla="val 8000"/>
            </a:avLst>
          </a:prstGeom>
          <a:solidFill>
            <a:srgbClr val="3A5A8C"/>
          </a:solidFill>
          <a:ln/>
        </p:spPr>
      </p:sp>
      <p:sp>
        <p:nvSpPr>
          <p:cNvPr id="8" name="Text 5"/>
          <p:cNvSpPr/>
          <p:nvPr/>
        </p:nvSpPr>
        <p:spPr>
          <a:xfrm>
            <a:off x="8128000" y="63500"/>
            <a:ext cx="2540000" cy="381000"/>
          </a:xfrm>
          <a:prstGeom prst="rect">
            <a:avLst/>
          </a:prstGeom>
          <a:noFill/>
          <a:ln/>
        </p:spPr>
        <p:txBody>
          <a:bodyPr wrap="none" lIns="0" tIns="0" rIns="0" bIns="0" rtlCol="0" anchor="ctr"/>
          <a:lstStyle/>
          <a:p>
            <a:pPr algn="ctr">
              <a:lnSpc>
                <a:spcPct val="120000"/>
              </a:lnSpc>
            </a:pPr>
            <a:r>
              <a:rPr lang="en-US" sz="1100" b="1" dirty="0">
                <a:solidFill>
                  <a:srgbClr val="FFFFFF"/>
                </a:solidFill>
                <a:latin typeface="Quattrocento Sans" pitchFamily="34" charset="0"/>
                <a:ea typeface="Quattrocento Sans" pitchFamily="34" charset="-122"/>
                <a:cs typeface="Quattrocento Sans" pitchFamily="34" charset="-120"/>
              </a:rPr>
              <a:t>Modeling &amp; Results</a:t>
            </a:r>
            <a:endParaRPr lang="en-US" sz="1100" dirty="0"/>
          </a:p>
        </p:txBody>
      </p:sp>
      <p:sp>
        <p:nvSpPr>
          <p:cNvPr id="9" name="Text 6"/>
          <p:cNvSpPr/>
          <p:nvPr/>
        </p:nvSpPr>
        <p:spPr>
          <a:xfrm>
            <a:off x="10795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Business Impact</a:t>
            </a:r>
            <a:endParaRPr lang="en-US" sz="1100" dirty="0"/>
          </a:p>
        </p:txBody>
      </p:sp>
      <p:sp>
        <p:nvSpPr>
          <p:cNvPr id="10" name="Text 7"/>
          <p:cNvSpPr/>
          <p:nvPr/>
        </p:nvSpPr>
        <p:spPr>
          <a:xfrm>
            <a:off x="13462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Roadmap</a:t>
            </a:r>
            <a:endParaRPr lang="en-US" sz="1100" dirty="0"/>
          </a:p>
        </p:txBody>
      </p:sp>
      <p:sp>
        <p:nvSpPr>
          <p:cNvPr id="11" name="Shape 8"/>
          <p:cNvSpPr/>
          <p:nvPr/>
        </p:nvSpPr>
        <p:spPr>
          <a:xfrm>
            <a:off x="0" y="508000"/>
            <a:ext cx="16256000" cy="25400"/>
          </a:xfrm>
          <a:prstGeom prst="rect">
            <a:avLst/>
          </a:prstGeom>
          <a:solidFill>
            <a:srgbClr val="2B4C7E"/>
          </a:solidFill>
          <a:ln/>
        </p:spPr>
      </p:sp>
      <p:sp>
        <p:nvSpPr>
          <p:cNvPr id="12" name="Text 9"/>
          <p:cNvSpPr/>
          <p:nvPr/>
        </p:nvSpPr>
        <p:spPr>
          <a:xfrm>
            <a:off x="762000" y="736600"/>
            <a:ext cx="10160000" cy="508000"/>
          </a:xfrm>
          <a:prstGeom prst="rect">
            <a:avLst/>
          </a:prstGeom>
          <a:noFill/>
          <a:ln/>
        </p:spPr>
        <p:txBody>
          <a:bodyPr wrap="none" lIns="0" tIns="0" rIns="0" bIns="0" rtlCol="0" anchor="ctr"/>
          <a:lstStyle/>
          <a:p>
            <a:pPr algn="l">
              <a:lnSpc>
                <a:spcPct val="120000"/>
              </a:lnSpc>
            </a:pPr>
            <a:r>
              <a:rPr lang="en-US" sz="2800" dirty="0">
                <a:solidFill>
                  <a:srgbClr val="2B4C7E"/>
                </a:solidFill>
                <a:latin typeface="Liter" pitchFamily="34" charset="0"/>
                <a:ea typeface="Liter" pitchFamily="34" charset="-122"/>
                <a:cs typeface="Liter" pitchFamily="34" charset="-120"/>
              </a:rPr>
              <a:t>Confusion Matrix &amp; Classification Metrics</a:t>
            </a:r>
            <a:endParaRPr lang="en-US" sz="2800" dirty="0"/>
          </a:p>
        </p:txBody>
      </p:sp>
      <p:sp>
        <p:nvSpPr>
          <p:cNvPr id="13" name="Shape 10"/>
          <p:cNvSpPr/>
          <p:nvPr/>
        </p:nvSpPr>
        <p:spPr>
          <a:xfrm>
            <a:off x="762000" y="1308100"/>
            <a:ext cx="762000" cy="50800"/>
          </a:xfrm>
          <a:prstGeom prst="rect">
            <a:avLst/>
          </a:prstGeom>
          <a:solidFill>
            <a:srgbClr val="D9534F"/>
          </a:solidFill>
          <a:ln/>
        </p:spPr>
      </p:sp>
      <p:sp>
        <p:nvSpPr>
          <p:cNvPr id="14" name="Text 11"/>
          <p:cNvSpPr/>
          <p:nvPr/>
        </p:nvSpPr>
        <p:spPr>
          <a:xfrm>
            <a:off x="762000" y="1524000"/>
            <a:ext cx="6350000" cy="381000"/>
          </a:xfrm>
          <a:prstGeom prst="rect">
            <a:avLst/>
          </a:prstGeom>
          <a:noFill/>
          <a:ln/>
        </p:spPr>
        <p:txBody>
          <a:bodyPr wrap="none" lIns="0" tIns="0" rIns="0" bIns="0" rtlCol="0" anchor="ctr"/>
          <a:lstStyle/>
          <a:p>
            <a:pPr algn="l">
              <a:lnSpc>
                <a:spcPct val="120000"/>
              </a:lnSpc>
            </a:pPr>
            <a:r>
              <a:rPr lang="en-US" sz="1400" kern="0" spc="100" dirty="0">
                <a:solidFill>
                  <a:srgbClr val="64748B"/>
                </a:solidFill>
                <a:latin typeface="Liter" pitchFamily="34" charset="0"/>
                <a:ea typeface="Liter" pitchFamily="34" charset="-122"/>
                <a:cs typeface="Liter" pitchFamily="34" charset="-120"/>
              </a:rPr>
              <a:t>XGBOOST CONFUSION MATRIX (TEST SET, N=20,000)</a:t>
            </a:r>
            <a:endParaRPr lang="en-US" sz="1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62000" y="2032000"/>
          <a:ext cx="6350000" cy="3048000"/>
        </p:xfrm>
        <a:graphic>
          <a:graphicData uri="http://schemas.openxmlformats.org/drawingml/2006/table">
            <a:tbl>
              <a:tblPr/>
              <a:tblGrid>
                <a:gridCol w="1905000">
                  <a:extLst>
                    <a:ext uri="{9D8B030D-6E8A-4147-A177-3AD203B41FA5}">
                      <a16:colId xmlns:a16="http://schemas.microsoft.com/office/drawing/2014/main" val="20000"/>
                    </a:ext>
                  </a:extLst>
                </a:gridCol>
                <a:gridCol w="2222500">
                  <a:extLst>
                    <a:ext uri="{9D8B030D-6E8A-4147-A177-3AD203B41FA5}">
                      <a16:colId xmlns:a16="http://schemas.microsoft.com/office/drawing/2014/main" val="20001"/>
                    </a:ext>
                  </a:extLst>
                </a:gridCol>
                <a:gridCol w="2222500">
                  <a:extLst>
                    <a:ext uri="{9D8B030D-6E8A-4147-A177-3AD203B41FA5}">
                      <a16:colId xmlns:a16="http://schemas.microsoft.com/office/drawing/2014/main" val="20002"/>
                    </a:ext>
                  </a:extLst>
                </a:gridCol>
              </a:tblGrid>
              <a:tr h="762000">
                <a:tc>
                  <a:txBody>
                    <a:bodyPr/>
                    <a:lstStyle/>
                    <a:p>
                      <a:pPr algn="ct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B4C7E"/>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Predicted: Retained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B4C7E"/>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Predicted: Churn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B4C7E"/>
                    </a:solidFill>
                  </a:tcPr>
                </a:tc>
                <a:extLst>
                  <a:ext uri="{0D108BD9-81ED-4DB2-BD59-A6C34878D82A}">
                    <a16:rowId xmlns:a16="http://schemas.microsoft.com/office/drawing/2014/main" val="10000"/>
                  </a:ext>
                </a:extLst>
              </a:tr>
              <a:tr h="1143000">
                <a:tc>
                  <a:txBody>
                    <a:bodyPr/>
                    <a:lstStyle/>
                    <a:p>
                      <a:pPr algn="ctr"/>
                      <a:r>
                        <a:rPr lang="en-US" sz="1400" b="1" dirty="0">
                          <a:solidFill>
                            <a:srgbClr val="1E293B"/>
                          </a:solidFill>
                          <a:latin typeface="Quattrocento Sans" pitchFamily="34" charset="0"/>
                          <a:ea typeface="Quattrocento Sans" pitchFamily="34" charset="-122"/>
                          <a:cs typeface="Quattrocento Sans" pitchFamily="34" charset="-120"/>
                        </a:rPr>
                        <a:t>Actual: Retained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r>
                        <a:rPr lang="en-US" sz="1600" b="1" dirty="0">
                          <a:solidFill>
                            <a:srgbClr val="2ECC71"/>
                          </a:solidFill>
                          <a:latin typeface="Quattrocento Sans" pitchFamily="34" charset="0"/>
                          <a:ea typeface="Quattrocento Sans" pitchFamily="34" charset="-122"/>
                          <a:cs typeface="Quattrocento Sans" pitchFamily="34" charset="-120"/>
                        </a:rPr>
                        <a:t>5,917</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ECC71">
                        <a:alpha val="8235"/>
                      </a:srgbClr>
                    </a:solidFill>
                  </a:tcPr>
                </a:tc>
                <a:tc>
                  <a:txBody>
                    <a:bodyPr/>
                    <a:lstStyle/>
                    <a:p>
                      <a:pPr algn="ctr"/>
                      <a:r>
                        <a:rPr lang="en-US" sz="1600" dirty="0">
                          <a:solidFill>
                            <a:srgbClr val="1E293B"/>
                          </a:solidFill>
                          <a:latin typeface="Quattrocento Sans" pitchFamily="34" charset="0"/>
                          <a:ea typeface="Quattrocento Sans" pitchFamily="34" charset="-122"/>
                          <a:cs typeface="Quattrocento Sans" pitchFamily="34" charset="-120"/>
                        </a:rPr>
                        <a:t>4,121</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D9534F">
                        <a:alpha val="6275"/>
                      </a:srgbClr>
                    </a:solidFill>
                  </a:tcPr>
                </a:tc>
                <a:extLst>
                  <a:ext uri="{0D108BD9-81ED-4DB2-BD59-A6C34878D82A}">
                    <a16:rowId xmlns:a16="http://schemas.microsoft.com/office/drawing/2014/main" val="10001"/>
                  </a:ext>
                </a:extLst>
              </a:tr>
              <a:tr h="1143000">
                <a:tc>
                  <a:txBody>
                    <a:bodyPr/>
                    <a:lstStyle/>
                    <a:p>
                      <a:pPr algn="ctr"/>
                      <a:r>
                        <a:rPr lang="en-US" sz="1400" b="1" dirty="0">
                          <a:solidFill>
                            <a:srgbClr val="1E293B"/>
                          </a:solidFill>
                          <a:latin typeface="Quattrocento Sans" pitchFamily="34" charset="0"/>
                          <a:ea typeface="Quattrocento Sans" pitchFamily="34" charset="-122"/>
                          <a:cs typeface="Quattrocento Sans" pitchFamily="34" charset="-120"/>
                        </a:rPr>
                        <a:t>Actual: Churn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tc>
                  <a:txBody>
                    <a:bodyPr/>
                    <a:lstStyle/>
                    <a:p>
                      <a:pPr algn="ctr"/>
                      <a:r>
                        <a:rPr lang="en-US" sz="1600" dirty="0">
                          <a:solidFill>
                            <a:srgbClr val="1E293B"/>
                          </a:solidFill>
                          <a:latin typeface="Quattrocento Sans" pitchFamily="34" charset="0"/>
                          <a:ea typeface="Quattrocento Sans" pitchFamily="34" charset="-122"/>
                          <a:cs typeface="Quattrocento Sans" pitchFamily="34" charset="-120"/>
                        </a:rPr>
                        <a:t>3,365</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D9534F">
                        <a:alpha val="6275"/>
                      </a:srgbClr>
                    </a:solidFill>
                  </a:tcPr>
                </a:tc>
                <a:tc>
                  <a:txBody>
                    <a:bodyPr/>
                    <a:lstStyle/>
                    <a:p>
                      <a:pPr algn="ctr"/>
                      <a:r>
                        <a:rPr lang="en-US" sz="1600" b="1" dirty="0">
                          <a:solidFill>
                            <a:srgbClr val="2ECC71"/>
                          </a:solidFill>
                          <a:latin typeface="Quattrocento Sans" pitchFamily="34" charset="0"/>
                          <a:ea typeface="Quattrocento Sans" pitchFamily="34" charset="-122"/>
                          <a:cs typeface="Quattrocento Sans" pitchFamily="34" charset="-120"/>
                        </a:rPr>
                        <a:t>6,597</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ECC71">
                        <a:alpha val="8235"/>
                      </a:srgbClr>
                    </a:solidFill>
                  </a:tcPr>
                </a:tc>
                <a:extLst>
                  <a:ext uri="{0D108BD9-81ED-4DB2-BD59-A6C34878D82A}">
                    <a16:rowId xmlns:a16="http://schemas.microsoft.com/office/drawing/2014/main" val="10002"/>
                  </a:ext>
                </a:extLst>
              </a:tr>
            </a:tbl>
          </a:graphicData>
        </a:graphic>
      </p:graphicFrame>
      <p:sp>
        <p:nvSpPr>
          <p:cNvPr id="16" name="Text 12"/>
          <p:cNvSpPr/>
          <p:nvPr/>
        </p:nvSpPr>
        <p:spPr>
          <a:xfrm>
            <a:off x="762000" y="5334000"/>
            <a:ext cx="6350000" cy="381000"/>
          </a:xfrm>
          <a:prstGeom prst="rect">
            <a:avLst/>
          </a:prstGeom>
          <a:noFill/>
          <a:ln/>
        </p:spPr>
        <p:txBody>
          <a:bodyPr wrap="none" lIns="0" tIns="0" rIns="0" bIns="0" rtlCol="0" anchor="ctr"/>
          <a:lstStyle/>
          <a:p>
            <a:pPr algn="l">
              <a:lnSpc>
                <a:spcPct val="120000"/>
              </a:lnSpc>
            </a:pPr>
            <a:r>
              <a:rPr lang="en-US" sz="1400" kern="0" spc="100" dirty="0">
                <a:solidFill>
                  <a:srgbClr val="64748B"/>
                </a:solidFill>
                <a:latin typeface="Liter" pitchFamily="34" charset="0"/>
                <a:ea typeface="Liter" pitchFamily="34" charset="-122"/>
                <a:cs typeface="Liter" pitchFamily="34" charset="-120"/>
              </a:rPr>
              <a:t>CLASSIFICATION REPORT</a:t>
            </a:r>
            <a:endParaRPr lang="en-US" sz="14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762000" y="5842000"/>
          <a:ext cx="6350000" cy="2286000"/>
        </p:xfrm>
        <a:graphic>
          <a:graphicData uri="http://schemas.openxmlformats.org/drawingml/2006/table">
            <a:tbl>
              <a:tblPr/>
              <a:tblGrid>
                <a:gridCol w="1587500">
                  <a:extLst>
                    <a:ext uri="{9D8B030D-6E8A-4147-A177-3AD203B41FA5}">
                      <a16:colId xmlns:a16="http://schemas.microsoft.com/office/drawing/2014/main" val="20000"/>
                    </a:ext>
                  </a:extLst>
                </a:gridCol>
                <a:gridCol w="1587500">
                  <a:extLst>
                    <a:ext uri="{9D8B030D-6E8A-4147-A177-3AD203B41FA5}">
                      <a16:colId xmlns:a16="http://schemas.microsoft.com/office/drawing/2014/main" val="20001"/>
                    </a:ext>
                  </a:extLst>
                </a:gridCol>
                <a:gridCol w="1587500">
                  <a:extLst>
                    <a:ext uri="{9D8B030D-6E8A-4147-A177-3AD203B41FA5}">
                      <a16:colId xmlns:a16="http://schemas.microsoft.com/office/drawing/2014/main" val="20002"/>
                    </a:ext>
                  </a:extLst>
                </a:gridCol>
                <a:gridCol w="1587500">
                  <a:extLst>
                    <a:ext uri="{9D8B030D-6E8A-4147-A177-3AD203B41FA5}">
                      <a16:colId xmlns:a16="http://schemas.microsoft.com/office/drawing/2014/main" val="20003"/>
                    </a:ext>
                  </a:extLst>
                </a:gridCol>
              </a:tblGrid>
              <a:tr h="571500">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Class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B4C7E"/>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Precision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B4C7E"/>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Recall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B4C7E"/>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F1-Score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B4C7E"/>
                    </a:solidFill>
                  </a:tcPr>
                </a:tc>
                <a:extLst>
                  <a:ext uri="{0D108BD9-81ED-4DB2-BD59-A6C34878D82A}">
                    <a16:rowId xmlns:a16="http://schemas.microsoft.com/office/drawing/2014/main" val="10000"/>
                  </a:ext>
                </a:extLst>
              </a:tr>
              <a:tr h="571500">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Retained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64%</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59%</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0.61</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1500">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Churn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tc>
                  <a:txBody>
                    <a:bodyPr/>
                    <a:lstStyle/>
                    <a:p>
                      <a:pPr algn="ctr"/>
                      <a:r>
                        <a:rPr lang="en-US" sz="1400" b="1" dirty="0">
                          <a:solidFill>
                            <a:srgbClr val="1E293B"/>
                          </a:solidFill>
                          <a:latin typeface="Quattrocento Sans" pitchFamily="34" charset="0"/>
                          <a:ea typeface="Quattrocento Sans" pitchFamily="34" charset="-122"/>
                          <a:cs typeface="Quattrocento Sans" pitchFamily="34" charset="-120"/>
                        </a:rPr>
                        <a:t>62%</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tc>
                  <a:txBody>
                    <a:bodyPr/>
                    <a:lstStyle/>
                    <a:p>
                      <a:pPr algn="ctr"/>
                      <a:r>
                        <a:rPr lang="en-US" sz="1400" b="1" dirty="0">
                          <a:solidFill>
                            <a:srgbClr val="2ECC71"/>
                          </a:solidFill>
                          <a:latin typeface="Quattrocento Sans" pitchFamily="34" charset="0"/>
                          <a:ea typeface="Quattrocento Sans" pitchFamily="34" charset="-122"/>
                          <a:cs typeface="Quattrocento Sans" pitchFamily="34" charset="-120"/>
                        </a:rPr>
                        <a:t>66%</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tc>
                  <a:txBody>
                    <a:bodyPr/>
                    <a:lstStyle/>
                    <a:p>
                      <a:pPr algn="ctr"/>
                      <a:r>
                        <a:rPr lang="en-US" sz="1400" b="1" dirty="0">
                          <a:solidFill>
                            <a:srgbClr val="1E293B"/>
                          </a:solidFill>
                          <a:latin typeface="Quattrocento Sans" pitchFamily="34" charset="0"/>
                          <a:ea typeface="Quattrocento Sans" pitchFamily="34" charset="-122"/>
                          <a:cs typeface="Quattrocento Sans" pitchFamily="34" charset="-120"/>
                        </a:rPr>
                        <a:t>0.64</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571500">
                <a:tc>
                  <a:txBody>
                    <a:bodyPr/>
                    <a:lstStyle/>
                    <a:p>
                      <a:pPr algn="ctr"/>
                      <a:r>
                        <a:rPr lang="en-US" sz="1400" b="1" dirty="0">
                          <a:solidFill>
                            <a:srgbClr val="1E293B"/>
                          </a:solidFill>
                          <a:latin typeface="Quattrocento Sans" pitchFamily="34" charset="0"/>
                          <a:ea typeface="Quattrocento Sans" pitchFamily="34" charset="-122"/>
                          <a:cs typeface="Quattrocento Sans" pitchFamily="34" charset="-120"/>
                        </a:rPr>
                        <a:t>Accuracy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r>
                        <a:rPr lang="en-US" sz="1400" b="1" dirty="0">
                          <a:solidFill>
                            <a:srgbClr val="1E293B"/>
                          </a:solidFill>
                          <a:latin typeface="Quattrocento Sans" pitchFamily="34" charset="0"/>
                          <a:ea typeface="Quattrocento Sans" pitchFamily="34" charset="-122"/>
                          <a:cs typeface="Quattrocento Sans" pitchFamily="34" charset="-120"/>
                        </a:rPr>
                        <a:t>62.82%</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8" name="Shape 13"/>
          <p:cNvSpPr/>
          <p:nvPr/>
        </p:nvSpPr>
        <p:spPr>
          <a:xfrm>
            <a:off x="7620000" y="1524000"/>
            <a:ext cx="7874000" cy="6604000"/>
          </a:xfrm>
          <a:prstGeom prst="rect">
            <a:avLst/>
          </a:prstGeom>
          <a:solidFill>
            <a:srgbClr val="FFFFFF"/>
          </a:solidFill>
          <a:ln/>
        </p:spPr>
      </p:sp>
      <p:sp>
        <p:nvSpPr>
          <p:cNvPr id="19" name="Text 14"/>
          <p:cNvSpPr/>
          <p:nvPr/>
        </p:nvSpPr>
        <p:spPr>
          <a:xfrm>
            <a:off x="8001000" y="1778000"/>
            <a:ext cx="7112000" cy="444500"/>
          </a:xfrm>
          <a:prstGeom prst="rect">
            <a:avLst/>
          </a:prstGeom>
          <a:noFill/>
          <a:ln/>
        </p:spPr>
        <p:txBody>
          <a:bodyPr wrap="none" lIns="0" tIns="0" rIns="0" bIns="0" rtlCol="0" anchor="ctr"/>
          <a:lstStyle/>
          <a:p>
            <a:pPr algn="l">
              <a:lnSpc>
                <a:spcPct val="120000"/>
              </a:lnSpc>
            </a:pPr>
            <a:r>
              <a:rPr lang="en-US" sz="2000" b="1" dirty="0">
                <a:solidFill>
                  <a:srgbClr val="2B4C7E"/>
                </a:solidFill>
                <a:latin typeface="Liter" pitchFamily="34" charset="0"/>
                <a:ea typeface="Liter" pitchFamily="34" charset="-122"/>
                <a:cs typeface="Liter" pitchFamily="34" charset="-120"/>
              </a:rPr>
              <a:t>What the Matrix Tells Us</a:t>
            </a:r>
            <a:endParaRPr lang="en-US" sz="2000" dirty="0"/>
          </a:p>
        </p:txBody>
      </p:sp>
      <p:sp>
        <p:nvSpPr>
          <p:cNvPr id="20" name="Shape 15"/>
          <p:cNvSpPr/>
          <p:nvPr/>
        </p:nvSpPr>
        <p:spPr>
          <a:xfrm>
            <a:off x="8001000" y="2286000"/>
            <a:ext cx="7112000" cy="12700"/>
          </a:xfrm>
          <a:prstGeom prst="rect">
            <a:avLst/>
          </a:prstGeom>
          <a:solidFill>
            <a:srgbClr val="E2E5E9"/>
          </a:solidFill>
          <a:ln/>
        </p:spPr>
      </p:sp>
      <p:sp>
        <p:nvSpPr>
          <p:cNvPr id="21" name="Text 16"/>
          <p:cNvSpPr/>
          <p:nvPr/>
        </p:nvSpPr>
        <p:spPr>
          <a:xfrm>
            <a:off x="8001000" y="2540000"/>
            <a:ext cx="508000" cy="444500"/>
          </a:xfrm>
          <a:prstGeom prst="rect">
            <a:avLst/>
          </a:prstGeom>
          <a:noFill/>
          <a:ln/>
        </p:spPr>
        <p:txBody>
          <a:bodyPr wrap="none" lIns="0" tIns="0" rIns="0" bIns="0" rtlCol="0" anchor="ctr"/>
          <a:lstStyle/>
          <a:p>
            <a:pPr algn="ctr">
              <a:lnSpc>
                <a:spcPct val="120000"/>
              </a:lnSpc>
            </a:pPr>
            <a:r>
              <a:rPr lang="en-US" sz="2400" dirty="0">
                <a:solidFill>
                  <a:srgbClr val="2ECC71"/>
                </a:solidFill>
                <a:latin typeface="Liter" pitchFamily="34" charset="0"/>
                <a:ea typeface="Liter" pitchFamily="34" charset="-122"/>
                <a:cs typeface="Liter" pitchFamily="34" charset="-120"/>
              </a:rPr>
              <a:t>1</a:t>
            </a:r>
            <a:endParaRPr lang="en-US" sz="2400" dirty="0"/>
          </a:p>
        </p:txBody>
      </p:sp>
      <p:sp>
        <p:nvSpPr>
          <p:cNvPr id="22" name="Text 17"/>
          <p:cNvSpPr/>
          <p:nvPr/>
        </p:nvSpPr>
        <p:spPr>
          <a:xfrm>
            <a:off x="8636000" y="2540000"/>
            <a:ext cx="6477000" cy="1016000"/>
          </a:xfrm>
          <a:prstGeom prst="rect">
            <a:avLst/>
          </a:prstGeom>
          <a:noFill/>
          <a:ln/>
        </p:spPr>
        <p:txBody>
          <a:bodyPr wrap="square" lIns="0" tIns="0" rIns="0" bIns="0" rtlCol="0" anchor="t"/>
          <a:lstStyle/>
          <a:p>
            <a:pPr algn="l">
              <a:lnSpc>
                <a:spcPct val="150000"/>
              </a:lnSpc>
            </a:pPr>
            <a:r>
              <a:rPr lang="en-US" sz="1600" b="1" dirty="0">
                <a:solidFill>
                  <a:srgbClr val="1E293B"/>
                </a:solidFill>
                <a:latin typeface="Quattrocento Sans" pitchFamily="34" charset="0"/>
                <a:ea typeface="Quattrocento Sans" pitchFamily="34" charset="-122"/>
                <a:cs typeface="Quattrocento Sans" pitchFamily="34" charset="-120"/>
              </a:rPr>
              <a:t>Strong churn recall (66%)</a:t>
            </a:r>
            <a:r>
              <a:rPr lang="en-US" sz="1600" dirty="0">
                <a:solidFill>
                  <a:srgbClr val="1E293B"/>
                </a:solidFill>
                <a:latin typeface="Quattrocento Sans" pitchFamily="34" charset="0"/>
                <a:ea typeface="Quattrocento Sans" pitchFamily="34" charset="-122"/>
                <a:cs typeface="Quattrocento Sans" pitchFamily="34" charset="-120"/>
              </a:rPr>
              <a:t> — the model catches 2 out of 3 customers who will actually churn. This is the metric that drives business value.</a:t>
            </a:r>
            <a:endParaRPr lang="en-US" sz="1600" dirty="0"/>
          </a:p>
        </p:txBody>
      </p:sp>
      <p:sp>
        <p:nvSpPr>
          <p:cNvPr id="23" name="Text 18"/>
          <p:cNvSpPr/>
          <p:nvPr/>
        </p:nvSpPr>
        <p:spPr>
          <a:xfrm>
            <a:off x="8001000" y="3746500"/>
            <a:ext cx="508000" cy="444500"/>
          </a:xfrm>
          <a:prstGeom prst="rect">
            <a:avLst/>
          </a:prstGeom>
          <a:noFill/>
          <a:ln/>
        </p:spPr>
        <p:txBody>
          <a:bodyPr wrap="none" lIns="0" tIns="0" rIns="0" bIns="0" rtlCol="0" anchor="ctr"/>
          <a:lstStyle/>
          <a:p>
            <a:pPr algn="ctr">
              <a:lnSpc>
                <a:spcPct val="120000"/>
              </a:lnSpc>
            </a:pPr>
            <a:r>
              <a:rPr lang="en-US" sz="2400" dirty="0">
                <a:solidFill>
                  <a:srgbClr val="D9534F"/>
                </a:solidFill>
                <a:latin typeface="Liter" pitchFamily="34" charset="0"/>
                <a:ea typeface="Liter" pitchFamily="34" charset="-122"/>
                <a:cs typeface="Liter" pitchFamily="34" charset="-120"/>
              </a:rPr>
              <a:t>2</a:t>
            </a:r>
            <a:endParaRPr lang="en-US" sz="2400" dirty="0"/>
          </a:p>
        </p:txBody>
      </p:sp>
      <p:sp>
        <p:nvSpPr>
          <p:cNvPr id="24" name="Text 19"/>
          <p:cNvSpPr/>
          <p:nvPr/>
        </p:nvSpPr>
        <p:spPr>
          <a:xfrm>
            <a:off x="8636000" y="3746500"/>
            <a:ext cx="6477000" cy="1016000"/>
          </a:xfrm>
          <a:prstGeom prst="rect">
            <a:avLst/>
          </a:prstGeom>
          <a:noFill/>
          <a:ln/>
        </p:spPr>
        <p:txBody>
          <a:bodyPr wrap="square" lIns="0" tIns="0" rIns="0" bIns="0" rtlCol="0" anchor="t"/>
          <a:lstStyle/>
          <a:p>
            <a:pPr algn="l">
              <a:lnSpc>
                <a:spcPct val="150000"/>
              </a:lnSpc>
            </a:pPr>
            <a:r>
              <a:rPr lang="en-US" sz="1600" b="1" dirty="0">
                <a:solidFill>
                  <a:srgbClr val="1E293B"/>
                </a:solidFill>
                <a:latin typeface="Quattrocento Sans" pitchFamily="34" charset="0"/>
                <a:ea typeface="Quattrocento Sans" pitchFamily="34" charset="-122"/>
                <a:cs typeface="Quattrocento Sans" pitchFamily="34" charset="-120"/>
              </a:rPr>
              <a:t>Moderate precision (62%)</a:t>
            </a:r>
            <a:r>
              <a:rPr lang="en-US" sz="1600" dirty="0">
                <a:solidFill>
                  <a:srgbClr val="1E293B"/>
                </a:solidFill>
                <a:latin typeface="Quattrocento Sans" pitchFamily="34" charset="0"/>
                <a:ea typeface="Quattrocento Sans" pitchFamily="34" charset="-122"/>
                <a:cs typeface="Quattrocento Sans" pitchFamily="34" charset="-120"/>
              </a:rPr>
              <a:t> — of those flagged as at-risk, 62% truly churn. Acceptable for a first-pass screening system.</a:t>
            </a:r>
            <a:endParaRPr lang="en-US" sz="1600" dirty="0"/>
          </a:p>
        </p:txBody>
      </p:sp>
      <p:sp>
        <p:nvSpPr>
          <p:cNvPr id="25" name="Text 20"/>
          <p:cNvSpPr/>
          <p:nvPr/>
        </p:nvSpPr>
        <p:spPr>
          <a:xfrm>
            <a:off x="8001000" y="4953000"/>
            <a:ext cx="508000" cy="444500"/>
          </a:xfrm>
          <a:prstGeom prst="rect">
            <a:avLst/>
          </a:prstGeom>
          <a:noFill/>
          <a:ln/>
        </p:spPr>
        <p:txBody>
          <a:bodyPr wrap="none" lIns="0" tIns="0" rIns="0" bIns="0" rtlCol="0" anchor="ctr"/>
          <a:lstStyle/>
          <a:p>
            <a:pPr algn="ctr">
              <a:lnSpc>
                <a:spcPct val="120000"/>
              </a:lnSpc>
            </a:pPr>
            <a:r>
              <a:rPr lang="en-US" sz="2400" dirty="0">
                <a:solidFill>
                  <a:srgbClr val="3498DB"/>
                </a:solidFill>
                <a:latin typeface="Liter" pitchFamily="34" charset="0"/>
                <a:ea typeface="Liter" pitchFamily="34" charset="-122"/>
                <a:cs typeface="Liter" pitchFamily="34" charset="-120"/>
              </a:rPr>
              <a:t>3</a:t>
            </a:r>
            <a:endParaRPr lang="en-US" sz="2400" dirty="0"/>
          </a:p>
        </p:txBody>
      </p:sp>
      <p:sp>
        <p:nvSpPr>
          <p:cNvPr id="26" name="Text 21"/>
          <p:cNvSpPr/>
          <p:nvPr/>
        </p:nvSpPr>
        <p:spPr>
          <a:xfrm>
            <a:off x="8636000" y="4953000"/>
            <a:ext cx="6477000" cy="1016000"/>
          </a:xfrm>
          <a:prstGeom prst="rect">
            <a:avLst/>
          </a:prstGeom>
          <a:noFill/>
          <a:ln/>
        </p:spPr>
        <p:txBody>
          <a:bodyPr wrap="square" lIns="0" tIns="0" rIns="0" bIns="0" rtlCol="0" anchor="t"/>
          <a:lstStyle/>
          <a:p>
            <a:pPr algn="l">
              <a:lnSpc>
                <a:spcPct val="150000"/>
              </a:lnSpc>
            </a:pPr>
            <a:r>
              <a:rPr lang="en-US" sz="1600" b="1" dirty="0">
                <a:solidFill>
                  <a:srgbClr val="1E293B"/>
                </a:solidFill>
                <a:latin typeface="Quattrocento Sans" pitchFamily="34" charset="0"/>
                <a:ea typeface="Quattrocento Sans" pitchFamily="34" charset="-122"/>
                <a:cs typeface="Quattrocento Sans" pitchFamily="34" charset="-120"/>
              </a:rPr>
              <a:t>Balanced F1 (0.64)</a:t>
            </a:r>
            <a:r>
              <a:rPr lang="en-US" sz="1600" dirty="0">
                <a:solidFill>
                  <a:srgbClr val="1E293B"/>
                </a:solidFill>
                <a:latin typeface="Quattrocento Sans" pitchFamily="34" charset="0"/>
                <a:ea typeface="Quattrocento Sans" pitchFamily="34" charset="-122"/>
                <a:cs typeface="Quattrocento Sans" pitchFamily="34" charset="-120"/>
              </a:rPr>
              <a:t> — reasonable trade-off between catching churners and avoiding false alarms. Not perfect, but ROI-positive.</a:t>
            </a:r>
            <a:endParaRPr lang="en-US" sz="1600" dirty="0"/>
          </a:p>
        </p:txBody>
      </p:sp>
      <p:sp>
        <p:nvSpPr>
          <p:cNvPr id="27" name="Shape 22"/>
          <p:cNvSpPr/>
          <p:nvPr/>
        </p:nvSpPr>
        <p:spPr>
          <a:xfrm>
            <a:off x="8001000" y="6223000"/>
            <a:ext cx="7112000" cy="1651000"/>
          </a:xfrm>
          <a:prstGeom prst="rect">
            <a:avLst/>
          </a:prstGeom>
          <a:solidFill>
            <a:srgbClr val="2B4C7E"/>
          </a:solidFill>
          <a:ln/>
        </p:spPr>
      </p:sp>
      <p:sp>
        <p:nvSpPr>
          <p:cNvPr id="28" name="Text 23"/>
          <p:cNvSpPr/>
          <p:nvPr/>
        </p:nvSpPr>
        <p:spPr>
          <a:xfrm>
            <a:off x="8255000" y="6350000"/>
            <a:ext cx="6604000" cy="355600"/>
          </a:xfrm>
          <a:prstGeom prst="rect">
            <a:avLst/>
          </a:prstGeom>
          <a:noFill/>
          <a:ln/>
        </p:spPr>
        <p:txBody>
          <a:bodyPr wrap="none" lIns="0" tIns="0" rIns="0" bIns="0" rtlCol="0" anchor="ctr"/>
          <a:lstStyle/>
          <a:p>
            <a:pPr algn="l">
              <a:lnSpc>
                <a:spcPct val="120000"/>
              </a:lnSpc>
            </a:pPr>
            <a:r>
              <a:rPr lang="en-US" sz="1600" kern="0" spc="100" dirty="0">
                <a:solidFill>
                  <a:srgbClr val="3498DB"/>
                </a:solidFill>
                <a:latin typeface="Liter" pitchFamily="34" charset="0"/>
                <a:ea typeface="Liter" pitchFamily="34" charset="-122"/>
                <a:cs typeface="Liter" pitchFamily="34" charset="-120"/>
              </a:rPr>
              <a:t>THE ACCURACY PARADOX</a:t>
            </a:r>
            <a:endParaRPr lang="en-US" sz="1600" dirty="0"/>
          </a:p>
        </p:txBody>
      </p:sp>
      <p:sp>
        <p:nvSpPr>
          <p:cNvPr id="29" name="Text 24"/>
          <p:cNvSpPr/>
          <p:nvPr/>
        </p:nvSpPr>
        <p:spPr>
          <a:xfrm>
            <a:off x="8255000" y="6756400"/>
            <a:ext cx="6604000" cy="1117600"/>
          </a:xfrm>
          <a:prstGeom prst="rect">
            <a:avLst/>
          </a:prstGeom>
          <a:noFill/>
          <a:ln/>
        </p:spPr>
        <p:txBody>
          <a:bodyPr wrap="square" lIns="0" tIns="0" rIns="0" bIns="0" rtlCol="0" anchor="t"/>
          <a:lstStyle/>
          <a:p>
            <a:pPr algn="l">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A naive "always predict retained" model scores ~50% but generates </a:t>
            </a:r>
            <a:r>
              <a:rPr lang="en-US" sz="1400" b="1" dirty="0">
                <a:solidFill>
                  <a:srgbClr val="FFFFFF"/>
                </a:solidFill>
                <a:latin typeface="Quattrocento Sans" pitchFamily="34" charset="0"/>
                <a:ea typeface="Quattrocento Sans" pitchFamily="34" charset="-122"/>
                <a:cs typeface="Quattrocento Sans" pitchFamily="34" charset="-120"/>
              </a:rPr>
              <a:t>zero business value</a:t>
            </a:r>
            <a:r>
              <a:rPr lang="en-US" sz="1400" dirty="0">
                <a:solidFill>
                  <a:srgbClr val="FFFFFF"/>
                </a:solidFill>
                <a:latin typeface="Quattrocento Sans" pitchFamily="34" charset="0"/>
                <a:ea typeface="Quattrocento Sans" pitchFamily="34" charset="-122"/>
                <a:cs typeface="Quattrocento Sans" pitchFamily="34" charset="-120"/>
              </a:rPr>
              <a:t>. Our model's real value is </a:t>
            </a:r>
            <a:r>
              <a:rPr lang="en-US" sz="1400" b="1" dirty="0">
                <a:solidFill>
                  <a:srgbClr val="FFFFFF"/>
                </a:solidFill>
                <a:latin typeface="Quattrocento Sans" pitchFamily="34" charset="0"/>
                <a:ea typeface="Quattrocento Sans" pitchFamily="34" charset="-122"/>
                <a:cs typeface="Quattrocento Sans" pitchFamily="34" charset="-120"/>
              </a:rPr>
              <a:t>targeting precision</a:t>
            </a:r>
            <a:r>
              <a:rPr lang="en-US" sz="1400" dirty="0">
                <a:solidFill>
                  <a:srgbClr val="FFFFFF"/>
                </a:solidFill>
                <a:latin typeface="Quattrocento Sans" pitchFamily="34" charset="0"/>
                <a:ea typeface="Quattrocento Sans" pitchFamily="34" charset="-122"/>
                <a:cs typeface="Quattrocento Sans" pitchFamily="34" charset="-120"/>
              </a:rPr>
              <a:t> → see ROI simulation.</a:t>
            </a:r>
            <a:endParaRPr lang="en-US" sz="1400" dirty="0"/>
          </a:p>
        </p:txBody>
      </p:sp>
      <p:sp>
        <p:nvSpPr>
          <p:cNvPr id="30" name="Text 25"/>
          <p:cNvSpPr/>
          <p:nvPr/>
        </p:nvSpPr>
        <p:spPr>
          <a:xfrm>
            <a:off x="15113000" y="8826500"/>
            <a:ext cx="635000" cy="254000"/>
          </a:xfrm>
          <a:prstGeom prst="rect">
            <a:avLst/>
          </a:prstGeom>
          <a:noFill/>
          <a:ln/>
        </p:spPr>
        <p:txBody>
          <a:bodyPr wrap="none" lIns="0" tIns="0" rIns="0" bIns="0" rtlCol="0" anchor="ctr"/>
          <a:lstStyle/>
          <a:p>
            <a:pPr algn="r">
              <a:lnSpc>
                <a:spcPct val="130000"/>
              </a:lnSpc>
            </a:pPr>
            <a:r>
              <a:rPr lang="en-US" sz="1200" dirty="0">
                <a:solidFill>
                  <a:srgbClr val="64748B"/>
                </a:solidFill>
                <a:latin typeface="Quattrocento Sans" pitchFamily="34" charset="0"/>
                <a:ea typeface="Quattrocento Sans" pitchFamily="34" charset="-122"/>
                <a:cs typeface="Quattrocento Sans" pitchFamily="34" charset="-120"/>
              </a:rPr>
              <a:t>08</a:t>
            </a:r>
            <a:endParaRPr lang="en-US" sz="12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6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243E63"/>
          </a:solidFill>
          <a:ln/>
        </p:spPr>
      </p:sp>
      <p:sp>
        <p:nvSpPr>
          <p:cNvPr id="4" name="Text 1"/>
          <p:cNvSpPr/>
          <p:nvPr/>
        </p:nvSpPr>
        <p:spPr>
          <a:xfrm>
            <a:off x="127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Problem &amp; Motivation</a:t>
            </a:r>
            <a:endParaRPr lang="en-US" sz="1100" dirty="0"/>
          </a:p>
        </p:txBody>
      </p:sp>
      <p:sp>
        <p:nvSpPr>
          <p:cNvPr id="5" name="Text 2"/>
          <p:cNvSpPr/>
          <p:nvPr/>
        </p:nvSpPr>
        <p:spPr>
          <a:xfrm>
            <a:off x="2794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Data &amp; Methodology</a:t>
            </a:r>
            <a:endParaRPr lang="en-US" sz="1100" dirty="0"/>
          </a:p>
        </p:txBody>
      </p:sp>
      <p:sp>
        <p:nvSpPr>
          <p:cNvPr id="6" name="Text 3"/>
          <p:cNvSpPr/>
          <p:nvPr/>
        </p:nvSpPr>
        <p:spPr>
          <a:xfrm>
            <a:off x="5461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Exploratory Analysis</a:t>
            </a:r>
            <a:endParaRPr lang="en-US" sz="1100" dirty="0"/>
          </a:p>
        </p:txBody>
      </p:sp>
      <p:sp>
        <p:nvSpPr>
          <p:cNvPr id="7" name="Shape 4"/>
          <p:cNvSpPr/>
          <p:nvPr/>
        </p:nvSpPr>
        <p:spPr>
          <a:xfrm>
            <a:off x="8128000" y="63500"/>
            <a:ext cx="2540000" cy="381000"/>
          </a:xfrm>
          <a:prstGeom prst="roundRect">
            <a:avLst>
              <a:gd name="adj" fmla="val 8000"/>
            </a:avLst>
          </a:prstGeom>
          <a:solidFill>
            <a:srgbClr val="3A5A8C"/>
          </a:solidFill>
          <a:ln/>
        </p:spPr>
      </p:sp>
      <p:sp>
        <p:nvSpPr>
          <p:cNvPr id="8" name="Text 5"/>
          <p:cNvSpPr/>
          <p:nvPr/>
        </p:nvSpPr>
        <p:spPr>
          <a:xfrm>
            <a:off x="8128000" y="63500"/>
            <a:ext cx="2540000" cy="381000"/>
          </a:xfrm>
          <a:prstGeom prst="rect">
            <a:avLst/>
          </a:prstGeom>
          <a:noFill/>
          <a:ln/>
        </p:spPr>
        <p:txBody>
          <a:bodyPr wrap="none" lIns="0" tIns="0" rIns="0" bIns="0" rtlCol="0" anchor="ctr"/>
          <a:lstStyle/>
          <a:p>
            <a:pPr algn="ctr">
              <a:lnSpc>
                <a:spcPct val="120000"/>
              </a:lnSpc>
            </a:pPr>
            <a:r>
              <a:rPr lang="en-US" sz="1100" b="1" dirty="0">
                <a:solidFill>
                  <a:srgbClr val="FFFFFF"/>
                </a:solidFill>
                <a:latin typeface="Quattrocento Sans" pitchFamily="34" charset="0"/>
                <a:ea typeface="Quattrocento Sans" pitchFamily="34" charset="-122"/>
                <a:cs typeface="Quattrocento Sans" pitchFamily="34" charset="-120"/>
              </a:rPr>
              <a:t>Modeling &amp; Results</a:t>
            </a:r>
            <a:endParaRPr lang="en-US" sz="1100" dirty="0"/>
          </a:p>
        </p:txBody>
      </p:sp>
      <p:sp>
        <p:nvSpPr>
          <p:cNvPr id="9" name="Text 6"/>
          <p:cNvSpPr/>
          <p:nvPr/>
        </p:nvSpPr>
        <p:spPr>
          <a:xfrm>
            <a:off x="10795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Business Impact</a:t>
            </a:r>
            <a:endParaRPr lang="en-US" sz="1100" dirty="0"/>
          </a:p>
        </p:txBody>
      </p:sp>
      <p:sp>
        <p:nvSpPr>
          <p:cNvPr id="10" name="Text 7"/>
          <p:cNvSpPr/>
          <p:nvPr/>
        </p:nvSpPr>
        <p:spPr>
          <a:xfrm>
            <a:off x="13462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Roadmap</a:t>
            </a:r>
            <a:endParaRPr lang="en-US" sz="1100" dirty="0"/>
          </a:p>
        </p:txBody>
      </p:sp>
      <p:sp>
        <p:nvSpPr>
          <p:cNvPr id="11" name="Shape 8"/>
          <p:cNvSpPr/>
          <p:nvPr/>
        </p:nvSpPr>
        <p:spPr>
          <a:xfrm>
            <a:off x="0" y="508000"/>
            <a:ext cx="16256000" cy="25400"/>
          </a:xfrm>
          <a:prstGeom prst="rect">
            <a:avLst/>
          </a:prstGeom>
          <a:solidFill>
            <a:srgbClr val="2B4C7E"/>
          </a:solidFill>
          <a:ln/>
        </p:spPr>
      </p:sp>
      <p:sp>
        <p:nvSpPr>
          <p:cNvPr id="12" name="Text 9"/>
          <p:cNvSpPr/>
          <p:nvPr/>
        </p:nvSpPr>
        <p:spPr>
          <a:xfrm>
            <a:off x="762000" y="736600"/>
            <a:ext cx="8890000" cy="508000"/>
          </a:xfrm>
          <a:prstGeom prst="rect">
            <a:avLst/>
          </a:prstGeom>
          <a:noFill/>
          <a:ln/>
        </p:spPr>
        <p:txBody>
          <a:bodyPr wrap="none" lIns="0" tIns="0" rIns="0" bIns="0" rtlCol="0" anchor="ctr"/>
          <a:lstStyle/>
          <a:p>
            <a:pPr algn="l">
              <a:lnSpc>
                <a:spcPct val="120000"/>
              </a:lnSpc>
            </a:pPr>
            <a:r>
              <a:rPr lang="en-US" sz="2800" dirty="0">
                <a:solidFill>
                  <a:srgbClr val="2B4C7E"/>
                </a:solidFill>
                <a:latin typeface="Liter" pitchFamily="34" charset="0"/>
                <a:ea typeface="Liter" pitchFamily="34" charset="-122"/>
                <a:cs typeface="Liter" pitchFamily="34" charset="-120"/>
              </a:rPr>
              <a:t>Top Drivers of Churn</a:t>
            </a:r>
            <a:endParaRPr lang="en-US" sz="2800" dirty="0"/>
          </a:p>
        </p:txBody>
      </p:sp>
      <p:sp>
        <p:nvSpPr>
          <p:cNvPr id="13" name="Shape 10"/>
          <p:cNvSpPr/>
          <p:nvPr/>
        </p:nvSpPr>
        <p:spPr>
          <a:xfrm>
            <a:off x="762000" y="1308100"/>
            <a:ext cx="762000" cy="50800"/>
          </a:xfrm>
          <a:prstGeom prst="rect">
            <a:avLst/>
          </a:prstGeom>
          <a:solidFill>
            <a:srgbClr val="D9534F"/>
          </a:solidFill>
          <a:ln/>
        </p:spPr>
      </p:sp>
      <p:sp>
        <p:nvSpPr>
          <p:cNvPr id="15" name="Text 11"/>
          <p:cNvSpPr/>
          <p:nvPr/>
        </p:nvSpPr>
        <p:spPr>
          <a:xfrm>
            <a:off x="606948" y="8020050"/>
            <a:ext cx="8382000" cy="317500"/>
          </a:xfrm>
          <a:prstGeom prst="rect">
            <a:avLst/>
          </a:prstGeom>
          <a:noFill/>
          <a:ln/>
        </p:spPr>
        <p:txBody>
          <a:bodyPr wrap="none" lIns="0" tIns="0" rIns="0" bIns="0" rtlCol="0" anchor="ctr"/>
          <a:lstStyle/>
          <a:p>
            <a:pPr algn="ctr">
              <a:lnSpc>
                <a:spcPct val="120000"/>
              </a:lnSpc>
            </a:pPr>
            <a:r>
              <a:rPr lang="en-US" sz="1200" b="1" i="1" dirty="0">
                <a:solidFill>
                  <a:srgbClr val="64748B"/>
                </a:solidFill>
                <a:latin typeface="Times New Roman" panose="02020603050405020304" pitchFamily="18" charset="0"/>
                <a:ea typeface="Quattrocento Sans" pitchFamily="34" charset="-122"/>
                <a:cs typeface="Times New Roman" panose="02020603050405020304" pitchFamily="18" charset="0"/>
              </a:rPr>
              <a:t>Fig. 4: XGBoost Top 15 Feature Importances — eqpdays dominates</a:t>
            </a:r>
            <a:endParaRPr lang="en-US" sz="1200" b="1" dirty="0">
              <a:latin typeface="Times New Roman" panose="02020603050405020304" pitchFamily="18" charset="0"/>
              <a:cs typeface="Times New Roman" panose="02020603050405020304" pitchFamily="18" charset="0"/>
            </a:endParaRPr>
          </a:p>
        </p:txBody>
      </p:sp>
      <p:sp>
        <p:nvSpPr>
          <p:cNvPr id="16" name="Text 12"/>
          <p:cNvSpPr/>
          <p:nvPr/>
        </p:nvSpPr>
        <p:spPr>
          <a:xfrm>
            <a:off x="9652000" y="1587500"/>
            <a:ext cx="5842000" cy="444500"/>
          </a:xfrm>
          <a:prstGeom prst="rect">
            <a:avLst/>
          </a:prstGeom>
          <a:noFill/>
          <a:ln/>
        </p:spPr>
        <p:txBody>
          <a:bodyPr wrap="none" lIns="0" tIns="0" rIns="0" bIns="0" rtlCol="0" anchor="ctr"/>
          <a:lstStyle/>
          <a:p>
            <a:pPr algn="l">
              <a:lnSpc>
                <a:spcPct val="120000"/>
              </a:lnSpc>
            </a:pPr>
            <a:r>
              <a:rPr lang="en-US" sz="2000" b="1" dirty="0">
                <a:solidFill>
                  <a:srgbClr val="2B4C7E"/>
                </a:solidFill>
                <a:latin typeface="Liter" pitchFamily="34" charset="0"/>
                <a:ea typeface="Liter" pitchFamily="34" charset="-122"/>
                <a:cs typeface="Liter" pitchFamily="34" charset="-120"/>
              </a:rPr>
              <a:t>Top 5 Predictors</a:t>
            </a:r>
            <a:endParaRPr lang="en-US" sz="2000" dirty="0"/>
          </a:p>
        </p:txBody>
      </p:sp>
      <p:sp>
        <p:nvSpPr>
          <p:cNvPr id="17" name="Shape 13"/>
          <p:cNvSpPr/>
          <p:nvPr/>
        </p:nvSpPr>
        <p:spPr>
          <a:xfrm>
            <a:off x="9652000" y="2095500"/>
            <a:ext cx="5842000" cy="12700"/>
          </a:xfrm>
          <a:prstGeom prst="rect">
            <a:avLst/>
          </a:prstGeom>
          <a:solidFill>
            <a:srgbClr val="E2E5E9"/>
          </a:solidFill>
          <a:ln/>
        </p:spPr>
      </p:sp>
      <p:sp>
        <p:nvSpPr>
          <p:cNvPr id="18" name="Text 14"/>
          <p:cNvSpPr/>
          <p:nvPr/>
        </p:nvSpPr>
        <p:spPr>
          <a:xfrm>
            <a:off x="9652000" y="2286000"/>
            <a:ext cx="444500" cy="444500"/>
          </a:xfrm>
          <a:prstGeom prst="rect">
            <a:avLst/>
          </a:prstGeom>
          <a:noFill/>
          <a:ln/>
        </p:spPr>
        <p:txBody>
          <a:bodyPr wrap="none" lIns="0" tIns="0" rIns="0" bIns="0" rtlCol="0" anchor="ctr"/>
          <a:lstStyle/>
          <a:p>
            <a:pPr algn="ctr">
              <a:lnSpc>
                <a:spcPct val="120000"/>
              </a:lnSpc>
            </a:pPr>
            <a:r>
              <a:rPr lang="en-US" sz="2000" dirty="0">
                <a:solidFill>
                  <a:srgbClr val="D9534F"/>
                </a:solidFill>
                <a:latin typeface="Liter" pitchFamily="34" charset="0"/>
                <a:ea typeface="Liter" pitchFamily="34" charset="-122"/>
                <a:cs typeface="Liter" pitchFamily="34" charset="-120"/>
              </a:rPr>
              <a:t>1</a:t>
            </a:r>
            <a:endParaRPr lang="en-US" sz="2000" dirty="0"/>
          </a:p>
        </p:txBody>
      </p:sp>
      <p:sp>
        <p:nvSpPr>
          <p:cNvPr id="19" name="Text 15"/>
          <p:cNvSpPr/>
          <p:nvPr/>
        </p:nvSpPr>
        <p:spPr>
          <a:xfrm>
            <a:off x="10160000" y="2286000"/>
            <a:ext cx="2540000" cy="355600"/>
          </a:xfrm>
          <a:prstGeom prst="rect">
            <a:avLst/>
          </a:prstGeom>
          <a:noFill/>
          <a:ln/>
        </p:spPr>
        <p:txBody>
          <a:bodyPr wrap="none" lIns="0" tIns="0" rIns="0" bIns="0" rtlCol="0" anchor="ctr"/>
          <a:lstStyle/>
          <a:p>
            <a:pPr algn="l">
              <a:lnSpc>
                <a:spcPct val="120000"/>
              </a:lnSpc>
            </a:pPr>
            <a:r>
              <a:rPr lang="en-US" sz="1800" b="1" dirty="0">
                <a:solidFill>
                  <a:srgbClr val="1E293B"/>
                </a:solidFill>
                <a:latin typeface="Liter" pitchFamily="34" charset="0"/>
                <a:ea typeface="Liter" pitchFamily="34" charset="-122"/>
                <a:cs typeface="Liter" pitchFamily="34" charset="-120"/>
              </a:rPr>
              <a:t>eqpdays</a:t>
            </a:r>
            <a:endParaRPr lang="en-US" sz="1800" dirty="0"/>
          </a:p>
        </p:txBody>
      </p:sp>
      <p:sp>
        <p:nvSpPr>
          <p:cNvPr id="20" name="Text 16"/>
          <p:cNvSpPr/>
          <p:nvPr/>
        </p:nvSpPr>
        <p:spPr>
          <a:xfrm>
            <a:off x="10160000" y="2667000"/>
            <a:ext cx="5334000" cy="6350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Equipment age in days — #1 predictor. Confirms "Hardware Fatigue" hypothesis.</a:t>
            </a:r>
            <a:endParaRPr lang="en-US" sz="1400" dirty="0"/>
          </a:p>
        </p:txBody>
      </p:sp>
      <p:sp>
        <p:nvSpPr>
          <p:cNvPr id="21" name="Text 17"/>
          <p:cNvSpPr/>
          <p:nvPr/>
        </p:nvSpPr>
        <p:spPr>
          <a:xfrm>
            <a:off x="9652000" y="3365500"/>
            <a:ext cx="444500" cy="444500"/>
          </a:xfrm>
          <a:prstGeom prst="rect">
            <a:avLst/>
          </a:prstGeom>
          <a:noFill/>
          <a:ln/>
        </p:spPr>
        <p:txBody>
          <a:bodyPr wrap="none" lIns="0" tIns="0" rIns="0" bIns="0" rtlCol="0" anchor="ctr"/>
          <a:lstStyle/>
          <a:p>
            <a:pPr algn="ctr">
              <a:lnSpc>
                <a:spcPct val="120000"/>
              </a:lnSpc>
            </a:pPr>
            <a:r>
              <a:rPr lang="en-US" sz="2000" dirty="0">
                <a:solidFill>
                  <a:srgbClr val="2B4C7E"/>
                </a:solidFill>
                <a:latin typeface="Liter" pitchFamily="34" charset="0"/>
                <a:ea typeface="Liter" pitchFamily="34" charset="-122"/>
                <a:cs typeface="Liter" pitchFamily="34" charset="-120"/>
              </a:rPr>
              <a:t>2</a:t>
            </a:r>
            <a:endParaRPr lang="en-US" sz="2000" dirty="0"/>
          </a:p>
        </p:txBody>
      </p:sp>
      <p:sp>
        <p:nvSpPr>
          <p:cNvPr id="22" name="Text 18"/>
          <p:cNvSpPr/>
          <p:nvPr/>
        </p:nvSpPr>
        <p:spPr>
          <a:xfrm>
            <a:off x="10160000" y="3403600"/>
            <a:ext cx="2540000" cy="355600"/>
          </a:xfrm>
          <a:prstGeom prst="rect">
            <a:avLst/>
          </a:prstGeom>
          <a:noFill/>
          <a:ln/>
        </p:spPr>
        <p:txBody>
          <a:bodyPr wrap="none" lIns="0" tIns="0" rIns="0" bIns="0" rtlCol="0" anchor="ctr"/>
          <a:lstStyle/>
          <a:p>
            <a:pPr algn="l">
              <a:lnSpc>
                <a:spcPct val="120000"/>
              </a:lnSpc>
            </a:pPr>
            <a:r>
              <a:rPr lang="en-US" sz="1800" b="1" dirty="0">
                <a:solidFill>
                  <a:srgbClr val="1E293B"/>
                </a:solidFill>
                <a:latin typeface="Liter" pitchFamily="34" charset="0"/>
                <a:ea typeface="Liter" pitchFamily="34" charset="-122"/>
                <a:cs typeface="Liter" pitchFamily="34" charset="-120"/>
              </a:rPr>
              <a:t>months</a:t>
            </a:r>
            <a:endParaRPr lang="en-US" sz="1800" dirty="0"/>
          </a:p>
        </p:txBody>
      </p:sp>
      <p:sp>
        <p:nvSpPr>
          <p:cNvPr id="23" name="Text 19"/>
          <p:cNvSpPr/>
          <p:nvPr/>
        </p:nvSpPr>
        <p:spPr>
          <a:xfrm>
            <a:off x="10160000" y="3784600"/>
            <a:ext cx="5334000" cy="6350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Tenure in months — longer-tenured customers show different churn patterns.</a:t>
            </a:r>
            <a:endParaRPr lang="en-US" sz="1400" dirty="0"/>
          </a:p>
        </p:txBody>
      </p:sp>
      <p:sp>
        <p:nvSpPr>
          <p:cNvPr id="24" name="Text 20"/>
          <p:cNvSpPr/>
          <p:nvPr/>
        </p:nvSpPr>
        <p:spPr>
          <a:xfrm>
            <a:off x="9652000" y="4445000"/>
            <a:ext cx="444500" cy="444500"/>
          </a:xfrm>
          <a:prstGeom prst="rect">
            <a:avLst/>
          </a:prstGeom>
          <a:noFill/>
          <a:ln/>
        </p:spPr>
        <p:txBody>
          <a:bodyPr wrap="none" lIns="0" tIns="0" rIns="0" bIns="0" rtlCol="0" anchor="ctr"/>
          <a:lstStyle/>
          <a:p>
            <a:pPr algn="ctr">
              <a:lnSpc>
                <a:spcPct val="120000"/>
              </a:lnSpc>
            </a:pPr>
            <a:r>
              <a:rPr lang="en-US" sz="2000" dirty="0">
                <a:solidFill>
                  <a:srgbClr val="2B4C7E"/>
                </a:solidFill>
                <a:latin typeface="Liter" pitchFamily="34" charset="0"/>
                <a:ea typeface="Liter" pitchFamily="34" charset="-122"/>
                <a:cs typeface="Liter" pitchFamily="34" charset="-120"/>
              </a:rPr>
              <a:t>3</a:t>
            </a:r>
            <a:endParaRPr lang="en-US" sz="2000" dirty="0"/>
          </a:p>
        </p:txBody>
      </p:sp>
      <p:sp>
        <p:nvSpPr>
          <p:cNvPr id="25" name="Text 21"/>
          <p:cNvSpPr/>
          <p:nvPr/>
        </p:nvSpPr>
        <p:spPr>
          <a:xfrm>
            <a:off x="10160000" y="4521200"/>
            <a:ext cx="2540000" cy="355600"/>
          </a:xfrm>
          <a:prstGeom prst="rect">
            <a:avLst/>
          </a:prstGeom>
          <a:noFill/>
          <a:ln/>
        </p:spPr>
        <p:txBody>
          <a:bodyPr wrap="none" lIns="0" tIns="0" rIns="0" bIns="0" rtlCol="0" anchor="ctr"/>
          <a:lstStyle/>
          <a:p>
            <a:pPr algn="l">
              <a:lnSpc>
                <a:spcPct val="120000"/>
              </a:lnSpc>
            </a:pPr>
            <a:r>
              <a:rPr lang="en-US" sz="1800" b="1" dirty="0">
                <a:solidFill>
                  <a:srgbClr val="1E293B"/>
                </a:solidFill>
                <a:latin typeface="Liter" pitchFamily="34" charset="0"/>
                <a:ea typeface="Liter" pitchFamily="34" charset="-122"/>
                <a:cs typeface="Liter" pitchFamily="34" charset="-120"/>
              </a:rPr>
              <a:t>hnd_webcap</a:t>
            </a:r>
            <a:endParaRPr lang="en-US" sz="1800" dirty="0"/>
          </a:p>
        </p:txBody>
      </p:sp>
      <p:sp>
        <p:nvSpPr>
          <p:cNvPr id="26" name="Text 22"/>
          <p:cNvSpPr/>
          <p:nvPr/>
        </p:nvSpPr>
        <p:spPr>
          <a:xfrm>
            <a:off x="10160000" y="4902200"/>
            <a:ext cx="5334000" cy="6350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Handset web capability — device quality directly impacts satisfaction.</a:t>
            </a:r>
            <a:endParaRPr lang="en-US" sz="1400" dirty="0"/>
          </a:p>
        </p:txBody>
      </p:sp>
      <p:sp>
        <p:nvSpPr>
          <p:cNvPr id="27" name="Text 23"/>
          <p:cNvSpPr/>
          <p:nvPr/>
        </p:nvSpPr>
        <p:spPr>
          <a:xfrm>
            <a:off x="9652000" y="5524500"/>
            <a:ext cx="444500" cy="444500"/>
          </a:xfrm>
          <a:prstGeom prst="rect">
            <a:avLst/>
          </a:prstGeom>
          <a:noFill/>
          <a:ln/>
        </p:spPr>
        <p:txBody>
          <a:bodyPr wrap="none" lIns="0" tIns="0" rIns="0" bIns="0" rtlCol="0" anchor="ctr"/>
          <a:lstStyle/>
          <a:p>
            <a:pPr algn="ctr">
              <a:lnSpc>
                <a:spcPct val="120000"/>
              </a:lnSpc>
            </a:pPr>
            <a:r>
              <a:rPr lang="en-US" sz="2000" dirty="0">
                <a:solidFill>
                  <a:srgbClr val="2B4C7E"/>
                </a:solidFill>
                <a:latin typeface="Liter" pitchFamily="34" charset="0"/>
                <a:ea typeface="Liter" pitchFamily="34" charset="-122"/>
                <a:cs typeface="Liter" pitchFamily="34" charset="-120"/>
              </a:rPr>
              <a:t>4</a:t>
            </a:r>
            <a:endParaRPr lang="en-US" sz="2000" dirty="0"/>
          </a:p>
        </p:txBody>
      </p:sp>
      <p:sp>
        <p:nvSpPr>
          <p:cNvPr id="28" name="Text 24"/>
          <p:cNvSpPr/>
          <p:nvPr/>
        </p:nvSpPr>
        <p:spPr>
          <a:xfrm>
            <a:off x="10160000" y="5638800"/>
            <a:ext cx="2540000" cy="355600"/>
          </a:xfrm>
          <a:prstGeom prst="rect">
            <a:avLst/>
          </a:prstGeom>
          <a:noFill/>
          <a:ln/>
        </p:spPr>
        <p:txBody>
          <a:bodyPr wrap="none" lIns="0" tIns="0" rIns="0" bIns="0" rtlCol="0" anchor="ctr"/>
          <a:lstStyle/>
          <a:p>
            <a:pPr algn="l">
              <a:lnSpc>
                <a:spcPct val="120000"/>
              </a:lnSpc>
            </a:pPr>
            <a:r>
              <a:rPr lang="en-US" sz="1800" b="1" dirty="0">
                <a:solidFill>
                  <a:srgbClr val="1E293B"/>
                </a:solidFill>
                <a:latin typeface="Liter" pitchFamily="34" charset="0"/>
                <a:ea typeface="Liter" pitchFamily="34" charset="-122"/>
                <a:cs typeface="Liter" pitchFamily="34" charset="-120"/>
              </a:rPr>
              <a:t>refurb_new</a:t>
            </a:r>
            <a:endParaRPr lang="en-US" sz="1800" dirty="0"/>
          </a:p>
        </p:txBody>
      </p:sp>
      <p:sp>
        <p:nvSpPr>
          <p:cNvPr id="29" name="Text 25"/>
          <p:cNvSpPr/>
          <p:nvPr/>
        </p:nvSpPr>
        <p:spPr>
          <a:xfrm>
            <a:off x="10160000" y="6045200"/>
            <a:ext cx="5334000" cy="5715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Refurbished vs new device flag — hardware quality signal.</a:t>
            </a:r>
            <a:endParaRPr lang="en-US" sz="1400" dirty="0"/>
          </a:p>
        </p:txBody>
      </p:sp>
      <p:sp>
        <p:nvSpPr>
          <p:cNvPr id="30" name="Text 26"/>
          <p:cNvSpPr/>
          <p:nvPr/>
        </p:nvSpPr>
        <p:spPr>
          <a:xfrm>
            <a:off x="9652000" y="6604000"/>
            <a:ext cx="444500" cy="444500"/>
          </a:xfrm>
          <a:prstGeom prst="rect">
            <a:avLst/>
          </a:prstGeom>
          <a:noFill/>
          <a:ln/>
        </p:spPr>
        <p:txBody>
          <a:bodyPr wrap="none" lIns="0" tIns="0" rIns="0" bIns="0" rtlCol="0" anchor="ctr"/>
          <a:lstStyle/>
          <a:p>
            <a:pPr algn="ctr">
              <a:lnSpc>
                <a:spcPct val="120000"/>
              </a:lnSpc>
            </a:pPr>
            <a:r>
              <a:rPr lang="en-US" sz="2000" dirty="0">
                <a:solidFill>
                  <a:srgbClr val="2B4C7E"/>
                </a:solidFill>
                <a:latin typeface="Liter" pitchFamily="34" charset="0"/>
                <a:ea typeface="Liter" pitchFamily="34" charset="-122"/>
                <a:cs typeface="Liter" pitchFamily="34" charset="-120"/>
              </a:rPr>
              <a:t>5</a:t>
            </a:r>
            <a:endParaRPr lang="en-US" sz="2000" dirty="0"/>
          </a:p>
        </p:txBody>
      </p:sp>
      <p:sp>
        <p:nvSpPr>
          <p:cNvPr id="31" name="Text 27"/>
          <p:cNvSpPr/>
          <p:nvPr/>
        </p:nvSpPr>
        <p:spPr>
          <a:xfrm>
            <a:off x="10160000" y="6756400"/>
            <a:ext cx="2540000" cy="355600"/>
          </a:xfrm>
          <a:prstGeom prst="rect">
            <a:avLst/>
          </a:prstGeom>
          <a:noFill/>
          <a:ln/>
        </p:spPr>
        <p:txBody>
          <a:bodyPr wrap="none" lIns="0" tIns="0" rIns="0" bIns="0" rtlCol="0" anchor="ctr"/>
          <a:lstStyle/>
          <a:p>
            <a:pPr algn="l">
              <a:lnSpc>
                <a:spcPct val="120000"/>
              </a:lnSpc>
            </a:pPr>
            <a:r>
              <a:rPr lang="en-US" sz="1800" b="1" dirty="0">
                <a:solidFill>
                  <a:srgbClr val="1E293B"/>
                </a:solidFill>
                <a:latin typeface="Liter" pitchFamily="34" charset="0"/>
                <a:ea typeface="Liter" pitchFamily="34" charset="-122"/>
                <a:cs typeface="Liter" pitchFamily="34" charset="-120"/>
              </a:rPr>
              <a:t>mou_Mean</a:t>
            </a:r>
            <a:endParaRPr lang="en-US" sz="1800" dirty="0"/>
          </a:p>
        </p:txBody>
      </p:sp>
      <p:sp>
        <p:nvSpPr>
          <p:cNvPr id="32" name="Text 28"/>
          <p:cNvSpPr/>
          <p:nvPr/>
        </p:nvSpPr>
        <p:spPr>
          <a:xfrm>
            <a:off x="10160000" y="7137400"/>
            <a:ext cx="5334000" cy="5715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Average minutes of use — confirms "Silent Departure" hypothesis.</a:t>
            </a:r>
            <a:endParaRPr lang="en-US" sz="1400" dirty="0"/>
          </a:p>
        </p:txBody>
      </p:sp>
      <p:sp>
        <p:nvSpPr>
          <p:cNvPr id="33" name="Shape 29"/>
          <p:cNvSpPr/>
          <p:nvPr/>
        </p:nvSpPr>
        <p:spPr>
          <a:xfrm>
            <a:off x="9652000" y="7810500"/>
            <a:ext cx="5842000" cy="736600"/>
          </a:xfrm>
          <a:prstGeom prst="rect">
            <a:avLst/>
          </a:prstGeom>
          <a:solidFill>
            <a:srgbClr val="2ECC71"/>
          </a:solidFill>
          <a:ln/>
        </p:spPr>
      </p:sp>
      <p:sp>
        <p:nvSpPr>
          <p:cNvPr id="34" name="Text 30"/>
          <p:cNvSpPr/>
          <p:nvPr/>
        </p:nvSpPr>
        <p:spPr>
          <a:xfrm>
            <a:off x="9906000" y="7874000"/>
            <a:ext cx="5334000" cy="609600"/>
          </a:xfrm>
          <a:prstGeom prst="rect">
            <a:avLst/>
          </a:prstGeom>
          <a:noFill/>
          <a:ln/>
        </p:spPr>
        <p:txBody>
          <a:bodyPr wrap="square" lIns="0" tIns="0" rIns="0" bIns="0" rtlCol="0" anchor="ctr"/>
          <a:lstStyle/>
          <a:p>
            <a:pPr algn="l">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Both EDA hypotheses confirmed</a:t>
            </a:r>
            <a:r>
              <a:rPr lang="en-US" sz="1400" dirty="0">
                <a:solidFill>
                  <a:srgbClr val="FFFFFF"/>
                </a:solidFill>
                <a:latin typeface="Quattrocento Sans" pitchFamily="34" charset="0"/>
                <a:ea typeface="Quattrocento Sans" pitchFamily="34" charset="-122"/>
                <a:cs typeface="Quattrocento Sans" pitchFamily="34" charset="-120"/>
              </a:rPr>
              <a:t> with model-level evidence, not just visual correlation.</a:t>
            </a:r>
            <a:endParaRPr lang="en-US" sz="1400" dirty="0"/>
          </a:p>
        </p:txBody>
      </p:sp>
      <p:sp>
        <p:nvSpPr>
          <p:cNvPr id="35" name="Text 31"/>
          <p:cNvSpPr/>
          <p:nvPr/>
        </p:nvSpPr>
        <p:spPr>
          <a:xfrm>
            <a:off x="15113000" y="8826500"/>
            <a:ext cx="635000" cy="254000"/>
          </a:xfrm>
          <a:prstGeom prst="rect">
            <a:avLst/>
          </a:prstGeom>
          <a:noFill/>
          <a:ln/>
        </p:spPr>
        <p:txBody>
          <a:bodyPr wrap="none" lIns="0" tIns="0" rIns="0" bIns="0" rtlCol="0" anchor="ctr"/>
          <a:lstStyle/>
          <a:p>
            <a:pPr algn="r">
              <a:lnSpc>
                <a:spcPct val="130000"/>
              </a:lnSpc>
            </a:pPr>
            <a:r>
              <a:rPr lang="en-US" sz="1200" dirty="0">
                <a:solidFill>
                  <a:srgbClr val="64748B"/>
                </a:solidFill>
                <a:latin typeface="Quattrocento Sans" pitchFamily="34" charset="0"/>
                <a:ea typeface="Quattrocento Sans" pitchFamily="34" charset="-122"/>
                <a:cs typeface="Quattrocento Sans" pitchFamily="34" charset="-120"/>
              </a:rPr>
              <a:t>09</a:t>
            </a:r>
            <a:endParaRPr lang="en-US" sz="1200" dirty="0"/>
          </a:p>
        </p:txBody>
      </p:sp>
      <p:pic>
        <p:nvPicPr>
          <p:cNvPr id="36" name="Picture 35">
            <a:extLst>
              <a:ext uri="{FF2B5EF4-FFF2-40B4-BE49-F238E27FC236}">
                <a16:creationId xmlns:a16="http://schemas.microsoft.com/office/drawing/2014/main" id="{876CA3DF-80D4-1F21-24FC-440A71191BB5}"/>
              </a:ext>
            </a:extLst>
          </p:cNvPr>
          <p:cNvPicPr>
            <a:picLocks noChangeAspect="1"/>
          </p:cNvPicPr>
          <p:nvPr/>
        </p:nvPicPr>
        <p:blipFill>
          <a:blip r:embed="rId3"/>
          <a:stretch>
            <a:fillRect/>
          </a:stretch>
        </p:blipFill>
        <p:spPr>
          <a:xfrm>
            <a:off x="229475" y="1556669"/>
            <a:ext cx="9136947" cy="6344324"/>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243E63"/>
          </a:solidFill>
          <a:ln/>
        </p:spPr>
      </p:sp>
      <p:sp>
        <p:nvSpPr>
          <p:cNvPr id="4" name="Text 1"/>
          <p:cNvSpPr/>
          <p:nvPr/>
        </p:nvSpPr>
        <p:spPr>
          <a:xfrm>
            <a:off x="127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Problem &amp; Motivation</a:t>
            </a:r>
            <a:endParaRPr lang="en-US" sz="1100" dirty="0"/>
          </a:p>
        </p:txBody>
      </p:sp>
      <p:sp>
        <p:nvSpPr>
          <p:cNvPr id="5" name="Text 2"/>
          <p:cNvSpPr/>
          <p:nvPr/>
        </p:nvSpPr>
        <p:spPr>
          <a:xfrm>
            <a:off x="2794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Data &amp; Methodology</a:t>
            </a:r>
            <a:endParaRPr lang="en-US" sz="1100" dirty="0"/>
          </a:p>
        </p:txBody>
      </p:sp>
      <p:sp>
        <p:nvSpPr>
          <p:cNvPr id="6" name="Text 3"/>
          <p:cNvSpPr/>
          <p:nvPr/>
        </p:nvSpPr>
        <p:spPr>
          <a:xfrm>
            <a:off x="5461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Exploratory Analysis</a:t>
            </a:r>
            <a:endParaRPr lang="en-US" sz="1100" dirty="0"/>
          </a:p>
        </p:txBody>
      </p:sp>
      <p:sp>
        <p:nvSpPr>
          <p:cNvPr id="7" name="Shape 4"/>
          <p:cNvSpPr/>
          <p:nvPr/>
        </p:nvSpPr>
        <p:spPr>
          <a:xfrm>
            <a:off x="8128000" y="63500"/>
            <a:ext cx="2540000" cy="381000"/>
          </a:xfrm>
          <a:prstGeom prst="roundRect">
            <a:avLst>
              <a:gd name="adj" fmla="val 8000"/>
            </a:avLst>
          </a:prstGeom>
          <a:solidFill>
            <a:srgbClr val="3A5A8C"/>
          </a:solidFill>
          <a:ln/>
        </p:spPr>
      </p:sp>
      <p:sp>
        <p:nvSpPr>
          <p:cNvPr id="8" name="Text 5"/>
          <p:cNvSpPr/>
          <p:nvPr/>
        </p:nvSpPr>
        <p:spPr>
          <a:xfrm>
            <a:off x="8128000" y="63500"/>
            <a:ext cx="2540000" cy="381000"/>
          </a:xfrm>
          <a:prstGeom prst="rect">
            <a:avLst/>
          </a:prstGeom>
          <a:noFill/>
          <a:ln/>
        </p:spPr>
        <p:txBody>
          <a:bodyPr wrap="none" lIns="0" tIns="0" rIns="0" bIns="0" rtlCol="0" anchor="ctr"/>
          <a:lstStyle/>
          <a:p>
            <a:pPr algn="ctr">
              <a:lnSpc>
                <a:spcPct val="120000"/>
              </a:lnSpc>
            </a:pPr>
            <a:r>
              <a:rPr lang="en-US" sz="1100" b="1" dirty="0">
                <a:solidFill>
                  <a:srgbClr val="FFFFFF"/>
                </a:solidFill>
                <a:latin typeface="Quattrocento Sans" pitchFamily="34" charset="0"/>
                <a:ea typeface="Quattrocento Sans" pitchFamily="34" charset="-122"/>
                <a:cs typeface="Quattrocento Sans" pitchFamily="34" charset="-120"/>
              </a:rPr>
              <a:t>Modeling &amp; Results</a:t>
            </a:r>
            <a:endParaRPr lang="en-US" sz="1100" dirty="0"/>
          </a:p>
        </p:txBody>
      </p:sp>
      <p:sp>
        <p:nvSpPr>
          <p:cNvPr id="9" name="Text 6"/>
          <p:cNvSpPr/>
          <p:nvPr/>
        </p:nvSpPr>
        <p:spPr>
          <a:xfrm>
            <a:off x="10795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Business Impact</a:t>
            </a:r>
            <a:endParaRPr lang="en-US" sz="1100" dirty="0"/>
          </a:p>
        </p:txBody>
      </p:sp>
      <p:sp>
        <p:nvSpPr>
          <p:cNvPr id="10" name="Text 7"/>
          <p:cNvSpPr/>
          <p:nvPr/>
        </p:nvSpPr>
        <p:spPr>
          <a:xfrm>
            <a:off x="13462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Roadmap</a:t>
            </a:r>
            <a:endParaRPr lang="en-US" sz="1100" dirty="0"/>
          </a:p>
        </p:txBody>
      </p:sp>
      <p:sp>
        <p:nvSpPr>
          <p:cNvPr id="11" name="Shape 8"/>
          <p:cNvSpPr/>
          <p:nvPr/>
        </p:nvSpPr>
        <p:spPr>
          <a:xfrm>
            <a:off x="0" y="508000"/>
            <a:ext cx="16256000" cy="25400"/>
          </a:xfrm>
          <a:prstGeom prst="rect">
            <a:avLst/>
          </a:prstGeom>
          <a:solidFill>
            <a:srgbClr val="2B4C7E"/>
          </a:solidFill>
          <a:ln/>
        </p:spPr>
      </p:sp>
      <p:sp>
        <p:nvSpPr>
          <p:cNvPr id="12" name="Text 9"/>
          <p:cNvSpPr/>
          <p:nvPr/>
        </p:nvSpPr>
        <p:spPr>
          <a:xfrm>
            <a:off x="762000" y="736600"/>
            <a:ext cx="8890000" cy="508000"/>
          </a:xfrm>
          <a:prstGeom prst="rect">
            <a:avLst/>
          </a:prstGeom>
          <a:noFill/>
          <a:ln/>
        </p:spPr>
        <p:txBody>
          <a:bodyPr wrap="none" lIns="0" tIns="0" rIns="0" bIns="0" rtlCol="0" anchor="ctr"/>
          <a:lstStyle/>
          <a:p>
            <a:pPr algn="l">
              <a:lnSpc>
                <a:spcPct val="120000"/>
              </a:lnSpc>
            </a:pPr>
            <a:r>
              <a:rPr lang="en-US" sz="2800" dirty="0">
                <a:solidFill>
                  <a:srgbClr val="2B4C7E"/>
                </a:solidFill>
                <a:latin typeface="Liter" pitchFamily="34" charset="0"/>
                <a:ea typeface="Liter" pitchFamily="34" charset="-122"/>
                <a:cs typeface="Liter" pitchFamily="34" charset="-120"/>
              </a:rPr>
              <a:t>Limitations &amp; Honest Assessment</a:t>
            </a:r>
            <a:endParaRPr lang="en-US" sz="2800" dirty="0"/>
          </a:p>
        </p:txBody>
      </p:sp>
      <p:sp>
        <p:nvSpPr>
          <p:cNvPr id="13" name="Shape 10"/>
          <p:cNvSpPr/>
          <p:nvPr/>
        </p:nvSpPr>
        <p:spPr>
          <a:xfrm>
            <a:off x="762000" y="1308100"/>
            <a:ext cx="762000" cy="50800"/>
          </a:xfrm>
          <a:prstGeom prst="rect">
            <a:avLst/>
          </a:prstGeom>
          <a:solidFill>
            <a:srgbClr val="D9534F"/>
          </a:solidFill>
          <a:ln/>
        </p:spPr>
      </p:sp>
      <p:sp>
        <p:nvSpPr>
          <p:cNvPr id="14" name="Shape 11"/>
          <p:cNvSpPr/>
          <p:nvPr/>
        </p:nvSpPr>
        <p:spPr>
          <a:xfrm>
            <a:off x="762000" y="1651000"/>
            <a:ext cx="6985000" cy="571500"/>
          </a:xfrm>
          <a:prstGeom prst="rect">
            <a:avLst/>
          </a:prstGeom>
          <a:solidFill>
            <a:srgbClr val="D9534F"/>
          </a:solidFill>
          <a:ln/>
        </p:spPr>
      </p:sp>
      <p:sp>
        <p:nvSpPr>
          <p:cNvPr id="15" name="Text 12"/>
          <p:cNvSpPr/>
          <p:nvPr/>
        </p:nvSpPr>
        <p:spPr>
          <a:xfrm>
            <a:off x="1016000" y="1651000"/>
            <a:ext cx="6477000" cy="5715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Liter" pitchFamily="34" charset="0"/>
                <a:ea typeface="Liter" pitchFamily="34" charset="-122"/>
                <a:cs typeface="Liter" pitchFamily="34" charset="-120"/>
              </a:rPr>
              <a:t>Current Limitations</a:t>
            </a:r>
            <a:endParaRPr lang="en-US" sz="1800" dirty="0"/>
          </a:p>
        </p:txBody>
      </p:sp>
      <p:sp>
        <p:nvSpPr>
          <p:cNvPr id="16" name="Text 13"/>
          <p:cNvSpPr/>
          <p:nvPr/>
        </p:nvSpPr>
        <p:spPr>
          <a:xfrm>
            <a:off x="762000" y="2413000"/>
            <a:ext cx="6985000" cy="3556000"/>
          </a:xfrm>
          <a:prstGeom prst="rect">
            <a:avLst/>
          </a:prstGeom>
          <a:noFill/>
          <a:ln/>
        </p:spPr>
        <p:txBody>
          <a:bodyPr wrap="square" lIns="0" tIns="0" rIns="0" bIns="0" rtlCol="0" anchor="t"/>
          <a:lstStyle/>
          <a:p>
            <a:pPr marL="269875" indent="-269875" algn="l">
              <a:lnSpc>
                <a:spcPct val="160000"/>
              </a:lnSpc>
              <a:spcBef>
                <a:spcPts val="10"/>
              </a:spcBef>
              <a:buSzPct val="100000"/>
              <a:buChar char="•"/>
            </a:pPr>
            <a:r>
              <a:rPr lang="en-US" sz="1700" b="1" dirty="0">
                <a:solidFill>
                  <a:srgbClr val="1E293B"/>
                </a:solidFill>
                <a:latin typeface="Quattrocento Sans" pitchFamily="34" charset="0"/>
                <a:ea typeface="Quattrocento Sans" pitchFamily="34" charset="-122"/>
                <a:cs typeface="Quattrocento Sans" pitchFamily="34" charset="-120"/>
              </a:rPr>
              <a:t>~63% raw accuracy</a:t>
            </a:r>
            <a:r>
              <a:rPr lang="en-US" sz="1700" dirty="0">
                <a:solidFill>
                  <a:srgbClr val="1E293B"/>
                </a:solidFill>
                <a:latin typeface="Quattrocento Sans" pitchFamily="34" charset="0"/>
                <a:ea typeface="Quattrocento Sans" pitchFamily="34" charset="-122"/>
                <a:cs typeface="Quattrocento Sans" pitchFamily="34" charset="-120"/>
              </a:rPr>
              <a:t> is modest by Kaggle standards — but deliberately optimized for business recall, not leaderboard rank</a:t>
            </a:r>
            <a:endParaRPr lang="en-US" sz="1700" dirty="0"/>
          </a:p>
          <a:p>
            <a:pPr marL="269875" indent="-269875" algn="l">
              <a:lnSpc>
                <a:spcPct val="160000"/>
              </a:lnSpc>
              <a:spcBef>
                <a:spcPts val="10"/>
              </a:spcBef>
              <a:buSzPct val="100000"/>
              <a:buChar char="•"/>
            </a:pPr>
            <a:r>
              <a:rPr lang="en-US" sz="1700" dirty="0">
                <a:solidFill>
                  <a:srgbClr val="1E293B"/>
                </a:solidFill>
                <a:latin typeface="Quattrocento Sans" pitchFamily="34" charset="0"/>
                <a:ea typeface="Quattrocento Sans" pitchFamily="34" charset="-122"/>
                <a:cs typeface="Quattrocento Sans" pitchFamily="34" charset="-120"/>
              </a:rPr>
              <a:t>Limited to account-level and usage features — no network quality, customer service, or real-time behavioral data</a:t>
            </a:r>
            <a:endParaRPr lang="en-US" sz="1700" dirty="0"/>
          </a:p>
          <a:p>
            <a:pPr marL="269875" indent="-269875" algn="l">
              <a:lnSpc>
                <a:spcPct val="160000"/>
              </a:lnSpc>
              <a:spcBef>
                <a:spcPts val="10"/>
              </a:spcBef>
              <a:buSzPct val="100000"/>
              <a:buChar char="•"/>
            </a:pPr>
            <a:r>
              <a:rPr lang="en-US" sz="1700" dirty="0">
                <a:solidFill>
                  <a:srgbClr val="1E293B"/>
                </a:solidFill>
                <a:latin typeface="Quattrocento Sans" pitchFamily="34" charset="0"/>
                <a:ea typeface="Quattrocento Sans" pitchFamily="34" charset="-122"/>
                <a:cs typeface="Quattrocento Sans" pitchFamily="34" charset="-120"/>
              </a:rPr>
              <a:t>Single-time snapshot — no temporal churn trajectory modeling</a:t>
            </a:r>
            <a:endParaRPr lang="en-US" sz="1700" dirty="0"/>
          </a:p>
          <a:p>
            <a:pPr marL="269875" indent="-269875" algn="l">
              <a:lnSpc>
                <a:spcPct val="160000"/>
              </a:lnSpc>
              <a:spcBef>
                <a:spcPts val="10"/>
              </a:spcBef>
              <a:buSzPct val="100000"/>
              <a:buChar char="•"/>
            </a:pPr>
            <a:r>
              <a:rPr lang="en-US" sz="1700" dirty="0">
                <a:solidFill>
                  <a:srgbClr val="1E293B"/>
                </a:solidFill>
                <a:latin typeface="Quattrocento Sans" pitchFamily="34" charset="0"/>
                <a:ea typeface="Quattrocento Sans" pitchFamily="34" charset="-122"/>
                <a:cs typeface="Quattrocento Sans" pitchFamily="34" charset="-120"/>
              </a:rPr>
              <a:t>Save-rate assumption (20%) is conservative but unvalidated in live A/B testing</a:t>
            </a:r>
            <a:endParaRPr lang="en-US" sz="1700" dirty="0"/>
          </a:p>
        </p:txBody>
      </p:sp>
      <p:sp>
        <p:nvSpPr>
          <p:cNvPr id="17" name="Shape 14"/>
          <p:cNvSpPr/>
          <p:nvPr/>
        </p:nvSpPr>
        <p:spPr>
          <a:xfrm>
            <a:off x="8128000" y="1651000"/>
            <a:ext cx="7366000" cy="571500"/>
          </a:xfrm>
          <a:prstGeom prst="rect">
            <a:avLst/>
          </a:prstGeom>
          <a:solidFill>
            <a:srgbClr val="2ECC71"/>
          </a:solidFill>
          <a:ln/>
        </p:spPr>
      </p:sp>
      <p:sp>
        <p:nvSpPr>
          <p:cNvPr id="18" name="Text 15"/>
          <p:cNvSpPr/>
          <p:nvPr/>
        </p:nvSpPr>
        <p:spPr>
          <a:xfrm>
            <a:off x="8382000" y="1651000"/>
            <a:ext cx="6858000" cy="5715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Liter" pitchFamily="34" charset="0"/>
                <a:ea typeface="Liter" pitchFamily="34" charset="-122"/>
                <a:cs typeface="Liter" pitchFamily="34" charset="-120"/>
              </a:rPr>
              <a:t>Path to Improvement</a:t>
            </a:r>
            <a:endParaRPr lang="en-US" sz="1800" dirty="0"/>
          </a:p>
        </p:txBody>
      </p:sp>
      <p:sp>
        <p:nvSpPr>
          <p:cNvPr id="19" name="Text 16"/>
          <p:cNvSpPr/>
          <p:nvPr/>
        </p:nvSpPr>
        <p:spPr>
          <a:xfrm>
            <a:off x="8128000" y="2413000"/>
            <a:ext cx="7366000" cy="3556000"/>
          </a:xfrm>
          <a:prstGeom prst="rect">
            <a:avLst/>
          </a:prstGeom>
          <a:noFill/>
          <a:ln/>
        </p:spPr>
        <p:txBody>
          <a:bodyPr wrap="square" lIns="0" tIns="0" rIns="0" bIns="0" rtlCol="0" anchor="t"/>
          <a:lstStyle/>
          <a:p>
            <a:pPr marL="269875" indent="-269875" algn="l">
              <a:lnSpc>
                <a:spcPct val="160000"/>
              </a:lnSpc>
              <a:spcBef>
                <a:spcPts val="10"/>
              </a:spcBef>
              <a:buSzPct val="100000"/>
              <a:buChar char="•"/>
            </a:pPr>
            <a:r>
              <a:rPr lang="en-US" sz="1700" b="1" dirty="0">
                <a:solidFill>
                  <a:srgbClr val="1E293B"/>
                </a:solidFill>
                <a:latin typeface="Quattrocento Sans" pitchFamily="34" charset="0"/>
                <a:ea typeface="Quattrocento Sans" pitchFamily="34" charset="-122"/>
                <a:cs typeface="Quattrocento Sans" pitchFamily="34" charset="-120"/>
              </a:rPr>
              <a:t>Network-quality features</a:t>
            </a:r>
            <a:r>
              <a:rPr lang="en-US" sz="1700" dirty="0">
                <a:solidFill>
                  <a:srgbClr val="1E293B"/>
                </a:solidFill>
                <a:latin typeface="Quattrocento Sans" pitchFamily="34" charset="0"/>
                <a:ea typeface="Quattrocento Sans" pitchFamily="34" charset="-122"/>
                <a:cs typeface="Quattrocento Sans" pitchFamily="34" charset="-120"/>
              </a:rPr>
              <a:t> — drop rates, latency, handover failures would significantly lift predictive power</a:t>
            </a:r>
            <a:endParaRPr lang="en-US" sz="1700" dirty="0"/>
          </a:p>
          <a:p>
            <a:pPr marL="269875" indent="-269875" algn="l">
              <a:lnSpc>
                <a:spcPct val="160000"/>
              </a:lnSpc>
              <a:spcBef>
                <a:spcPts val="10"/>
              </a:spcBef>
              <a:buSzPct val="100000"/>
              <a:buChar char="•"/>
            </a:pPr>
            <a:r>
              <a:rPr lang="en-US" sz="1700" b="1" dirty="0">
                <a:solidFill>
                  <a:srgbClr val="1E293B"/>
                </a:solidFill>
                <a:latin typeface="Quattrocento Sans" pitchFamily="34" charset="0"/>
                <a:ea typeface="Quattrocento Sans" pitchFamily="34" charset="-122"/>
                <a:cs typeface="Quattrocento Sans" pitchFamily="34" charset="-120"/>
              </a:rPr>
              <a:t>Customer service logs</a:t>
            </a:r>
            <a:r>
              <a:rPr lang="en-US" sz="1700" dirty="0">
                <a:solidFill>
                  <a:srgbClr val="1E293B"/>
                </a:solidFill>
                <a:latin typeface="Quattrocento Sans" pitchFamily="34" charset="0"/>
                <a:ea typeface="Quattrocento Sans" pitchFamily="34" charset="-122"/>
                <a:cs typeface="Quattrocento Sans" pitchFamily="34" charset="-120"/>
              </a:rPr>
              <a:t> — complaint frequency, resolution time are strong churn precursors</a:t>
            </a:r>
            <a:endParaRPr lang="en-US" sz="1700" dirty="0"/>
          </a:p>
          <a:p>
            <a:pPr marL="269875" indent="-269875" algn="l">
              <a:lnSpc>
                <a:spcPct val="160000"/>
              </a:lnSpc>
              <a:spcBef>
                <a:spcPts val="10"/>
              </a:spcBef>
              <a:buSzPct val="100000"/>
              <a:buChar char="•"/>
            </a:pPr>
            <a:r>
              <a:rPr lang="en-US" sz="1700" b="1" dirty="0">
                <a:solidFill>
                  <a:srgbClr val="1E293B"/>
                </a:solidFill>
                <a:latin typeface="Quattrocento Sans" pitchFamily="34" charset="0"/>
                <a:ea typeface="Quattrocento Sans" pitchFamily="34" charset="-122"/>
                <a:cs typeface="Quattrocento Sans" pitchFamily="34" charset="-120"/>
              </a:rPr>
              <a:t>Socio-economic overlays</a:t>
            </a:r>
            <a:r>
              <a:rPr lang="en-US" sz="1700" dirty="0">
                <a:solidFill>
                  <a:srgbClr val="1E293B"/>
                </a:solidFill>
                <a:latin typeface="Quattrocento Sans" pitchFamily="34" charset="0"/>
                <a:ea typeface="Quattrocento Sans" pitchFamily="34" charset="-122"/>
                <a:cs typeface="Quattrocento Sans" pitchFamily="34" charset="-120"/>
              </a:rPr>
              <a:t> — income proxies, regional competition intensity</a:t>
            </a:r>
            <a:endParaRPr lang="en-US" sz="1700" dirty="0"/>
          </a:p>
          <a:p>
            <a:pPr marL="269875" indent="-269875" algn="l">
              <a:lnSpc>
                <a:spcPct val="160000"/>
              </a:lnSpc>
              <a:spcBef>
                <a:spcPts val="10"/>
              </a:spcBef>
              <a:buSzPct val="100000"/>
              <a:buChar char="•"/>
            </a:pPr>
            <a:r>
              <a:rPr lang="en-US" sz="1700" b="1" dirty="0">
                <a:solidFill>
                  <a:srgbClr val="1E293B"/>
                </a:solidFill>
                <a:latin typeface="Quattrocento Sans" pitchFamily="34" charset="0"/>
                <a:ea typeface="Quattrocento Sans" pitchFamily="34" charset="-122"/>
                <a:cs typeface="Quattrocento Sans" pitchFamily="34" charset="-120"/>
              </a:rPr>
              <a:t>Real-time behavioral streams</a:t>
            </a:r>
            <a:r>
              <a:rPr lang="en-US" sz="1700" dirty="0">
                <a:solidFill>
                  <a:srgbClr val="1E293B"/>
                </a:solidFill>
                <a:latin typeface="Quattrocento Sans" pitchFamily="34" charset="0"/>
                <a:ea typeface="Quattrocento Sans" pitchFamily="34" charset="-122"/>
                <a:cs typeface="Quattrocento Sans" pitchFamily="34" charset="-120"/>
              </a:rPr>
              <a:t> — app usage, location patterns, payment delays</a:t>
            </a:r>
            <a:endParaRPr lang="en-US" sz="1700" dirty="0"/>
          </a:p>
        </p:txBody>
      </p:sp>
      <p:sp>
        <p:nvSpPr>
          <p:cNvPr id="20" name="Shape 17"/>
          <p:cNvSpPr/>
          <p:nvPr/>
        </p:nvSpPr>
        <p:spPr>
          <a:xfrm>
            <a:off x="762000" y="6350000"/>
            <a:ext cx="14732000" cy="1270000"/>
          </a:xfrm>
          <a:prstGeom prst="rect">
            <a:avLst/>
          </a:prstGeom>
          <a:solidFill>
            <a:srgbClr val="2B4C7E"/>
          </a:solidFill>
          <a:ln/>
        </p:spPr>
      </p:sp>
      <p:sp>
        <p:nvSpPr>
          <p:cNvPr id="21" name="Text 18"/>
          <p:cNvSpPr/>
          <p:nvPr/>
        </p:nvSpPr>
        <p:spPr>
          <a:xfrm>
            <a:off x="1143000" y="6477000"/>
            <a:ext cx="13970000" cy="1016000"/>
          </a:xfrm>
          <a:prstGeom prst="rect">
            <a:avLst/>
          </a:prstGeom>
          <a:noFill/>
          <a:ln/>
        </p:spPr>
        <p:txBody>
          <a:bodyPr wrap="square" lIns="0" tIns="0" rIns="0" bIns="0" rtlCol="0" anchor="ctr"/>
          <a:lstStyle/>
          <a:p>
            <a:pPr algn="l">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Core message:</a:t>
            </a:r>
            <a:r>
              <a:rPr lang="en-US" sz="1800" dirty="0">
                <a:solidFill>
                  <a:srgbClr val="FFFFFF"/>
                </a:solidFill>
                <a:latin typeface="Quattrocento Sans" pitchFamily="34" charset="0"/>
                <a:ea typeface="Quattrocento Sans" pitchFamily="34" charset="-122"/>
                <a:cs typeface="Quattrocento Sans" pitchFamily="34" charset="-120"/>
              </a:rPr>
              <a:t> This proof-of-concept demonstrates </a:t>
            </a:r>
            <a:r>
              <a:rPr lang="en-US" sz="1800" b="1" dirty="0">
                <a:solidFill>
                  <a:srgbClr val="FFFFFF"/>
                </a:solidFill>
                <a:latin typeface="Quattrocento Sans" pitchFamily="34" charset="0"/>
                <a:ea typeface="Quattrocento Sans" pitchFamily="34" charset="-122"/>
                <a:cs typeface="Quattrocento Sans" pitchFamily="34" charset="-120"/>
              </a:rPr>
              <a:t>ROI-positive targeting</a:t>
            </a:r>
            <a:r>
              <a:rPr lang="en-US" sz="1800" dirty="0">
                <a:solidFill>
                  <a:srgbClr val="FFFFFF"/>
                </a:solidFill>
                <a:latin typeface="Quattrocento Sans" pitchFamily="34" charset="0"/>
                <a:ea typeface="Quattrocento Sans" pitchFamily="34" charset="-122"/>
                <a:cs typeface="Quattrocento Sans" pitchFamily="34" charset="-120"/>
              </a:rPr>
              <a:t> even with limited features. Production deployment with richer data would significantly lift both accuracy and financial returns — the business case only gets stronger.</a:t>
            </a:r>
            <a:endParaRPr lang="en-US" sz="1800" dirty="0"/>
          </a:p>
        </p:txBody>
      </p:sp>
      <p:sp>
        <p:nvSpPr>
          <p:cNvPr id="22" name="Text 19"/>
          <p:cNvSpPr/>
          <p:nvPr/>
        </p:nvSpPr>
        <p:spPr>
          <a:xfrm>
            <a:off x="15113000" y="8826500"/>
            <a:ext cx="635000" cy="254000"/>
          </a:xfrm>
          <a:prstGeom prst="rect">
            <a:avLst/>
          </a:prstGeom>
          <a:noFill/>
          <a:ln/>
        </p:spPr>
        <p:txBody>
          <a:bodyPr wrap="none" lIns="0" tIns="0" rIns="0" bIns="0" rtlCol="0" anchor="ctr"/>
          <a:lstStyle/>
          <a:p>
            <a:pPr algn="r">
              <a:lnSpc>
                <a:spcPct val="130000"/>
              </a:lnSpc>
            </a:pPr>
            <a:r>
              <a:rPr lang="en-US" sz="1200" dirty="0">
                <a:solidFill>
                  <a:srgbClr val="64748B"/>
                </a:solidFill>
                <a:latin typeface="Quattrocento Sans" pitchFamily="34" charset="0"/>
                <a:ea typeface="Quattrocento Sans" pitchFamily="34" charset="-122"/>
                <a:cs typeface="Quattrocento Sans" pitchFamily="34" charset="-120"/>
              </a:rPr>
              <a:t>10</a:t>
            </a:r>
            <a:endParaRPr lang="en-US" sz="12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B4C7E"/>
        </a:solidFill>
        <a:effectLst/>
      </p:bgPr>
    </p:bg>
    <p:spTree>
      <p:nvGrpSpPr>
        <p:cNvPr id="1" name=""/>
        <p:cNvGrpSpPr/>
        <p:nvPr/>
      </p:nvGrpSpPr>
      <p:grpSpPr>
        <a:xfrm>
          <a:off x="0" y="0"/>
          <a:ext cx="0" cy="0"/>
          <a:chOff x="0" y="0"/>
          <a:chExt cx="0" cy="0"/>
        </a:xfrm>
      </p:grpSpPr>
      <p:sp>
        <p:nvSpPr>
          <p:cNvPr id="3" name="Text 0"/>
          <p:cNvSpPr/>
          <p:nvPr/>
        </p:nvSpPr>
        <p:spPr>
          <a:xfrm>
            <a:off x="762000" y="1016000"/>
            <a:ext cx="5080000" cy="2286000"/>
          </a:xfrm>
          <a:prstGeom prst="rect">
            <a:avLst/>
          </a:prstGeom>
          <a:noFill/>
          <a:ln/>
        </p:spPr>
        <p:txBody>
          <a:bodyPr wrap="none" lIns="0" tIns="0" rIns="0" bIns="0" rtlCol="0" anchor="ctr"/>
          <a:lstStyle/>
          <a:p>
            <a:pPr algn="l">
              <a:lnSpc>
                <a:spcPct val="120000"/>
              </a:lnSpc>
            </a:pPr>
            <a:r>
              <a:rPr lang="en-US" sz="18000" dirty="0">
                <a:solidFill>
                  <a:srgbClr val="FFFFFF"/>
                </a:solidFill>
                <a:latin typeface="Liter" pitchFamily="34" charset="0"/>
                <a:ea typeface="Liter" pitchFamily="34" charset="-122"/>
                <a:cs typeface="Liter" pitchFamily="34" charset="-120"/>
              </a:rPr>
              <a:t>05</a:t>
            </a:r>
            <a:endParaRPr lang="en-US" sz="18000" dirty="0"/>
          </a:p>
        </p:txBody>
      </p:sp>
      <p:sp>
        <p:nvSpPr>
          <p:cNvPr id="4" name="Text 1"/>
          <p:cNvSpPr/>
          <p:nvPr/>
        </p:nvSpPr>
        <p:spPr>
          <a:xfrm>
            <a:off x="1016000" y="3556000"/>
            <a:ext cx="3810000" cy="381000"/>
          </a:xfrm>
          <a:prstGeom prst="rect">
            <a:avLst/>
          </a:prstGeom>
          <a:noFill/>
          <a:ln/>
        </p:spPr>
        <p:txBody>
          <a:bodyPr wrap="none" lIns="0" tIns="0" rIns="0" bIns="0" rtlCol="0" anchor="ctr"/>
          <a:lstStyle/>
          <a:p>
            <a:pPr algn="l">
              <a:lnSpc>
                <a:spcPct val="120000"/>
              </a:lnSpc>
            </a:pPr>
            <a:r>
              <a:rPr lang="en-US" sz="1400" kern="0" spc="300" dirty="0">
                <a:solidFill>
                  <a:srgbClr val="3498DB"/>
                </a:solidFill>
                <a:latin typeface="Liter" pitchFamily="34" charset="0"/>
                <a:ea typeface="Liter" pitchFamily="34" charset="-122"/>
                <a:cs typeface="Liter" pitchFamily="34" charset="-120"/>
              </a:rPr>
              <a:t>CHAPTER FIVE</a:t>
            </a:r>
            <a:endParaRPr lang="en-US" sz="1400" dirty="0"/>
          </a:p>
        </p:txBody>
      </p:sp>
      <p:sp>
        <p:nvSpPr>
          <p:cNvPr id="5" name="Shape 2"/>
          <p:cNvSpPr/>
          <p:nvPr/>
        </p:nvSpPr>
        <p:spPr>
          <a:xfrm>
            <a:off x="1016000" y="4064000"/>
            <a:ext cx="1270000" cy="50800"/>
          </a:xfrm>
          <a:prstGeom prst="rect">
            <a:avLst/>
          </a:prstGeom>
          <a:solidFill>
            <a:srgbClr val="D9534F"/>
          </a:solidFill>
          <a:ln/>
        </p:spPr>
      </p:sp>
      <p:sp>
        <p:nvSpPr>
          <p:cNvPr id="6" name="Text 3"/>
          <p:cNvSpPr/>
          <p:nvPr/>
        </p:nvSpPr>
        <p:spPr>
          <a:xfrm>
            <a:off x="1016000" y="4318000"/>
            <a:ext cx="11430000" cy="889000"/>
          </a:xfrm>
          <a:prstGeom prst="rect">
            <a:avLst/>
          </a:prstGeom>
          <a:noFill/>
          <a:ln/>
        </p:spPr>
        <p:txBody>
          <a:bodyPr wrap="none" lIns="0" tIns="0" rIns="0" bIns="0" rtlCol="0" anchor="ctr"/>
          <a:lstStyle/>
          <a:p>
            <a:pPr algn="l">
              <a:lnSpc>
                <a:spcPct val="120000"/>
              </a:lnSpc>
            </a:pPr>
            <a:r>
              <a:rPr lang="en-US" sz="4800" dirty="0">
                <a:solidFill>
                  <a:srgbClr val="FFFFFF"/>
                </a:solidFill>
                <a:latin typeface="Liter" pitchFamily="34" charset="0"/>
                <a:ea typeface="Liter" pitchFamily="34" charset="-122"/>
                <a:cs typeface="Liter" pitchFamily="34" charset="-120"/>
              </a:rPr>
              <a:t>Business Impact</a:t>
            </a:r>
            <a:endParaRPr lang="en-US" sz="4800" dirty="0"/>
          </a:p>
        </p:txBody>
      </p:sp>
      <p:sp>
        <p:nvSpPr>
          <p:cNvPr id="7" name="Text 4"/>
          <p:cNvSpPr/>
          <p:nvPr/>
        </p:nvSpPr>
        <p:spPr>
          <a:xfrm>
            <a:off x="1016000" y="5334000"/>
            <a:ext cx="10160000" cy="1016000"/>
          </a:xfrm>
          <a:prstGeom prst="rect">
            <a:avLst/>
          </a:prstGeom>
          <a:noFill/>
          <a:ln/>
        </p:spPr>
        <p:txBody>
          <a:bodyPr wrap="square" lIns="0" tIns="0" rIns="0" bIns="0" rtlCol="0" anchor="t"/>
          <a:lstStyle/>
          <a:p>
            <a:pPr algn="l">
              <a:lnSpc>
                <a:spcPct val="150000"/>
              </a:lnSpc>
            </a:pPr>
            <a:r>
              <a:rPr lang="en-US" sz="2000" dirty="0">
                <a:solidFill>
                  <a:srgbClr val="94A3B8"/>
                </a:solidFill>
                <a:latin typeface="Quattrocento Sans" pitchFamily="34" charset="0"/>
                <a:ea typeface="Quattrocento Sans" pitchFamily="34" charset="-122"/>
                <a:cs typeface="Quattrocento Sans" pitchFamily="34" charset="-120"/>
              </a:rPr>
              <a:t>From Model Scores to Revenue — Translating churn predictions</a:t>
            </a:r>
            <a:endParaRPr lang="en-US" sz="2000" dirty="0"/>
          </a:p>
          <a:p>
            <a:pPr algn="l">
              <a:lnSpc>
                <a:spcPct val="150000"/>
              </a:lnSpc>
            </a:pPr>
            <a:r>
              <a:rPr lang="en-US" sz="2000" dirty="0">
                <a:solidFill>
                  <a:srgbClr val="94A3B8"/>
                </a:solidFill>
                <a:latin typeface="Quattrocento Sans" pitchFamily="34" charset="0"/>
                <a:ea typeface="Quattrocento Sans" pitchFamily="34" charset="-122"/>
                <a:cs typeface="Quattrocento Sans" pitchFamily="34" charset="-120"/>
              </a:rPr>
              <a:t>into an ROI-positive retention strategy</a:t>
            </a:r>
            <a:endParaRPr lang="en-US" sz="2000" dirty="0"/>
          </a:p>
        </p:txBody>
      </p:sp>
      <p:sp>
        <p:nvSpPr>
          <p:cNvPr id="8" name="Shape 5"/>
          <p:cNvSpPr/>
          <p:nvPr/>
        </p:nvSpPr>
        <p:spPr>
          <a:xfrm>
            <a:off x="13716000" y="3810000"/>
            <a:ext cx="1524000" cy="1524000"/>
          </a:xfrm>
          <a:custGeom>
            <a:avLst/>
            <a:gdLst/>
            <a:ahLst/>
            <a:cxnLst/>
            <a:rect l="l" t="t" r="r" b="b"/>
            <a:pathLst>
              <a:path w="1524000" h="1524000">
                <a:moveTo>
                  <a:pt x="190500" y="190500"/>
                </a:moveTo>
                <a:cubicBezTo>
                  <a:pt x="190500" y="137815"/>
                  <a:pt x="147935" y="95250"/>
                  <a:pt x="95250" y="95250"/>
                </a:cubicBezTo>
                <a:cubicBezTo>
                  <a:pt x="42565" y="95250"/>
                  <a:pt x="0" y="137815"/>
                  <a:pt x="0" y="190500"/>
                </a:cubicBezTo>
                <a:lnTo>
                  <a:pt x="0" y="1190625"/>
                </a:lnTo>
                <a:cubicBezTo>
                  <a:pt x="0" y="1322189"/>
                  <a:pt x="106561" y="1428750"/>
                  <a:pt x="238125" y="1428750"/>
                </a:cubicBezTo>
                <a:lnTo>
                  <a:pt x="1428750" y="1428750"/>
                </a:lnTo>
                <a:cubicBezTo>
                  <a:pt x="1481435" y="1428750"/>
                  <a:pt x="1524000" y="1386185"/>
                  <a:pt x="1524000" y="1333500"/>
                </a:cubicBezTo>
                <a:cubicBezTo>
                  <a:pt x="1524000" y="1280815"/>
                  <a:pt x="1481435" y="1238250"/>
                  <a:pt x="1428750" y="1238250"/>
                </a:cubicBezTo>
                <a:lnTo>
                  <a:pt x="238125" y="1238250"/>
                </a:lnTo>
                <a:cubicBezTo>
                  <a:pt x="211931" y="1238250"/>
                  <a:pt x="190500" y="1216819"/>
                  <a:pt x="190500" y="1190625"/>
                </a:cubicBezTo>
                <a:lnTo>
                  <a:pt x="190500" y="190500"/>
                </a:lnTo>
                <a:close/>
                <a:moveTo>
                  <a:pt x="1400770" y="448270"/>
                </a:moveTo>
                <a:cubicBezTo>
                  <a:pt x="1437977" y="411063"/>
                  <a:pt x="1437977" y="350639"/>
                  <a:pt x="1400770" y="313432"/>
                </a:cubicBezTo>
                <a:cubicBezTo>
                  <a:pt x="1363563" y="276225"/>
                  <a:pt x="1303139" y="276225"/>
                  <a:pt x="1265932" y="313432"/>
                </a:cubicBezTo>
                <a:lnTo>
                  <a:pt x="952500" y="627162"/>
                </a:lnTo>
                <a:lnTo>
                  <a:pt x="781645" y="456605"/>
                </a:lnTo>
                <a:cubicBezTo>
                  <a:pt x="744438" y="419398"/>
                  <a:pt x="684014" y="419398"/>
                  <a:pt x="646807" y="456605"/>
                </a:cubicBezTo>
                <a:lnTo>
                  <a:pt x="361057" y="742355"/>
                </a:lnTo>
                <a:cubicBezTo>
                  <a:pt x="323850" y="779562"/>
                  <a:pt x="323850" y="839986"/>
                  <a:pt x="361057" y="877193"/>
                </a:cubicBezTo>
                <a:cubicBezTo>
                  <a:pt x="398264" y="914400"/>
                  <a:pt x="458688" y="914400"/>
                  <a:pt x="495895" y="877193"/>
                </a:cubicBezTo>
                <a:lnTo>
                  <a:pt x="714375" y="658713"/>
                </a:lnTo>
                <a:lnTo>
                  <a:pt x="885230" y="829568"/>
                </a:lnTo>
                <a:cubicBezTo>
                  <a:pt x="922437" y="866775"/>
                  <a:pt x="982861" y="866775"/>
                  <a:pt x="1020068" y="829568"/>
                </a:cubicBezTo>
                <a:lnTo>
                  <a:pt x="1401068" y="448568"/>
                </a:lnTo>
                <a:close/>
              </a:path>
            </a:pathLst>
          </a:custGeom>
          <a:solidFill>
            <a:srgbClr val="FFFFFF">
              <a:alpha val="8235"/>
            </a:srgbClr>
          </a:solidFill>
          <a:ln/>
        </p:spPr>
      </p:sp>
      <p:sp>
        <p:nvSpPr>
          <p:cNvPr id="9" name="Shape 6"/>
          <p:cNvSpPr/>
          <p:nvPr/>
        </p:nvSpPr>
        <p:spPr>
          <a:xfrm>
            <a:off x="0" y="9093200"/>
            <a:ext cx="16256000" cy="50800"/>
          </a:xfrm>
          <a:prstGeom prst="rect">
            <a:avLst/>
          </a:prstGeom>
          <a:solidFill>
            <a:srgbClr val="2ECC71"/>
          </a:solidFill>
          <a:ln/>
        </p:spPr>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243E63"/>
          </a:solidFill>
          <a:ln/>
        </p:spPr>
      </p:sp>
      <p:sp>
        <p:nvSpPr>
          <p:cNvPr id="4" name="Text 1"/>
          <p:cNvSpPr/>
          <p:nvPr/>
        </p:nvSpPr>
        <p:spPr>
          <a:xfrm>
            <a:off x="127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Problem &amp; Motivation</a:t>
            </a:r>
            <a:endParaRPr lang="en-US" sz="1100" dirty="0"/>
          </a:p>
        </p:txBody>
      </p:sp>
      <p:sp>
        <p:nvSpPr>
          <p:cNvPr id="5" name="Text 2"/>
          <p:cNvSpPr/>
          <p:nvPr/>
        </p:nvSpPr>
        <p:spPr>
          <a:xfrm>
            <a:off x="2794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Data &amp; Methodology</a:t>
            </a:r>
            <a:endParaRPr lang="en-US" sz="1100" dirty="0"/>
          </a:p>
        </p:txBody>
      </p:sp>
      <p:sp>
        <p:nvSpPr>
          <p:cNvPr id="6" name="Text 3"/>
          <p:cNvSpPr/>
          <p:nvPr/>
        </p:nvSpPr>
        <p:spPr>
          <a:xfrm>
            <a:off x="5461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Exploratory Analysis</a:t>
            </a:r>
            <a:endParaRPr lang="en-US" sz="1100" dirty="0"/>
          </a:p>
        </p:txBody>
      </p:sp>
      <p:sp>
        <p:nvSpPr>
          <p:cNvPr id="7" name="Text 4"/>
          <p:cNvSpPr/>
          <p:nvPr/>
        </p:nvSpPr>
        <p:spPr>
          <a:xfrm>
            <a:off x="8128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Modeling &amp; Results</a:t>
            </a:r>
            <a:endParaRPr lang="en-US" sz="1100" dirty="0"/>
          </a:p>
        </p:txBody>
      </p:sp>
      <p:sp>
        <p:nvSpPr>
          <p:cNvPr id="8" name="Shape 5"/>
          <p:cNvSpPr/>
          <p:nvPr/>
        </p:nvSpPr>
        <p:spPr>
          <a:xfrm>
            <a:off x="10795000" y="63500"/>
            <a:ext cx="2540000" cy="381000"/>
          </a:xfrm>
          <a:prstGeom prst="roundRect">
            <a:avLst>
              <a:gd name="adj" fmla="val 8000"/>
            </a:avLst>
          </a:prstGeom>
          <a:solidFill>
            <a:srgbClr val="3A5A8C"/>
          </a:solidFill>
          <a:ln/>
        </p:spPr>
      </p:sp>
      <p:sp>
        <p:nvSpPr>
          <p:cNvPr id="9" name="Text 6"/>
          <p:cNvSpPr/>
          <p:nvPr/>
        </p:nvSpPr>
        <p:spPr>
          <a:xfrm>
            <a:off x="10795000" y="63500"/>
            <a:ext cx="2540000" cy="381000"/>
          </a:xfrm>
          <a:prstGeom prst="rect">
            <a:avLst/>
          </a:prstGeom>
          <a:noFill/>
          <a:ln/>
        </p:spPr>
        <p:txBody>
          <a:bodyPr wrap="none" lIns="0" tIns="0" rIns="0" bIns="0" rtlCol="0" anchor="ctr"/>
          <a:lstStyle/>
          <a:p>
            <a:pPr algn="ctr">
              <a:lnSpc>
                <a:spcPct val="120000"/>
              </a:lnSpc>
            </a:pPr>
            <a:r>
              <a:rPr lang="en-US" sz="1100" b="1" dirty="0">
                <a:solidFill>
                  <a:srgbClr val="FFFFFF"/>
                </a:solidFill>
                <a:latin typeface="Quattrocento Sans" pitchFamily="34" charset="0"/>
                <a:ea typeface="Quattrocento Sans" pitchFamily="34" charset="-122"/>
                <a:cs typeface="Quattrocento Sans" pitchFamily="34" charset="-120"/>
              </a:rPr>
              <a:t>Business Impact</a:t>
            </a:r>
            <a:endParaRPr lang="en-US" sz="1100" dirty="0"/>
          </a:p>
        </p:txBody>
      </p:sp>
      <p:sp>
        <p:nvSpPr>
          <p:cNvPr id="10" name="Text 7"/>
          <p:cNvSpPr/>
          <p:nvPr/>
        </p:nvSpPr>
        <p:spPr>
          <a:xfrm>
            <a:off x="13462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Roadmap</a:t>
            </a:r>
            <a:endParaRPr lang="en-US" sz="1100" dirty="0"/>
          </a:p>
        </p:txBody>
      </p:sp>
      <p:sp>
        <p:nvSpPr>
          <p:cNvPr id="11" name="Shape 8"/>
          <p:cNvSpPr/>
          <p:nvPr/>
        </p:nvSpPr>
        <p:spPr>
          <a:xfrm>
            <a:off x="0" y="508000"/>
            <a:ext cx="16256000" cy="25400"/>
          </a:xfrm>
          <a:prstGeom prst="rect">
            <a:avLst/>
          </a:prstGeom>
          <a:solidFill>
            <a:srgbClr val="2B4C7E"/>
          </a:solidFill>
          <a:ln/>
        </p:spPr>
      </p:sp>
      <p:sp>
        <p:nvSpPr>
          <p:cNvPr id="12" name="Text 9"/>
          <p:cNvSpPr/>
          <p:nvPr/>
        </p:nvSpPr>
        <p:spPr>
          <a:xfrm>
            <a:off x="762000" y="736600"/>
            <a:ext cx="10160000" cy="508000"/>
          </a:xfrm>
          <a:prstGeom prst="rect">
            <a:avLst/>
          </a:prstGeom>
          <a:noFill/>
          <a:ln/>
        </p:spPr>
        <p:txBody>
          <a:bodyPr wrap="none" lIns="0" tIns="0" rIns="0" bIns="0" rtlCol="0" anchor="ctr"/>
          <a:lstStyle/>
          <a:p>
            <a:pPr algn="l">
              <a:lnSpc>
                <a:spcPct val="120000"/>
              </a:lnSpc>
            </a:pPr>
            <a:r>
              <a:rPr lang="en-US" sz="2800" dirty="0">
                <a:solidFill>
                  <a:srgbClr val="2B4C7E"/>
                </a:solidFill>
                <a:latin typeface="Liter" pitchFamily="34" charset="0"/>
                <a:ea typeface="Liter" pitchFamily="34" charset="-122"/>
                <a:cs typeface="Liter" pitchFamily="34" charset="-120"/>
              </a:rPr>
              <a:t>ROI Simulation — Assumptions &amp; Results</a:t>
            </a:r>
            <a:endParaRPr lang="en-US" sz="2800" dirty="0"/>
          </a:p>
        </p:txBody>
      </p:sp>
      <p:sp>
        <p:nvSpPr>
          <p:cNvPr id="13" name="Shape 10"/>
          <p:cNvSpPr/>
          <p:nvPr/>
        </p:nvSpPr>
        <p:spPr>
          <a:xfrm>
            <a:off x="762000" y="1308100"/>
            <a:ext cx="762000" cy="50800"/>
          </a:xfrm>
          <a:prstGeom prst="rect">
            <a:avLst/>
          </a:prstGeom>
          <a:solidFill>
            <a:srgbClr val="2ECC71"/>
          </a:solidFill>
          <a:ln/>
        </p:spPr>
      </p:sp>
      <p:sp>
        <p:nvSpPr>
          <p:cNvPr id="14" name="Text 11"/>
          <p:cNvSpPr/>
          <p:nvPr/>
        </p:nvSpPr>
        <p:spPr>
          <a:xfrm>
            <a:off x="762000" y="1498600"/>
            <a:ext cx="2540000" cy="317500"/>
          </a:xfrm>
          <a:prstGeom prst="rect">
            <a:avLst/>
          </a:prstGeom>
          <a:noFill/>
          <a:ln/>
        </p:spPr>
        <p:txBody>
          <a:bodyPr wrap="none" lIns="0" tIns="0" rIns="0" bIns="0" rtlCol="0" anchor="ctr"/>
          <a:lstStyle/>
          <a:p>
            <a:pPr algn="l">
              <a:lnSpc>
                <a:spcPct val="120000"/>
              </a:lnSpc>
            </a:pPr>
            <a:r>
              <a:rPr lang="en-US" sz="1200" kern="0" spc="200" dirty="0">
                <a:solidFill>
                  <a:srgbClr val="64748B"/>
                </a:solidFill>
                <a:latin typeface="Liter" pitchFamily="34" charset="0"/>
                <a:ea typeface="Liter" pitchFamily="34" charset="-122"/>
                <a:cs typeface="Liter" pitchFamily="34" charset="-120"/>
              </a:rPr>
              <a:t>ASSUMPTIONS</a:t>
            </a:r>
            <a:endParaRPr lang="en-US" sz="1200" dirty="0"/>
          </a:p>
        </p:txBody>
      </p:sp>
      <p:sp>
        <p:nvSpPr>
          <p:cNvPr id="15" name="Shape 12"/>
          <p:cNvSpPr/>
          <p:nvPr/>
        </p:nvSpPr>
        <p:spPr>
          <a:xfrm>
            <a:off x="762000" y="1879600"/>
            <a:ext cx="3429000" cy="1143000"/>
          </a:xfrm>
          <a:prstGeom prst="rect">
            <a:avLst/>
          </a:prstGeom>
          <a:solidFill>
            <a:srgbClr val="FFFFFF"/>
          </a:solidFill>
          <a:ln/>
        </p:spPr>
      </p:sp>
      <p:sp>
        <p:nvSpPr>
          <p:cNvPr id="16" name="Shape 13"/>
          <p:cNvSpPr/>
          <p:nvPr/>
        </p:nvSpPr>
        <p:spPr>
          <a:xfrm>
            <a:off x="762000" y="1879600"/>
            <a:ext cx="50800" cy="1143000"/>
          </a:xfrm>
          <a:prstGeom prst="rect">
            <a:avLst/>
          </a:prstGeom>
          <a:solidFill>
            <a:srgbClr val="3498DB"/>
          </a:solidFill>
          <a:ln/>
        </p:spPr>
      </p:sp>
      <p:sp>
        <p:nvSpPr>
          <p:cNvPr id="17" name="Text 14"/>
          <p:cNvSpPr/>
          <p:nvPr/>
        </p:nvSpPr>
        <p:spPr>
          <a:xfrm>
            <a:off x="1016000" y="1943100"/>
            <a:ext cx="2921000" cy="571500"/>
          </a:xfrm>
          <a:prstGeom prst="rect">
            <a:avLst/>
          </a:prstGeom>
          <a:noFill/>
          <a:ln/>
        </p:spPr>
        <p:txBody>
          <a:bodyPr wrap="none" lIns="0" tIns="0" rIns="0" bIns="0" rtlCol="0" anchor="ctr"/>
          <a:lstStyle/>
          <a:p>
            <a:pPr algn="l">
              <a:lnSpc>
                <a:spcPct val="120000"/>
              </a:lnSpc>
            </a:pPr>
            <a:r>
              <a:rPr lang="en-US" sz="3200" dirty="0">
                <a:solidFill>
                  <a:srgbClr val="2B4C7E"/>
                </a:solidFill>
                <a:latin typeface="Liter" pitchFamily="34" charset="0"/>
                <a:ea typeface="Liter" pitchFamily="34" charset="-122"/>
                <a:cs typeface="Liter" pitchFamily="34" charset="-120"/>
              </a:rPr>
              <a:t>$250</a:t>
            </a:r>
            <a:endParaRPr lang="en-US" sz="3200" dirty="0"/>
          </a:p>
        </p:txBody>
      </p:sp>
      <p:sp>
        <p:nvSpPr>
          <p:cNvPr id="18" name="Text 15"/>
          <p:cNvSpPr/>
          <p:nvPr/>
        </p:nvSpPr>
        <p:spPr>
          <a:xfrm>
            <a:off x="1016000" y="2540000"/>
            <a:ext cx="2921000" cy="355600"/>
          </a:xfrm>
          <a:prstGeom prst="rect">
            <a:avLst/>
          </a:prstGeom>
          <a:noFill/>
          <a:ln/>
        </p:spPr>
        <p:txBody>
          <a:bodyPr wrap="none" lIns="0" tIns="0" rIns="0" bIns="0" rtlCol="0" anchor="ctr"/>
          <a:lstStyle/>
          <a:p>
            <a:pPr algn="l">
              <a:lnSpc>
                <a:spcPct val="120000"/>
              </a:lnSpc>
            </a:pPr>
            <a:r>
              <a:rPr lang="en-US" sz="1300" dirty="0">
                <a:solidFill>
                  <a:srgbClr val="64748B"/>
                </a:solidFill>
                <a:latin typeface="Quattrocento Sans" pitchFamily="34" charset="0"/>
                <a:ea typeface="Quattrocento Sans" pitchFamily="34" charset="-122"/>
                <a:cs typeface="Quattrocento Sans" pitchFamily="34" charset="-120"/>
              </a:rPr>
              <a:t>Avg. Customer LTV / year</a:t>
            </a:r>
            <a:endParaRPr lang="en-US" sz="1300" dirty="0"/>
          </a:p>
        </p:txBody>
      </p:sp>
      <p:sp>
        <p:nvSpPr>
          <p:cNvPr id="19" name="Shape 16"/>
          <p:cNvSpPr/>
          <p:nvPr/>
        </p:nvSpPr>
        <p:spPr>
          <a:xfrm>
            <a:off x="4445000" y="1879600"/>
            <a:ext cx="3429000" cy="1143000"/>
          </a:xfrm>
          <a:prstGeom prst="rect">
            <a:avLst/>
          </a:prstGeom>
          <a:solidFill>
            <a:srgbClr val="FFFFFF"/>
          </a:solidFill>
          <a:ln/>
        </p:spPr>
      </p:sp>
      <p:sp>
        <p:nvSpPr>
          <p:cNvPr id="20" name="Shape 17"/>
          <p:cNvSpPr/>
          <p:nvPr/>
        </p:nvSpPr>
        <p:spPr>
          <a:xfrm>
            <a:off x="4445000" y="1879600"/>
            <a:ext cx="50800" cy="1143000"/>
          </a:xfrm>
          <a:prstGeom prst="rect">
            <a:avLst/>
          </a:prstGeom>
          <a:solidFill>
            <a:srgbClr val="2ECC71"/>
          </a:solidFill>
          <a:ln/>
        </p:spPr>
      </p:sp>
      <p:sp>
        <p:nvSpPr>
          <p:cNvPr id="21" name="Text 18"/>
          <p:cNvSpPr/>
          <p:nvPr/>
        </p:nvSpPr>
        <p:spPr>
          <a:xfrm>
            <a:off x="4699000" y="1943100"/>
            <a:ext cx="2921000" cy="571500"/>
          </a:xfrm>
          <a:prstGeom prst="rect">
            <a:avLst/>
          </a:prstGeom>
          <a:noFill/>
          <a:ln/>
        </p:spPr>
        <p:txBody>
          <a:bodyPr wrap="none" lIns="0" tIns="0" rIns="0" bIns="0" rtlCol="0" anchor="ctr"/>
          <a:lstStyle/>
          <a:p>
            <a:pPr algn="l">
              <a:lnSpc>
                <a:spcPct val="120000"/>
              </a:lnSpc>
            </a:pPr>
            <a:r>
              <a:rPr lang="en-US" sz="3200" dirty="0">
                <a:solidFill>
                  <a:srgbClr val="2ECC71"/>
                </a:solidFill>
                <a:latin typeface="Liter" pitchFamily="34" charset="0"/>
                <a:ea typeface="Liter" pitchFamily="34" charset="-122"/>
                <a:cs typeface="Liter" pitchFamily="34" charset="-120"/>
              </a:rPr>
              <a:t>20%</a:t>
            </a:r>
            <a:endParaRPr lang="en-US" sz="3200" dirty="0"/>
          </a:p>
        </p:txBody>
      </p:sp>
      <p:sp>
        <p:nvSpPr>
          <p:cNvPr id="22" name="Text 19"/>
          <p:cNvSpPr/>
          <p:nvPr/>
        </p:nvSpPr>
        <p:spPr>
          <a:xfrm>
            <a:off x="4699000" y="2540000"/>
            <a:ext cx="2921000" cy="355600"/>
          </a:xfrm>
          <a:prstGeom prst="rect">
            <a:avLst/>
          </a:prstGeom>
          <a:noFill/>
          <a:ln/>
        </p:spPr>
        <p:txBody>
          <a:bodyPr wrap="none" lIns="0" tIns="0" rIns="0" bIns="0" rtlCol="0" anchor="ctr"/>
          <a:lstStyle/>
          <a:p>
            <a:pPr algn="l">
              <a:lnSpc>
                <a:spcPct val="120000"/>
              </a:lnSpc>
            </a:pPr>
            <a:r>
              <a:rPr lang="en-US" sz="1300" dirty="0">
                <a:solidFill>
                  <a:srgbClr val="64748B"/>
                </a:solidFill>
                <a:latin typeface="Quattrocento Sans" pitchFamily="34" charset="0"/>
                <a:ea typeface="Quattrocento Sans" pitchFamily="34" charset="-122"/>
                <a:cs typeface="Quattrocento Sans" pitchFamily="34" charset="-120"/>
              </a:rPr>
              <a:t>Campaign Save Rate</a:t>
            </a:r>
            <a:endParaRPr lang="en-US" sz="1300" dirty="0"/>
          </a:p>
        </p:txBody>
      </p:sp>
      <p:sp>
        <p:nvSpPr>
          <p:cNvPr id="23" name="Shape 20"/>
          <p:cNvSpPr/>
          <p:nvPr/>
        </p:nvSpPr>
        <p:spPr>
          <a:xfrm>
            <a:off x="8128000" y="1879600"/>
            <a:ext cx="3429000" cy="1143000"/>
          </a:xfrm>
          <a:prstGeom prst="rect">
            <a:avLst/>
          </a:prstGeom>
          <a:solidFill>
            <a:srgbClr val="FFFFFF"/>
          </a:solidFill>
          <a:ln/>
        </p:spPr>
      </p:sp>
      <p:sp>
        <p:nvSpPr>
          <p:cNvPr id="24" name="Shape 21"/>
          <p:cNvSpPr/>
          <p:nvPr/>
        </p:nvSpPr>
        <p:spPr>
          <a:xfrm>
            <a:off x="8128000" y="1879600"/>
            <a:ext cx="50800" cy="1143000"/>
          </a:xfrm>
          <a:prstGeom prst="rect">
            <a:avLst/>
          </a:prstGeom>
          <a:solidFill>
            <a:srgbClr val="D9534F"/>
          </a:solidFill>
          <a:ln/>
        </p:spPr>
      </p:sp>
      <p:sp>
        <p:nvSpPr>
          <p:cNvPr id="25" name="Text 22"/>
          <p:cNvSpPr/>
          <p:nvPr/>
        </p:nvSpPr>
        <p:spPr>
          <a:xfrm>
            <a:off x="8382000" y="1943100"/>
            <a:ext cx="2921000" cy="571500"/>
          </a:xfrm>
          <a:prstGeom prst="rect">
            <a:avLst/>
          </a:prstGeom>
          <a:noFill/>
          <a:ln/>
        </p:spPr>
        <p:txBody>
          <a:bodyPr wrap="none" lIns="0" tIns="0" rIns="0" bIns="0" rtlCol="0" anchor="ctr"/>
          <a:lstStyle/>
          <a:p>
            <a:pPr algn="l">
              <a:lnSpc>
                <a:spcPct val="120000"/>
              </a:lnSpc>
            </a:pPr>
            <a:r>
              <a:rPr lang="en-US" sz="3200" dirty="0">
                <a:solidFill>
                  <a:srgbClr val="D9534F"/>
                </a:solidFill>
                <a:latin typeface="Liter" pitchFamily="34" charset="0"/>
                <a:ea typeface="Liter" pitchFamily="34" charset="-122"/>
                <a:cs typeface="Liter" pitchFamily="34" charset="-120"/>
              </a:rPr>
              <a:t>$30</a:t>
            </a:r>
            <a:endParaRPr lang="en-US" sz="3200" dirty="0"/>
          </a:p>
        </p:txBody>
      </p:sp>
      <p:sp>
        <p:nvSpPr>
          <p:cNvPr id="26" name="Text 23"/>
          <p:cNvSpPr/>
          <p:nvPr/>
        </p:nvSpPr>
        <p:spPr>
          <a:xfrm>
            <a:off x="8382000" y="2540000"/>
            <a:ext cx="2921000" cy="355600"/>
          </a:xfrm>
          <a:prstGeom prst="rect">
            <a:avLst/>
          </a:prstGeom>
          <a:noFill/>
          <a:ln/>
        </p:spPr>
        <p:txBody>
          <a:bodyPr wrap="none" lIns="0" tIns="0" rIns="0" bIns="0" rtlCol="0" anchor="ctr"/>
          <a:lstStyle/>
          <a:p>
            <a:pPr algn="l">
              <a:lnSpc>
                <a:spcPct val="120000"/>
              </a:lnSpc>
            </a:pPr>
            <a:r>
              <a:rPr lang="en-US" sz="1300" dirty="0">
                <a:solidFill>
                  <a:srgbClr val="64748B"/>
                </a:solidFill>
                <a:latin typeface="Quattrocento Sans" pitchFamily="34" charset="0"/>
                <a:ea typeface="Quattrocento Sans" pitchFamily="34" charset="-122"/>
                <a:cs typeface="Quattrocento Sans" pitchFamily="34" charset="-120"/>
              </a:rPr>
              <a:t>Cost per Intervention</a:t>
            </a:r>
            <a:endParaRPr lang="en-US" sz="1300" dirty="0"/>
          </a:p>
        </p:txBody>
      </p:sp>
      <p:sp>
        <p:nvSpPr>
          <p:cNvPr id="27" name="Shape 24"/>
          <p:cNvSpPr/>
          <p:nvPr/>
        </p:nvSpPr>
        <p:spPr>
          <a:xfrm>
            <a:off x="11811000" y="1879600"/>
            <a:ext cx="3683000" cy="1143000"/>
          </a:xfrm>
          <a:prstGeom prst="rect">
            <a:avLst/>
          </a:prstGeom>
          <a:solidFill>
            <a:srgbClr val="FFFFFF"/>
          </a:solidFill>
          <a:ln/>
        </p:spPr>
      </p:sp>
      <p:sp>
        <p:nvSpPr>
          <p:cNvPr id="28" name="Shape 25"/>
          <p:cNvSpPr/>
          <p:nvPr/>
        </p:nvSpPr>
        <p:spPr>
          <a:xfrm>
            <a:off x="11811000" y="1879600"/>
            <a:ext cx="50800" cy="1143000"/>
          </a:xfrm>
          <a:prstGeom prst="rect">
            <a:avLst/>
          </a:prstGeom>
          <a:solidFill>
            <a:srgbClr val="F39C12"/>
          </a:solidFill>
          <a:ln/>
        </p:spPr>
      </p:sp>
      <p:sp>
        <p:nvSpPr>
          <p:cNvPr id="29" name="Text 26"/>
          <p:cNvSpPr/>
          <p:nvPr/>
        </p:nvSpPr>
        <p:spPr>
          <a:xfrm>
            <a:off x="12065000" y="1943100"/>
            <a:ext cx="3175000" cy="571500"/>
          </a:xfrm>
          <a:prstGeom prst="rect">
            <a:avLst/>
          </a:prstGeom>
          <a:noFill/>
          <a:ln/>
        </p:spPr>
        <p:txBody>
          <a:bodyPr wrap="none" lIns="0" tIns="0" rIns="0" bIns="0" rtlCol="0" anchor="ctr"/>
          <a:lstStyle/>
          <a:p>
            <a:pPr algn="l">
              <a:lnSpc>
                <a:spcPct val="120000"/>
              </a:lnSpc>
            </a:pPr>
            <a:r>
              <a:rPr lang="en-US" sz="3200" dirty="0">
                <a:solidFill>
                  <a:srgbClr val="F39C12"/>
                </a:solidFill>
                <a:latin typeface="Liter" pitchFamily="34" charset="0"/>
                <a:ea typeface="Liter" pitchFamily="34" charset="-122"/>
                <a:cs typeface="Liter" pitchFamily="34" charset="-120"/>
              </a:rPr>
              <a:t>Top 10%</a:t>
            </a:r>
            <a:endParaRPr lang="en-US" sz="3200" dirty="0"/>
          </a:p>
        </p:txBody>
      </p:sp>
      <p:sp>
        <p:nvSpPr>
          <p:cNvPr id="30" name="Text 27"/>
          <p:cNvSpPr/>
          <p:nvPr/>
        </p:nvSpPr>
        <p:spPr>
          <a:xfrm>
            <a:off x="12065000" y="2540000"/>
            <a:ext cx="3175000" cy="355600"/>
          </a:xfrm>
          <a:prstGeom prst="rect">
            <a:avLst/>
          </a:prstGeom>
          <a:noFill/>
          <a:ln/>
        </p:spPr>
        <p:txBody>
          <a:bodyPr wrap="none" lIns="0" tIns="0" rIns="0" bIns="0" rtlCol="0" anchor="ctr"/>
          <a:lstStyle/>
          <a:p>
            <a:pPr algn="l">
              <a:lnSpc>
                <a:spcPct val="120000"/>
              </a:lnSpc>
            </a:pPr>
            <a:r>
              <a:rPr lang="en-US" sz="1300" dirty="0">
                <a:solidFill>
                  <a:srgbClr val="64748B"/>
                </a:solidFill>
                <a:latin typeface="Quattrocento Sans" pitchFamily="34" charset="0"/>
                <a:ea typeface="Quattrocento Sans" pitchFamily="34" charset="-122"/>
                <a:cs typeface="Quattrocento Sans" pitchFamily="34" charset="-120"/>
              </a:rPr>
              <a:t>Highest-Risk Target</a:t>
            </a:r>
            <a:endParaRPr lang="en-US" sz="1300" dirty="0"/>
          </a:p>
        </p:txBody>
      </p:sp>
      <p:sp>
        <p:nvSpPr>
          <p:cNvPr id="31" name="Text 28"/>
          <p:cNvSpPr/>
          <p:nvPr/>
        </p:nvSpPr>
        <p:spPr>
          <a:xfrm>
            <a:off x="762000" y="3302000"/>
            <a:ext cx="2540000" cy="317500"/>
          </a:xfrm>
          <a:prstGeom prst="rect">
            <a:avLst/>
          </a:prstGeom>
          <a:noFill/>
          <a:ln/>
        </p:spPr>
        <p:txBody>
          <a:bodyPr wrap="none" lIns="0" tIns="0" rIns="0" bIns="0" rtlCol="0" anchor="ctr"/>
          <a:lstStyle/>
          <a:p>
            <a:pPr algn="l">
              <a:lnSpc>
                <a:spcPct val="120000"/>
              </a:lnSpc>
            </a:pPr>
            <a:r>
              <a:rPr lang="en-US" sz="1200" kern="0" spc="200" dirty="0">
                <a:solidFill>
                  <a:srgbClr val="64748B"/>
                </a:solidFill>
                <a:latin typeface="Liter" pitchFamily="34" charset="0"/>
                <a:ea typeface="Liter" pitchFamily="34" charset="-122"/>
                <a:cs typeface="Liter" pitchFamily="34" charset="-120"/>
              </a:rPr>
              <a:t>RESULTS ON TEST SET</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62000" y="3708400"/>
          <a:ext cx="8890000" cy="3302000"/>
        </p:xfrm>
        <a:graphic>
          <a:graphicData uri="http://schemas.openxmlformats.org/drawingml/2006/table">
            <a:tbl>
              <a:tblPr/>
              <a:tblGrid>
                <a:gridCol w="4889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tblGrid>
              <a:tr h="472186">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Metric</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B4C7E"/>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Value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B4C7E"/>
                    </a:solidFill>
                  </a:tcPr>
                </a:tc>
                <a:extLst>
                  <a:ext uri="{0D108BD9-81ED-4DB2-BD59-A6C34878D82A}">
                    <a16:rowId xmlns:a16="http://schemas.microsoft.com/office/drawing/2014/main" val="10000"/>
                  </a:ext>
                </a:extLst>
              </a:tr>
              <a:tr h="472186">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High-risk segment targeted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r>
                        <a:rPr lang="en-US" sz="1400" b="1" dirty="0">
                          <a:solidFill>
                            <a:srgbClr val="1E293B"/>
                          </a:solidFill>
                          <a:latin typeface="Quattrocento Sans" pitchFamily="34" charset="0"/>
                          <a:ea typeface="Quattrocento Sans" pitchFamily="34" charset="-122"/>
                          <a:cs typeface="Quattrocento Sans" pitchFamily="34" charset="-120"/>
                        </a:rPr>
                        <a:t>2,000 customers</a:t>
                      </a:r>
                      <a:r>
                        <a:rPr lang="en-US" sz="1400" dirty="0">
                          <a:solidFill>
                            <a:srgbClr val="1E293B"/>
                          </a:solidFill>
                          <a:latin typeface="Quattrocento Sans" pitchFamily="34" charset="0"/>
                          <a:ea typeface="Quattrocento Sans" pitchFamily="34" charset="-122"/>
                          <a:cs typeface="Quattrocento Sans" pitchFamily="34" charset="-120"/>
                        </a:rPr>
                        <a:t> (top 10%)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2186">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Actual churners captured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tc>
                  <a:txBody>
                    <a:bodyPr/>
                    <a:lstStyle/>
                    <a:p>
                      <a:pPr algn="ctr"/>
                      <a:r>
                        <a:rPr lang="en-US" sz="1400" b="1" dirty="0">
                          <a:solidFill>
                            <a:srgbClr val="2ECC71"/>
                          </a:solidFill>
                          <a:latin typeface="Quattrocento Sans" pitchFamily="34" charset="0"/>
                          <a:ea typeface="Quattrocento Sans" pitchFamily="34" charset="-122"/>
                          <a:cs typeface="Quattrocento Sans" pitchFamily="34" charset="-120"/>
                        </a:rPr>
                        <a:t>1,546 (77.3%)</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472186">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Customers saved (est. 20%)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r>
                        <a:rPr lang="en-US" sz="1400" b="1" dirty="0">
                          <a:solidFill>
                            <a:srgbClr val="1E293B"/>
                          </a:solidFill>
                          <a:latin typeface="Quattrocento Sans" pitchFamily="34" charset="0"/>
                          <a:ea typeface="Quattrocento Sans" pitchFamily="34" charset="-122"/>
                          <a:cs typeface="Quattrocento Sans" pitchFamily="34" charset="-120"/>
                        </a:rPr>
                        <a:t>309</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2186">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Total campaign cost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tc>
                  <a:txBody>
                    <a:bodyPr/>
                    <a:lstStyle/>
                    <a:p>
                      <a:pPr algn="ctr"/>
                      <a:r>
                        <a:rPr lang="en-US" sz="1400" b="1" dirty="0">
                          <a:solidFill>
                            <a:srgbClr val="D9534F"/>
                          </a:solidFill>
                          <a:latin typeface="Quattrocento Sans" pitchFamily="34" charset="0"/>
                          <a:ea typeface="Quattrocento Sans" pitchFamily="34" charset="-122"/>
                          <a:cs typeface="Quattrocento Sans" pitchFamily="34" charset="-120"/>
                        </a:rPr>
                        <a:t>$60,000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472186">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Gross revenue protected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a:r>
                        <a:rPr lang="en-US" sz="1400" b="1" dirty="0">
                          <a:solidFill>
                            <a:srgbClr val="2ECC71"/>
                          </a:solidFill>
                          <a:latin typeface="Quattrocento Sans" pitchFamily="34" charset="0"/>
                          <a:ea typeface="Quattrocento Sans" pitchFamily="34" charset="-122"/>
                          <a:cs typeface="Quattrocento Sans" pitchFamily="34" charset="-120"/>
                        </a:rPr>
                        <a:t>$77,300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8884">
                <a:tc>
                  <a:txBody>
                    <a:bodyPr/>
                    <a:lstStyle/>
                    <a:p>
                      <a:pPr algn="ctr"/>
                      <a:r>
                        <a:rPr lang="en-US" sz="1400" b="1" dirty="0">
                          <a:solidFill>
                            <a:srgbClr val="1E293B"/>
                          </a:solidFill>
                          <a:latin typeface="Quattrocento Sans" pitchFamily="34" charset="0"/>
                          <a:ea typeface="Quattrocento Sans" pitchFamily="34" charset="-122"/>
                          <a:cs typeface="Quattrocento Sans" pitchFamily="34" charset="-120"/>
                        </a:rPr>
                        <a:t>NET ROI</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ECC71">
                        <a:alpha val="12549"/>
                      </a:srgbClr>
                    </a:solidFill>
                  </a:tcPr>
                </a:tc>
                <a:tc>
                  <a:txBody>
                    <a:bodyPr/>
                    <a:lstStyle/>
                    <a:p>
                      <a:pPr algn="ctr"/>
                      <a:r>
                        <a:rPr lang="en-US" sz="1600" b="1" dirty="0">
                          <a:solidFill>
                            <a:srgbClr val="2ECC71"/>
                          </a:solidFill>
                          <a:latin typeface="Quattrocento Sans" pitchFamily="34" charset="0"/>
                          <a:ea typeface="Quattrocento Sans" pitchFamily="34" charset="-122"/>
                          <a:cs typeface="Quattrocento Sans" pitchFamily="34" charset="-120"/>
                        </a:rPr>
                        <a:t>+$17,300 profit</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2ECC71">
                        <a:alpha val="12549"/>
                      </a:srgbClr>
                    </a:solidFill>
                  </a:tcPr>
                </a:tc>
                <a:extLst>
                  <a:ext uri="{0D108BD9-81ED-4DB2-BD59-A6C34878D82A}">
                    <a16:rowId xmlns:a16="http://schemas.microsoft.com/office/drawing/2014/main" val="10006"/>
                  </a:ext>
                </a:extLst>
              </a:tr>
            </a:tbl>
          </a:graphicData>
        </a:graphic>
      </p:graphicFrame>
      <p:sp>
        <p:nvSpPr>
          <p:cNvPr id="33" name="Text 29"/>
          <p:cNvSpPr/>
          <p:nvPr/>
        </p:nvSpPr>
        <p:spPr>
          <a:xfrm>
            <a:off x="10033000" y="3302000"/>
            <a:ext cx="5461000" cy="444500"/>
          </a:xfrm>
          <a:prstGeom prst="rect">
            <a:avLst/>
          </a:prstGeom>
          <a:noFill/>
          <a:ln/>
        </p:spPr>
        <p:txBody>
          <a:bodyPr wrap="none" lIns="0" tIns="0" rIns="0" bIns="0" rtlCol="0" anchor="ctr"/>
          <a:lstStyle/>
          <a:p>
            <a:pPr algn="l">
              <a:lnSpc>
                <a:spcPct val="120000"/>
              </a:lnSpc>
            </a:pPr>
            <a:r>
              <a:rPr lang="en-US" sz="2000" b="1" dirty="0">
                <a:solidFill>
                  <a:srgbClr val="2B4C7E"/>
                </a:solidFill>
                <a:latin typeface="Liter" pitchFamily="34" charset="0"/>
                <a:ea typeface="Liter" pitchFamily="34" charset="-122"/>
                <a:cs typeface="Liter" pitchFamily="34" charset="-120"/>
              </a:rPr>
              <a:t>Retention Levers</a:t>
            </a:r>
            <a:endParaRPr lang="en-US" sz="2000" dirty="0"/>
          </a:p>
        </p:txBody>
      </p:sp>
      <p:sp>
        <p:nvSpPr>
          <p:cNvPr id="34" name="Shape 30"/>
          <p:cNvSpPr/>
          <p:nvPr/>
        </p:nvSpPr>
        <p:spPr>
          <a:xfrm>
            <a:off x="10033000" y="3810000"/>
            <a:ext cx="5461000" cy="12700"/>
          </a:xfrm>
          <a:prstGeom prst="rect">
            <a:avLst/>
          </a:prstGeom>
          <a:solidFill>
            <a:srgbClr val="E2E5E9"/>
          </a:solidFill>
          <a:ln/>
        </p:spPr>
      </p:sp>
      <p:sp>
        <p:nvSpPr>
          <p:cNvPr id="35" name="Shape 31"/>
          <p:cNvSpPr/>
          <p:nvPr/>
        </p:nvSpPr>
        <p:spPr>
          <a:xfrm>
            <a:off x="10033000" y="4000500"/>
            <a:ext cx="5461000" cy="1587500"/>
          </a:xfrm>
          <a:prstGeom prst="rect">
            <a:avLst/>
          </a:prstGeom>
          <a:solidFill>
            <a:srgbClr val="FFFFFF"/>
          </a:solidFill>
          <a:ln/>
        </p:spPr>
      </p:sp>
      <p:sp>
        <p:nvSpPr>
          <p:cNvPr id="36" name="Shape 32"/>
          <p:cNvSpPr/>
          <p:nvPr/>
        </p:nvSpPr>
        <p:spPr>
          <a:xfrm>
            <a:off x="10033000" y="4000500"/>
            <a:ext cx="50800" cy="1397000"/>
          </a:xfrm>
          <a:prstGeom prst="rect">
            <a:avLst/>
          </a:prstGeom>
          <a:solidFill>
            <a:srgbClr val="3498DB"/>
          </a:solidFill>
          <a:ln/>
        </p:spPr>
      </p:sp>
      <p:sp>
        <p:nvSpPr>
          <p:cNvPr id="37" name="Text 33"/>
          <p:cNvSpPr/>
          <p:nvPr/>
        </p:nvSpPr>
        <p:spPr>
          <a:xfrm>
            <a:off x="10287000" y="4127500"/>
            <a:ext cx="508000" cy="444500"/>
          </a:xfrm>
          <a:prstGeom prst="rect">
            <a:avLst/>
          </a:prstGeom>
          <a:noFill/>
          <a:ln/>
        </p:spPr>
        <p:txBody>
          <a:bodyPr wrap="none" lIns="0" tIns="0" rIns="0" bIns="0" rtlCol="0" anchor="ctr"/>
          <a:lstStyle/>
          <a:p>
            <a:pPr algn="ctr">
              <a:lnSpc>
                <a:spcPct val="120000"/>
              </a:lnSpc>
            </a:pPr>
            <a:r>
              <a:rPr lang="en-US" sz="2400" dirty="0">
                <a:solidFill>
                  <a:srgbClr val="3498DB"/>
                </a:solidFill>
                <a:latin typeface="Liter" pitchFamily="34" charset="0"/>
                <a:ea typeface="Liter" pitchFamily="34" charset="-122"/>
                <a:cs typeface="Liter" pitchFamily="34" charset="-120"/>
              </a:rPr>
              <a:t>1</a:t>
            </a:r>
            <a:endParaRPr lang="en-US" sz="2400" dirty="0"/>
          </a:p>
        </p:txBody>
      </p:sp>
      <p:sp>
        <p:nvSpPr>
          <p:cNvPr id="38" name="Text 34"/>
          <p:cNvSpPr/>
          <p:nvPr/>
        </p:nvSpPr>
        <p:spPr>
          <a:xfrm>
            <a:off x="10858500" y="4127500"/>
            <a:ext cx="4381500" cy="355600"/>
          </a:xfrm>
          <a:prstGeom prst="rect">
            <a:avLst/>
          </a:prstGeom>
          <a:noFill/>
          <a:ln/>
        </p:spPr>
        <p:txBody>
          <a:bodyPr wrap="none" lIns="0" tIns="0" rIns="0" bIns="0" rtlCol="0" anchor="ctr"/>
          <a:lstStyle/>
          <a:p>
            <a:pPr algn="l">
              <a:lnSpc>
                <a:spcPct val="120000"/>
              </a:lnSpc>
            </a:pPr>
            <a:r>
              <a:rPr lang="en-US" sz="1600" b="1" dirty="0">
                <a:solidFill>
                  <a:srgbClr val="1E293B"/>
                </a:solidFill>
                <a:latin typeface="Liter" pitchFamily="34" charset="0"/>
                <a:ea typeface="Liter" pitchFamily="34" charset="-122"/>
                <a:cs typeface="Liter" pitchFamily="34" charset="-120"/>
              </a:rPr>
              <a:t>Hardware Subsidies</a:t>
            </a:r>
            <a:endParaRPr lang="en-US" sz="1600" dirty="0"/>
          </a:p>
        </p:txBody>
      </p:sp>
      <p:sp>
        <p:nvSpPr>
          <p:cNvPr id="39" name="Text 35"/>
          <p:cNvSpPr/>
          <p:nvPr/>
        </p:nvSpPr>
        <p:spPr>
          <a:xfrm>
            <a:off x="10858500" y="4546600"/>
            <a:ext cx="4381500" cy="9906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Target high-risk customers with eqpdays &gt; 365 — offer device upgrade subsidies to counter competitor offers.</a:t>
            </a:r>
            <a:endParaRPr lang="en-US" sz="1400" dirty="0"/>
          </a:p>
        </p:txBody>
      </p:sp>
      <p:sp>
        <p:nvSpPr>
          <p:cNvPr id="40" name="Shape 36"/>
          <p:cNvSpPr/>
          <p:nvPr/>
        </p:nvSpPr>
        <p:spPr>
          <a:xfrm>
            <a:off x="10033000" y="5778500"/>
            <a:ext cx="5461000" cy="1587500"/>
          </a:xfrm>
          <a:prstGeom prst="rect">
            <a:avLst/>
          </a:prstGeom>
          <a:solidFill>
            <a:srgbClr val="FFFFFF"/>
          </a:solidFill>
          <a:ln/>
        </p:spPr>
      </p:sp>
      <p:sp>
        <p:nvSpPr>
          <p:cNvPr id="41" name="Shape 37"/>
          <p:cNvSpPr/>
          <p:nvPr/>
        </p:nvSpPr>
        <p:spPr>
          <a:xfrm>
            <a:off x="10033000" y="5778500"/>
            <a:ext cx="50800" cy="1587500"/>
          </a:xfrm>
          <a:prstGeom prst="rect">
            <a:avLst/>
          </a:prstGeom>
          <a:solidFill>
            <a:srgbClr val="F39C12"/>
          </a:solidFill>
          <a:ln/>
        </p:spPr>
      </p:sp>
      <p:sp>
        <p:nvSpPr>
          <p:cNvPr id="42" name="Text 38"/>
          <p:cNvSpPr/>
          <p:nvPr/>
        </p:nvSpPr>
        <p:spPr>
          <a:xfrm>
            <a:off x="10287000" y="5905500"/>
            <a:ext cx="508000" cy="444500"/>
          </a:xfrm>
          <a:prstGeom prst="rect">
            <a:avLst/>
          </a:prstGeom>
          <a:noFill/>
          <a:ln/>
        </p:spPr>
        <p:txBody>
          <a:bodyPr wrap="none" lIns="0" tIns="0" rIns="0" bIns="0" rtlCol="0" anchor="ctr"/>
          <a:lstStyle/>
          <a:p>
            <a:pPr algn="ctr">
              <a:lnSpc>
                <a:spcPct val="120000"/>
              </a:lnSpc>
            </a:pPr>
            <a:r>
              <a:rPr lang="en-US" sz="2400" dirty="0">
                <a:solidFill>
                  <a:srgbClr val="F39C12"/>
                </a:solidFill>
                <a:latin typeface="Liter" pitchFamily="34" charset="0"/>
                <a:ea typeface="Liter" pitchFamily="34" charset="-122"/>
                <a:cs typeface="Liter" pitchFamily="34" charset="-120"/>
              </a:rPr>
              <a:t>2</a:t>
            </a:r>
            <a:endParaRPr lang="en-US" sz="2400" dirty="0"/>
          </a:p>
        </p:txBody>
      </p:sp>
      <p:sp>
        <p:nvSpPr>
          <p:cNvPr id="43" name="Text 39"/>
          <p:cNvSpPr/>
          <p:nvPr/>
        </p:nvSpPr>
        <p:spPr>
          <a:xfrm>
            <a:off x="10858500" y="5905500"/>
            <a:ext cx="4381500" cy="355600"/>
          </a:xfrm>
          <a:prstGeom prst="rect">
            <a:avLst/>
          </a:prstGeom>
          <a:noFill/>
          <a:ln/>
        </p:spPr>
        <p:txBody>
          <a:bodyPr wrap="none" lIns="0" tIns="0" rIns="0" bIns="0" rtlCol="0" anchor="ctr"/>
          <a:lstStyle/>
          <a:p>
            <a:pPr algn="l">
              <a:lnSpc>
                <a:spcPct val="120000"/>
              </a:lnSpc>
            </a:pPr>
            <a:r>
              <a:rPr lang="en-US" sz="1600" b="1" dirty="0">
                <a:solidFill>
                  <a:srgbClr val="1E293B"/>
                </a:solidFill>
                <a:latin typeface="Liter" pitchFamily="34" charset="0"/>
                <a:ea typeface="Liter" pitchFamily="34" charset="-122"/>
                <a:cs typeface="Liter" pitchFamily="34" charset="-120"/>
              </a:rPr>
              <a:t>Plan Rightsizing</a:t>
            </a:r>
            <a:endParaRPr lang="en-US" sz="1600" dirty="0"/>
          </a:p>
        </p:txBody>
      </p:sp>
      <p:sp>
        <p:nvSpPr>
          <p:cNvPr id="44" name="Text 40"/>
          <p:cNvSpPr/>
          <p:nvPr/>
        </p:nvSpPr>
        <p:spPr>
          <a:xfrm>
            <a:off x="10858500" y="6324600"/>
            <a:ext cx="4381500" cy="9906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For customers with usage drops or high overage revenue — right-size plans to reduce bill shock and restore engagement.</a:t>
            </a:r>
            <a:endParaRPr lang="en-US" sz="1400" dirty="0"/>
          </a:p>
        </p:txBody>
      </p:sp>
      <p:sp>
        <p:nvSpPr>
          <p:cNvPr id="45" name="Shape 41"/>
          <p:cNvSpPr/>
          <p:nvPr/>
        </p:nvSpPr>
        <p:spPr>
          <a:xfrm>
            <a:off x="762000" y="7366000"/>
            <a:ext cx="14732000" cy="762000"/>
          </a:xfrm>
          <a:prstGeom prst="rect">
            <a:avLst/>
          </a:prstGeom>
          <a:solidFill>
            <a:srgbClr val="2B4C7E"/>
          </a:solidFill>
          <a:ln/>
        </p:spPr>
      </p:sp>
      <p:sp>
        <p:nvSpPr>
          <p:cNvPr id="46" name="Text 42"/>
          <p:cNvSpPr/>
          <p:nvPr/>
        </p:nvSpPr>
        <p:spPr>
          <a:xfrm>
            <a:off x="1143000" y="7429500"/>
            <a:ext cx="13970000" cy="635000"/>
          </a:xfrm>
          <a:prstGeom prst="rect">
            <a:avLst/>
          </a:prstGeom>
          <a:noFill/>
          <a:ln/>
        </p:spPr>
        <p:txBody>
          <a:bodyPr wrap="square" lIns="0" tIns="0" rIns="0" bIns="0" rtlCol="0" anchor="ctr"/>
          <a:lstStyle/>
          <a:p>
            <a:pPr algn="l">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Key insight:</a:t>
            </a:r>
            <a:r>
              <a:rPr lang="en-US" sz="1600" dirty="0">
                <a:solidFill>
                  <a:srgbClr val="FFFFFF"/>
                </a:solidFill>
                <a:latin typeface="Quattrocento Sans" pitchFamily="34" charset="0"/>
                <a:ea typeface="Quattrocento Sans" pitchFamily="34" charset="-122"/>
                <a:cs typeface="Quattrocento Sans" pitchFamily="34" charset="-120"/>
              </a:rPr>
              <a:t> Targeted precision beats blanket spend — $17.3K net profit from a model with only ~63% raw accuracy, on a single 20K-customer test batch.</a:t>
            </a:r>
            <a:endParaRPr lang="en-US" sz="1600" dirty="0"/>
          </a:p>
        </p:txBody>
      </p:sp>
      <p:sp>
        <p:nvSpPr>
          <p:cNvPr id="47" name="Text 43"/>
          <p:cNvSpPr/>
          <p:nvPr/>
        </p:nvSpPr>
        <p:spPr>
          <a:xfrm>
            <a:off x="15113000" y="8826500"/>
            <a:ext cx="635000" cy="254000"/>
          </a:xfrm>
          <a:prstGeom prst="rect">
            <a:avLst/>
          </a:prstGeom>
          <a:noFill/>
          <a:ln/>
        </p:spPr>
        <p:txBody>
          <a:bodyPr wrap="none" lIns="0" tIns="0" rIns="0" bIns="0" rtlCol="0" anchor="ctr"/>
          <a:lstStyle/>
          <a:p>
            <a:pPr algn="r">
              <a:lnSpc>
                <a:spcPct val="130000"/>
              </a:lnSpc>
            </a:pPr>
            <a:r>
              <a:rPr lang="en-US" sz="1200" dirty="0">
                <a:solidFill>
                  <a:srgbClr val="64748B"/>
                </a:solidFill>
                <a:latin typeface="Quattrocento Sans" pitchFamily="34" charset="0"/>
                <a:ea typeface="Quattrocento Sans" pitchFamily="34" charset="-122"/>
                <a:cs typeface="Quattrocento Sans" pitchFamily="34" charset="-120"/>
              </a:rPr>
              <a:t>12</a:t>
            </a:r>
            <a:endParaRPr lang="en-US" sz="12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243E63"/>
          </a:solidFill>
          <a:ln/>
        </p:spPr>
      </p:sp>
      <p:sp>
        <p:nvSpPr>
          <p:cNvPr id="4" name="Text 1"/>
          <p:cNvSpPr/>
          <p:nvPr/>
        </p:nvSpPr>
        <p:spPr>
          <a:xfrm>
            <a:off x="127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Problem &amp; Motivation</a:t>
            </a:r>
            <a:endParaRPr lang="en-US" sz="1100" dirty="0"/>
          </a:p>
        </p:txBody>
      </p:sp>
      <p:sp>
        <p:nvSpPr>
          <p:cNvPr id="5" name="Text 2"/>
          <p:cNvSpPr/>
          <p:nvPr/>
        </p:nvSpPr>
        <p:spPr>
          <a:xfrm>
            <a:off x="2794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Data &amp; Methodology</a:t>
            </a:r>
            <a:endParaRPr lang="en-US" sz="1100" dirty="0"/>
          </a:p>
        </p:txBody>
      </p:sp>
      <p:sp>
        <p:nvSpPr>
          <p:cNvPr id="6" name="Text 3"/>
          <p:cNvSpPr/>
          <p:nvPr/>
        </p:nvSpPr>
        <p:spPr>
          <a:xfrm>
            <a:off x="5461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Exploratory Analysis</a:t>
            </a:r>
            <a:endParaRPr lang="en-US" sz="1100" dirty="0"/>
          </a:p>
        </p:txBody>
      </p:sp>
      <p:sp>
        <p:nvSpPr>
          <p:cNvPr id="7" name="Text 4"/>
          <p:cNvSpPr/>
          <p:nvPr/>
        </p:nvSpPr>
        <p:spPr>
          <a:xfrm>
            <a:off x="8128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Modeling &amp; Results</a:t>
            </a:r>
            <a:endParaRPr lang="en-US" sz="1100" dirty="0"/>
          </a:p>
        </p:txBody>
      </p:sp>
      <p:sp>
        <p:nvSpPr>
          <p:cNvPr id="8" name="Shape 5"/>
          <p:cNvSpPr/>
          <p:nvPr/>
        </p:nvSpPr>
        <p:spPr>
          <a:xfrm>
            <a:off x="10795000" y="63500"/>
            <a:ext cx="2540000" cy="381000"/>
          </a:xfrm>
          <a:prstGeom prst="roundRect">
            <a:avLst>
              <a:gd name="adj" fmla="val 8000"/>
            </a:avLst>
          </a:prstGeom>
          <a:solidFill>
            <a:srgbClr val="3A5A8C"/>
          </a:solidFill>
          <a:ln/>
        </p:spPr>
      </p:sp>
      <p:sp>
        <p:nvSpPr>
          <p:cNvPr id="9" name="Text 6"/>
          <p:cNvSpPr/>
          <p:nvPr/>
        </p:nvSpPr>
        <p:spPr>
          <a:xfrm>
            <a:off x="10795000" y="63500"/>
            <a:ext cx="2540000" cy="381000"/>
          </a:xfrm>
          <a:prstGeom prst="rect">
            <a:avLst/>
          </a:prstGeom>
          <a:noFill/>
          <a:ln/>
        </p:spPr>
        <p:txBody>
          <a:bodyPr wrap="none" lIns="0" tIns="0" rIns="0" bIns="0" rtlCol="0" anchor="ctr"/>
          <a:lstStyle/>
          <a:p>
            <a:pPr algn="ctr">
              <a:lnSpc>
                <a:spcPct val="120000"/>
              </a:lnSpc>
            </a:pPr>
            <a:r>
              <a:rPr lang="en-US" sz="1100" b="1" dirty="0">
                <a:solidFill>
                  <a:srgbClr val="FFFFFF"/>
                </a:solidFill>
                <a:latin typeface="Quattrocento Sans" pitchFamily="34" charset="0"/>
                <a:ea typeface="Quattrocento Sans" pitchFamily="34" charset="-122"/>
                <a:cs typeface="Quattrocento Sans" pitchFamily="34" charset="-120"/>
              </a:rPr>
              <a:t>Business Impact</a:t>
            </a:r>
            <a:endParaRPr lang="en-US" sz="1100" dirty="0"/>
          </a:p>
        </p:txBody>
      </p:sp>
      <p:sp>
        <p:nvSpPr>
          <p:cNvPr id="10" name="Text 7"/>
          <p:cNvSpPr/>
          <p:nvPr/>
        </p:nvSpPr>
        <p:spPr>
          <a:xfrm>
            <a:off x="13462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Roadmap</a:t>
            </a:r>
            <a:endParaRPr lang="en-US" sz="1100" dirty="0"/>
          </a:p>
        </p:txBody>
      </p:sp>
      <p:sp>
        <p:nvSpPr>
          <p:cNvPr id="11" name="Shape 8"/>
          <p:cNvSpPr/>
          <p:nvPr/>
        </p:nvSpPr>
        <p:spPr>
          <a:xfrm>
            <a:off x="0" y="508000"/>
            <a:ext cx="16256000" cy="25400"/>
          </a:xfrm>
          <a:prstGeom prst="rect">
            <a:avLst/>
          </a:prstGeom>
          <a:solidFill>
            <a:srgbClr val="2B4C7E"/>
          </a:solidFill>
          <a:ln/>
        </p:spPr>
      </p:sp>
      <p:sp>
        <p:nvSpPr>
          <p:cNvPr id="12" name="Text 9"/>
          <p:cNvSpPr/>
          <p:nvPr/>
        </p:nvSpPr>
        <p:spPr>
          <a:xfrm>
            <a:off x="762000" y="635000"/>
            <a:ext cx="8890000" cy="444500"/>
          </a:xfrm>
          <a:prstGeom prst="rect">
            <a:avLst/>
          </a:prstGeom>
          <a:noFill/>
          <a:ln/>
        </p:spPr>
        <p:txBody>
          <a:bodyPr wrap="none" lIns="0" tIns="0" rIns="0" bIns="0" rtlCol="0" anchor="ctr"/>
          <a:lstStyle/>
          <a:p>
            <a:pPr algn="l">
              <a:lnSpc>
                <a:spcPct val="120000"/>
              </a:lnSpc>
            </a:pPr>
            <a:r>
              <a:rPr lang="en-US" sz="2400" dirty="0">
                <a:solidFill>
                  <a:srgbClr val="2B4C7E"/>
                </a:solidFill>
                <a:latin typeface="Liter" pitchFamily="34" charset="0"/>
                <a:ea typeface="Liter" pitchFamily="34" charset="-122"/>
                <a:cs typeface="Liter" pitchFamily="34" charset="-120"/>
              </a:rPr>
              <a:t>ROI Simulation Dashboard</a:t>
            </a:r>
            <a:endParaRPr lang="en-US" sz="2400" dirty="0"/>
          </a:p>
        </p:txBody>
      </p:sp>
      <p:sp>
        <p:nvSpPr>
          <p:cNvPr id="13" name="Shape 10"/>
          <p:cNvSpPr/>
          <p:nvPr/>
        </p:nvSpPr>
        <p:spPr>
          <a:xfrm>
            <a:off x="762000" y="1117600"/>
            <a:ext cx="762000" cy="38100"/>
          </a:xfrm>
          <a:prstGeom prst="rect">
            <a:avLst/>
          </a:prstGeom>
          <a:solidFill>
            <a:srgbClr val="2ECC71"/>
          </a:solidFill>
          <a:ln/>
        </p:spPr>
      </p:sp>
      <p:sp>
        <p:nvSpPr>
          <p:cNvPr id="15" name="Text 11"/>
          <p:cNvSpPr/>
          <p:nvPr/>
        </p:nvSpPr>
        <p:spPr>
          <a:xfrm>
            <a:off x="15113000" y="8826500"/>
            <a:ext cx="635000" cy="254000"/>
          </a:xfrm>
          <a:prstGeom prst="rect">
            <a:avLst/>
          </a:prstGeom>
          <a:noFill/>
          <a:ln/>
        </p:spPr>
        <p:txBody>
          <a:bodyPr wrap="none" lIns="0" tIns="0" rIns="0" bIns="0" rtlCol="0" anchor="ctr"/>
          <a:lstStyle/>
          <a:p>
            <a:pPr algn="r">
              <a:lnSpc>
                <a:spcPct val="130000"/>
              </a:lnSpc>
            </a:pPr>
            <a:r>
              <a:rPr lang="en-US" sz="1200" dirty="0">
                <a:solidFill>
                  <a:srgbClr val="64748B"/>
                </a:solidFill>
                <a:latin typeface="Quattrocento Sans" pitchFamily="34" charset="0"/>
                <a:ea typeface="Quattrocento Sans" pitchFamily="34" charset="-122"/>
                <a:cs typeface="Quattrocento Sans" pitchFamily="34" charset="-120"/>
              </a:rPr>
              <a:t>13</a:t>
            </a:r>
            <a:endParaRPr lang="en-US" sz="1200" dirty="0"/>
          </a:p>
        </p:txBody>
      </p:sp>
      <p:pic>
        <p:nvPicPr>
          <p:cNvPr id="18" name="Picture 17">
            <a:extLst>
              <a:ext uri="{FF2B5EF4-FFF2-40B4-BE49-F238E27FC236}">
                <a16:creationId xmlns:a16="http://schemas.microsoft.com/office/drawing/2014/main" id="{DC94FE41-085A-AC7B-4F51-C343325A95DA}"/>
              </a:ext>
            </a:extLst>
          </p:cNvPr>
          <p:cNvPicPr>
            <a:picLocks noChangeAspect="1"/>
          </p:cNvPicPr>
          <p:nvPr/>
        </p:nvPicPr>
        <p:blipFill>
          <a:blip r:embed="rId3"/>
          <a:stretch>
            <a:fillRect/>
          </a:stretch>
        </p:blipFill>
        <p:spPr>
          <a:xfrm>
            <a:off x="761999" y="1333500"/>
            <a:ext cx="14894011" cy="7493000"/>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243E63"/>
          </a:solidFill>
          <a:ln/>
        </p:spPr>
      </p:sp>
      <p:sp>
        <p:nvSpPr>
          <p:cNvPr id="4" name="Text 1"/>
          <p:cNvSpPr/>
          <p:nvPr/>
        </p:nvSpPr>
        <p:spPr>
          <a:xfrm>
            <a:off x="127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Problem &amp; Motivation</a:t>
            </a:r>
            <a:endParaRPr lang="en-US" sz="1100" dirty="0"/>
          </a:p>
        </p:txBody>
      </p:sp>
      <p:sp>
        <p:nvSpPr>
          <p:cNvPr id="5" name="Text 2"/>
          <p:cNvSpPr/>
          <p:nvPr/>
        </p:nvSpPr>
        <p:spPr>
          <a:xfrm>
            <a:off x="2794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Data &amp; Methodology</a:t>
            </a:r>
            <a:endParaRPr lang="en-US" sz="1100" dirty="0"/>
          </a:p>
        </p:txBody>
      </p:sp>
      <p:sp>
        <p:nvSpPr>
          <p:cNvPr id="6" name="Text 3"/>
          <p:cNvSpPr/>
          <p:nvPr/>
        </p:nvSpPr>
        <p:spPr>
          <a:xfrm>
            <a:off x="5461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Exploratory Analysis</a:t>
            </a:r>
            <a:endParaRPr lang="en-US" sz="1100" dirty="0"/>
          </a:p>
        </p:txBody>
      </p:sp>
      <p:sp>
        <p:nvSpPr>
          <p:cNvPr id="7" name="Text 4"/>
          <p:cNvSpPr/>
          <p:nvPr/>
        </p:nvSpPr>
        <p:spPr>
          <a:xfrm>
            <a:off x="8128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Modeling &amp; Results</a:t>
            </a:r>
            <a:endParaRPr lang="en-US" sz="1100" dirty="0"/>
          </a:p>
        </p:txBody>
      </p:sp>
      <p:sp>
        <p:nvSpPr>
          <p:cNvPr id="8" name="Text 5"/>
          <p:cNvSpPr/>
          <p:nvPr/>
        </p:nvSpPr>
        <p:spPr>
          <a:xfrm>
            <a:off x="10795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Business Impact</a:t>
            </a:r>
            <a:endParaRPr lang="en-US" sz="1100" dirty="0"/>
          </a:p>
        </p:txBody>
      </p:sp>
      <p:sp>
        <p:nvSpPr>
          <p:cNvPr id="9" name="Shape 6"/>
          <p:cNvSpPr/>
          <p:nvPr/>
        </p:nvSpPr>
        <p:spPr>
          <a:xfrm>
            <a:off x="13462000" y="63500"/>
            <a:ext cx="2540000" cy="381000"/>
          </a:xfrm>
          <a:prstGeom prst="roundRect">
            <a:avLst>
              <a:gd name="adj" fmla="val 8000"/>
            </a:avLst>
          </a:prstGeom>
          <a:solidFill>
            <a:srgbClr val="3A5A8C"/>
          </a:solidFill>
          <a:ln/>
        </p:spPr>
      </p:sp>
      <p:sp>
        <p:nvSpPr>
          <p:cNvPr id="10" name="Text 7"/>
          <p:cNvSpPr/>
          <p:nvPr/>
        </p:nvSpPr>
        <p:spPr>
          <a:xfrm>
            <a:off x="13462000" y="63500"/>
            <a:ext cx="2540000" cy="381000"/>
          </a:xfrm>
          <a:prstGeom prst="rect">
            <a:avLst/>
          </a:prstGeom>
          <a:noFill/>
          <a:ln/>
        </p:spPr>
        <p:txBody>
          <a:bodyPr wrap="none" lIns="0" tIns="0" rIns="0" bIns="0" rtlCol="0" anchor="ctr"/>
          <a:lstStyle/>
          <a:p>
            <a:pPr algn="ctr">
              <a:lnSpc>
                <a:spcPct val="120000"/>
              </a:lnSpc>
            </a:pPr>
            <a:r>
              <a:rPr lang="en-US" sz="1100" b="1" dirty="0">
                <a:solidFill>
                  <a:srgbClr val="FFFFFF"/>
                </a:solidFill>
                <a:latin typeface="Quattrocento Sans" pitchFamily="34" charset="0"/>
                <a:ea typeface="Quattrocento Sans" pitchFamily="34" charset="-122"/>
                <a:cs typeface="Quattrocento Sans" pitchFamily="34" charset="-120"/>
              </a:rPr>
              <a:t>Roadmap</a:t>
            </a:r>
            <a:endParaRPr lang="en-US" sz="1100" dirty="0"/>
          </a:p>
        </p:txBody>
      </p:sp>
      <p:sp>
        <p:nvSpPr>
          <p:cNvPr id="11" name="Shape 8"/>
          <p:cNvSpPr/>
          <p:nvPr/>
        </p:nvSpPr>
        <p:spPr>
          <a:xfrm>
            <a:off x="0" y="508000"/>
            <a:ext cx="16256000" cy="25400"/>
          </a:xfrm>
          <a:prstGeom prst="rect">
            <a:avLst/>
          </a:prstGeom>
          <a:solidFill>
            <a:srgbClr val="2B4C7E"/>
          </a:solidFill>
          <a:ln/>
        </p:spPr>
      </p:sp>
      <p:sp>
        <p:nvSpPr>
          <p:cNvPr id="12" name="Text 9"/>
          <p:cNvSpPr/>
          <p:nvPr/>
        </p:nvSpPr>
        <p:spPr>
          <a:xfrm>
            <a:off x="762000" y="736600"/>
            <a:ext cx="8890000" cy="508000"/>
          </a:xfrm>
          <a:prstGeom prst="rect">
            <a:avLst/>
          </a:prstGeom>
          <a:noFill/>
          <a:ln/>
        </p:spPr>
        <p:txBody>
          <a:bodyPr wrap="none" lIns="0" tIns="0" rIns="0" bIns="0" rtlCol="0" anchor="ctr"/>
          <a:lstStyle/>
          <a:p>
            <a:pPr algn="l">
              <a:lnSpc>
                <a:spcPct val="120000"/>
              </a:lnSpc>
            </a:pPr>
            <a:r>
              <a:rPr lang="en-US" sz="2800" dirty="0">
                <a:solidFill>
                  <a:srgbClr val="2B4C7E"/>
                </a:solidFill>
                <a:latin typeface="Liter" pitchFamily="34" charset="0"/>
                <a:ea typeface="Liter" pitchFamily="34" charset="-122"/>
                <a:cs typeface="Liter" pitchFamily="34" charset="-120"/>
              </a:rPr>
              <a:t>Strategic Roadmap</a:t>
            </a:r>
            <a:endParaRPr lang="en-US" sz="2800" dirty="0"/>
          </a:p>
        </p:txBody>
      </p:sp>
      <p:sp>
        <p:nvSpPr>
          <p:cNvPr id="13" name="Shape 10"/>
          <p:cNvSpPr/>
          <p:nvPr/>
        </p:nvSpPr>
        <p:spPr>
          <a:xfrm>
            <a:off x="762000" y="1308100"/>
            <a:ext cx="762000" cy="50800"/>
          </a:xfrm>
          <a:prstGeom prst="rect">
            <a:avLst/>
          </a:prstGeom>
          <a:solidFill>
            <a:srgbClr val="2ECC71"/>
          </a:solidFill>
          <a:ln/>
        </p:spPr>
      </p:sp>
      <p:sp>
        <p:nvSpPr>
          <p:cNvPr id="14" name="Shape 11"/>
          <p:cNvSpPr/>
          <p:nvPr/>
        </p:nvSpPr>
        <p:spPr>
          <a:xfrm>
            <a:off x="1524000" y="2540000"/>
            <a:ext cx="13208000" cy="38100"/>
          </a:xfrm>
          <a:prstGeom prst="rect">
            <a:avLst/>
          </a:prstGeom>
          <a:solidFill>
            <a:srgbClr val="2B4C7E"/>
          </a:solidFill>
          <a:ln/>
        </p:spPr>
      </p:sp>
      <p:sp>
        <p:nvSpPr>
          <p:cNvPr id="15" name="Shape 12"/>
          <p:cNvSpPr/>
          <p:nvPr/>
        </p:nvSpPr>
        <p:spPr>
          <a:xfrm>
            <a:off x="1968500" y="2425700"/>
            <a:ext cx="254000" cy="254000"/>
          </a:xfrm>
          <a:prstGeom prst="ellipse">
            <a:avLst/>
          </a:prstGeom>
          <a:solidFill>
            <a:srgbClr val="2B4C7E"/>
          </a:solidFill>
          <a:ln/>
        </p:spPr>
      </p:sp>
      <p:sp>
        <p:nvSpPr>
          <p:cNvPr id="16" name="Text 13"/>
          <p:cNvSpPr/>
          <p:nvPr/>
        </p:nvSpPr>
        <p:spPr>
          <a:xfrm>
            <a:off x="1270000" y="2095500"/>
            <a:ext cx="1651000" cy="279400"/>
          </a:xfrm>
          <a:prstGeom prst="rect">
            <a:avLst/>
          </a:prstGeom>
          <a:noFill/>
          <a:ln/>
        </p:spPr>
        <p:txBody>
          <a:bodyPr wrap="none" lIns="0" tIns="0" rIns="0" bIns="0" rtlCol="0" anchor="ctr"/>
          <a:lstStyle/>
          <a:p>
            <a:pPr algn="ctr">
              <a:lnSpc>
                <a:spcPct val="120000"/>
              </a:lnSpc>
            </a:pPr>
            <a:r>
              <a:rPr lang="en-US" sz="1200" kern="0" spc="100" dirty="0">
                <a:solidFill>
                  <a:srgbClr val="2B4C7E"/>
                </a:solidFill>
                <a:latin typeface="Liter" pitchFamily="34" charset="0"/>
                <a:ea typeface="Liter" pitchFamily="34" charset="-122"/>
                <a:cs typeface="Liter" pitchFamily="34" charset="-120"/>
              </a:rPr>
              <a:t>PHASE 1</a:t>
            </a:r>
            <a:endParaRPr lang="en-US" sz="1200" dirty="0"/>
          </a:p>
        </p:txBody>
      </p:sp>
      <p:sp>
        <p:nvSpPr>
          <p:cNvPr id="17" name="Shape 14"/>
          <p:cNvSpPr/>
          <p:nvPr/>
        </p:nvSpPr>
        <p:spPr>
          <a:xfrm>
            <a:off x="762000" y="2921000"/>
            <a:ext cx="3175000" cy="2730500"/>
          </a:xfrm>
          <a:prstGeom prst="rect">
            <a:avLst/>
          </a:prstGeom>
          <a:solidFill>
            <a:srgbClr val="FFFFFF"/>
          </a:solidFill>
          <a:ln/>
        </p:spPr>
      </p:sp>
      <p:sp>
        <p:nvSpPr>
          <p:cNvPr id="18" name="Shape 15"/>
          <p:cNvSpPr/>
          <p:nvPr/>
        </p:nvSpPr>
        <p:spPr>
          <a:xfrm>
            <a:off x="762000" y="2921000"/>
            <a:ext cx="3175000" cy="63500"/>
          </a:xfrm>
          <a:prstGeom prst="rect">
            <a:avLst/>
          </a:prstGeom>
          <a:solidFill>
            <a:srgbClr val="2B4C7E"/>
          </a:solidFill>
          <a:ln/>
        </p:spPr>
      </p:sp>
      <p:sp>
        <p:nvSpPr>
          <p:cNvPr id="19" name="Shape 16"/>
          <p:cNvSpPr/>
          <p:nvPr/>
        </p:nvSpPr>
        <p:spPr>
          <a:xfrm>
            <a:off x="1016000" y="3175000"/>
            <a:ext cx="406400" cy="406400"/>
          </a:xfrm>
          <a:custGeom>
            <a:avLst/>
            <a:gdLst/>
            <a:ahLst/>
            <a:cxnLst/>
            <a:rect l="l" t="t" r="r" b="b"/>
            <a:pathLst>
              <a:path w="406400" h="406400">
                <a:moveTo>
                  <a:pt x="116114" y="-25400"/>
                </a:moveTo>
                <a:cubicBezTo>
                  <a:pt x="132171" y="-25400"/>
                  <a:pt x="145143" y="-14049"/>
                  <a:pt x="145143" y="0"/>
                </a:cubicBezTo>
                <a:lnTo>
                  <a:pt x="145143" y="76200"/>
                </a:lnTo>
                <a:lnTo>
                  <a:pt x="261257" y="76200"/>
                </a:lnTo>
                <a:lnTo>
                  <a:pt x="261257" y="0"/>
                </a:lnTo>
                <a:cubicBezTo>
                  <a:pt x="261257" y="-14049"/>
                  <a:pt x="274229" y="-25400"/>
                  <a:pt x="290286" y="-25400"/>
                </a:cubicBezTo>
                <a:cubicBezTo>
                  <a:pt x="306342" y="-25400"/>
                  <a:pt x="319314" y="-14049"/>
                  <a:pt x="319314" y="0"/>
                </a:cubicBezTo>
                <a:lnTo>
                  <a:pt x="319314" y="76200"/>
                </a:lnTo>
                <a:lnTo>
                  <a:pt x="377371" y="76200"/>
                </a:lnTo>
                <a:cubicBezTo>
                  <a:pt x="393428" y="76200"/>
                  <a:pt x="406400" y="87551"/>
                  <a:pt x="406400" y="101600"/>
                </a:cubicBezTo>
                <a:cubicBezTo>
                  <a:pt x="406400" y="115649"/>
                  <a:pt x="393428" y="127000"/>
                  <a:pt x="377371" y="127000"/>
                </a:cubicBezTo>
                <a:lnTo>
                  <a:pt x="377371" y="177800"/>
                </a:lnTo>
                <a:cubicBezTo>
                  <a:pt x="377371" y="253286"/>
                  <a:pt x="314597" y="315992"/>
                  <a:pt x="232229" y="328057"/>
                </a:cubicBezTo>
                <a:lnTo>
                  <a:pt x="232229" y="381000"/>
                </a:lnTo>
                <a:cubicBezTo>
                  <a:pt x="232229" y="395049"/>
                  <a:pt x="219256" y="406400"/>
                  <a:pt x="203200" y="406400"/>
                </a:cubicBezTo>
                <a:cubicBezTo>
                  <a:pt x="187144" y="406400"/>
                  <a:pt x="174171" y="395049"/>
                  <a:pt x="174171" y="381000"/>
                </a:cubicBezTo>
                <a:lnTo>
                  <a:pt x="174171" y="328057"/>
                </a:lnTo>
                <a:cubicBezTo>
                  <a:pt x="91803" y="315992"/>
                  <a:pt x="29029" y="253286"/>
                  <a:pt x="29029" y="177800"/>
                </a:cubicBezTo>
                <a:lnTo>
                  <a:pt x="29029" y="127000"/>
                </a:lnTo>
                <a:cubicBezTo>
                  <a:pt x="12972" y="127000"/>
                  <a:pt x="0" y="115649"/>
                  <a:pt x="0" y="101600"/>
                </a:cubicBezTo>
                <a:cubicBezTo>
                  <a:pt x="0" y="87551"/>
                  <a:pt x="12972" y="76200"/>
                  <a:pt x="29029" y="76200"/>
                </a:cubicBezTo>
                <a:lnTo>
                  <a:pt x="87086" y="76200"/>
                </a:lnTo>
                <a:lnTo>
                  <a:pt x="87086" y="0"/>
                </a:lnTo>
                <a:cubicBezTo>
                  <a:pt x="87086" y="-14049"/>
                  <a:pt x="100058" y="-25400"/>
                  <a:pt x="116114" y="-25400"/>
                </a:cubicBezTo>
                <a:close/>
              </a:path>
            </a:pathLst>
          </a:custGeom>
          <a:solidFill>
            <a:srgbClr val="2B4C7E"/>
          </a:solidFill>
          <a:ln/>
        </p:spPr>
      </p:sp>
      <p:sp>
        <p:nvSpPr>
          <p:cNvPr id="20" name="Text 17"/>
          <p:cNvSpPr/>
          <p:nvPr/>
        </p:nvSpPr>
        <p:spPr>
          <a:xfrm>
            <a:off x="1016000" y="3708400"/>
            <a:ext cx="2667000" cy="698500"/>
          </a:xfrm>
          <a:prstGeom prst="rect">
            <a:avLst/>
          </a:prstGeom>
          <a:noFill/>
          <a:ln/>
        </p:spPr>
        <p:txBody>
          <a:bodyPr wrap="square" lIns="0" tIns="0" rIns="0" bIns="0" rtlCol="0" anchor="t"/>
          <a:lstStyle/>
          <a:p>
            <a:pPr algn="l">
              <a:lnSpc>
                <a:spcPct val="130000"/>
              </a:lnSpc>
            </a:pPr>
            <a:r>
              <a:rPr lang="en-US" sz="1600" b="1" dirty="0">
                <a:solidFill>
                  <a:srgbClr val="1E293B"/>
                </a:solidFill>
                <a:latin typeface="Liter" pitchFamily="34" charset="0"/>
                <a:ea typeface="Liter" pitchFamily="34" charset="-122"/>
                <a:cs typeface="Liter" pitchFamily="34" charset="-120"/>
              </a:rPr>
              <a:t>CRM Integration</a:t>
            </a:r>
            <a:endParaRPr lang="en-US" sz="1600" dirty="0"/>
          </a:p>
        </p:txBody>
      </p:sp>
      <p:sp>
        <p:nvSpPr>
          <p:cNvPr id="21" name="Text 18"/>
          <p:cNvSpPr/>
          <p:nvPr/>
        </p:nvSpPr>
        <p:spPr>
          <a:xfrm>
            <a:off x="1016000" y="4445000"/>
            <a:ext cx="2667000" cy="10795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Integrate model into live CRM for monthly subscriber risk scoring and automated flagging</a:t>
            </a:r>
            <a:endParaRPr lang="en-US" sz="1400" dirty="0"/>
          </a:p>
        </p:txBody>
      </p:sp>
      <p:sp>
        <p:nvSpPr>
          <p:cNvPr id="22" name="Shape 19"/>
          <p:cNvSpPr/>
          <p:nvPr/>
        </p:nvSpPr>
        <p:spPr>
          <a:xfrm>
            <a:off x="5524500" y="2425700"/>
            <a:ext cx="254000" cy="254000"/>
          </a:xfrm>
          <a:prstGeom prst="ellipse">
            <a:avLst/>
          </a:prstGeom>
          <a:solidFill>
            <a:srgbClr val="2ECC71"/>
          </a:solidFill>
          <a:ln/>
        </p:spPr>
      </p:sp>
      <p:sp>
        <p:nvSpPr>
          <p:cNvPr id="23" name="Text 20"/>
          <p:cNvSpPr/>
          <p:nvPr/>
        </p:nvSpPr>
        <p:spPr>
          <a:xfrm>
            <a:off x="4826000" y="2095500"/>
            <a:ext cx="1651000" cy="279400"/>
          </a:xfrm>
          <a:prstGeom prst="rect">
            <a:avLst/>
          </a:prstGeom>
          <a:noFill/>
          <a:ln/>
        </p:spPr>
        <p:txBody>
          <a:bodyPr wrap="none" lIns="0" tIns="0" rIns="0" bIns="0" rtlCol="0" anchor="ctr"/>
          <a:lstStyle/>
          <a:p>
            <a:pPr algn="ctr">
              <a:lnSpc>
                <a:spcPct val="120000"/>
              </a:lnSpc>
            </a:pPr>
            <a:r>
              <a:rPr lang="en-US" sz="1200" kern="0" spc="100" dirty="0">
                <a:solidFill>
                  <a:srgbClr val="2ECC71"/>
                </a:solidFill>
                <a:latin typeface="Liter" pitchFamily="34" charset="0"/>
                <a:ea typeface="Liter" pitchFamily="34" charset="-122"/>
                <a:cs typeface="Liter" pitchFamily="34" charset="-120"/>
              </a:rPr>
              <a:t>PHASE 2</a:t>
            </a:r>
            <a:endParaRPr lang="en-US" sz="1200" dirty="0"/>
          </a:p>
        </p:txBody>
      </p:sp>
      <p:sp>
        <p:nvSpPr>
          <p:cNvPr id="24" name="Shape 21"/>
          <p:cNvSpPr/>
          <p:nvPr/>
        </p:nvSpPr>
        <p:spPr>
          <a:xfrm>
            <a:off x="4318000" y="2921000"/>
            <a:ext cx="3175000" cy="2921000"/>
          </a:xfrm>
          <a:prstGeom prst="rect">
            <a:avLst/>
          </a:prstGeom>
          <a:solidFill>
            <a:srgbClr val="FFFFFF"/>
          </a:solidFill>
          <a:ln/>
        </p:spPr>
      </p:sp>
      <p:sp>
        <p:nvSpPr>
          <p:cNvPr id="25" name="Shape 22"/>
          <p:cNvSpPr/>
          <p:nvPr/>
        </p:nvSpPr>
        <p:spPr>
          <a:xfrm>
            <a:off x="4318000" y="2921000"/>
            <a:ext cx="3175000" cy="63500"/>
          </a:xfrm>
          <a:prstGeom prst="rect">
            <a:avLst/>
          </a:prstGeom>
          <a:solidFill>
            <a:srgbClr val="2ECC71"/>
          </a:solidFill>
          <a:ln/>
        </p:spPr>
      </p:sp>
      <p:sp>
        <p:nvSpPr>
          <p:cNvPr id="26" name="Shape 23"/>
          <p:cNvSpPr/>
          <p:nvPr/>
        </p:nvSpPr>
        <p:spPr>
          <a:xfrm>
            <a:off x="4572000" y="3175000"/>
            <a:ext cx="406400" cy="406400"/>
          </a:xfrm>
          <a:custGeom>
            <a:avLst/>
            <a:gdLst/>
            <a:ahLst/>
            <a:cxnLst/>
            <a:rect l="l" t="t" r="r" b="b"/>
            <a:pathLst>
              <a:path w="406400" h="406400">
                <a:moveTo>
                  <a:pt x="261257" y="0"/>
                </a:moveTo>
                <a:lnTo>
                  <a:pt x="116114" y="0"/>
                </a:lnTo>
                <a:cubicBezTo>
                  <a:pt x="100058" y="0"/>
                  <a:pt x="87086" y="11351"/>
                  <a:pt x="87086" y="25400"/>
                </a:cubicBezTo>
                <a:cubicBezTo>
                  <a:pt x="87086" y="39449"/>
                  <a:pt x="100058" y="50800"/>
                  <a:pt x="116114" y="50800"/>
                </a:cubicBezTo>
                <a:lnTo>
                  <a:pt x="116114" y="171053"/>
                </a:lnTo>
                <a:lnTo>
                  <a:pt x="6804" y="338376"/>
                </a:lnTo>
                <a:cubicBezTo>
                  <a:pt x="2359" y="345281"/>
                  <a:pt x="0" y="352981"/>
                  <a:pt x="0" y="360918"/>
                </a:cubicBezTo>
                <a:cubicBezTo>
                  <a:pt x="0" y="386080"/>
                  <a:pt x="23223" y="406400"/>
                  <a:pt x="51979" y="406400"/>
                </a:cubicBezTo>
                <a:lnTo>
                  <a:pt x="354421" y="406400"/>
                </a:lnTo>
                <a:cubicBezTo>
                  <a:pt x="383086" y="406400"/>
                  <a:pt x="406400" y="386080"/>
                  <a:pt x="406400" y="360918"/>
                </a:cubicBezTo>
                <a:cubicBezTo>
                  <a:pt x="406400" y="352981"/>
                  <a:pt x="404041" y="345202"/>
                  <a:pt x="399596" y="338376"/>
                </a:cubicBezTo>
                <a:lnTo>
                  <a:pt x="290286" y="171053"/>
                </a:lnTo>
                <a:lnTo>
                  <a:pt x="290286" y="50800"/>
                </a:lnTo>
                <a:cubicBezTo>
                  <a:pt x="306342" y="50800"/>
                  <a:pt x="319314" y="39449"/>
                  <a:pt x="319314" y="25400"/>
                </a:cubicBezTo>
                <a:cubicBezTo>
                  <a:pt x="319314" y="11351"/>
                  <a:pt x="306342" y="0"/>
                  <a:pt x="290286" y="0"/>
                </a:cubicBezTo>
                <a:lnTo>
                  <a:pt x="261257" y="0"/>
                </a:lnTo>
                <a:close/>
                <a:moveTo>
                  <a:pt x="174171" y="171053"/>
                </a:moveTo>
                <a:lnTo>
                  <a:pt x="174171" y="50800"/>
                </a:lnTo>
                <a:lnTo>
                  <a:pt x="232229" y="50800"/>
                </a:lnTo>
                <a:lnTo>
                  <a:pt x="232229" y="171053"/>
                </a:lnTo>
                <a:cubicBezTo>
                  <a:pt x="232229" y="179864"/>
                  <a:pt x="234859" y="188595"/>
                  <a:pt x="239849" y="196294"/>
                </a:cubicBezTo>
                <a:lnTo>
                  <a:pt x="277586" y="254000"/>
                </a:lnTo>
                <a:lnTo>
                  <a:pt x="128814" y="254000"/>
                </a:lnTo>
                <a:lnTo>
                  <a:pt x="166551" y="196294"/>
                </a:lnTo>
                <a:cubicBezTo>
                  <a:pt x="171541" y="188595"/>
                  <a:pt x="174171" y="179943"/>
                  <a:pt x="174171" y="171053"/>
                </a:cubicBezTo>
                <a:close/>
              </a:path>
            </a:pathLst>
          </a:custGeom>
          <a:solidFill>
            <a:srgbClr val="2ECC71"/>
          </a:solidFill>
          <a:ln/>
        </p:spPr>
      </p:sp>
      <p:sp>
        <p:nvSpPr>
          <p:cNvPr id="27" name="Text 24"/>
          <p:cNvSpPr/>
          <p:nvPr/>
        </p:nvSpPr>
        <p:spPr>
          <a:xfrm>
            <a:off x="4572000" y="3708400"/>
            <a:ext cx="2667000" cy="698500"/>
          </a:xfrm>
          <a:prstGeom prst="rect">
            <a:avLst/>
          </a:prstGeom>
          <a:noFill/>
          <a:ln/>
        </p:spPr>
        <p:txBody>
          <a:bodyPr wrap="square" lIns="0" tIns="0" rIns="0" bIns="0" rtlCol="0" anchor="t"/>
          <a:lstStyle/>
          <a:p>
            <a:pPr algn="l">
              <a:lnSpc>
                <a:spcPct val="130000"/>
              </a:lnSpc>
            </a:pPr>
            <a:r>
              <a:rPr lang="en-US" sz="1600" b="1" dirty="0">
                <a:solidFill>
                  <a:srgbClr val="1E293B"/>
                </a:solidFill>
                <a:latin typeface="Liter" pitchFamily="34" charset="0"/>
                <a:ea typeface="Liter" pitchFamily="34" charset="-122"/>
                <a:cs typeface="Liter" pitchFamily="34" charset="-120"/>
              </a:rPr>
              <a:t>A/B Testing</a:t>
            </a:r>
            <a:endParaRPr lang="en-US" sz="1600" dirty="0"/>
          </a:p>
        </p:txBody>
      </p:sp>
      <p:sp>
        <p:nvSpPr>
          <p:cNvPr id="28" name="Text 25"/>
          <p:cNvSpPr/>
          <p:nvPr/>
        </p:nvSpPr>
        <p:spPr>
          <a:xfrm>
            <a:off x="4572000" y="4445000"/>
            <a:ext cx="2667000" cy="12700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Test retention offers on flagged high-risk cohort to validate save-rate assumptions with real data</a:t>
            </a:r>
            <a:endParaRPr lang="en-US" sz="1400" dirty="0"/>
          </a:p>
        </p:txBody>
      </p:sp>
      <p:sp>
        <p:nvSpPr>
          <p:cNvPr id="29" name="Shape 26"/>
          <p:cNvSpPr/>
          <p:nvPr/>
        </p:nvSpPr>
        <p:spPr>
          <a:xfrm>
            <a:off x="9080500" y="2425700"/>
            <a:ext cx="254000" cy="254000"/>
          </a:xfrm>
          <a:prstGeom prst="ellipse">
            <a:avLst/>
          </a:prstGeom>
          <a:solidFill>
            <a:srgbClr val="3498DB"/>
          </a:solidFill>
          <a:ln/>
        </p:spPr>
      </p:sp>
      <p:sp>
        <p:nvSpPr>
          <p:cNvPr id="30" name="Text 27"/>
          <p:cNvSpPr/>
          <p:nvPr/>
        </p:nvSpPr>
        <p:spPr>
          <a:xfrm>
            <a:off x="8382000" y="2095500"/>
            <a:ext cx="1651000" cy="279400"/>
          </a:xfrm>
          <a:prstGeom prst="rect">
            <a:avLst/>
          </a:prstGeom>
          <a:noFill/>
          <a:ln/>
        </p:spPr>
        <p:txBody>
          <a:bodyPr wrap="none" lIns="0" tIns="0" rIns="0" bIns="0" rtlCol="0" anchor="ctr"/>
          <a:lstStyle/>
          <a:p>
            <a:pPr algn="ctr">
              <a:lnSpc>
                <a:spcPct val="120000"/>
              </a:lnSpc>
            </a:pPr>
            <a:r>
              <a:rPr lang="en-US" sz="1200" kern="0" spc="100" dirty="0">
                <a:solidFill>
                  <a:srgbClr val="3498DB"/>
                </a:solidFill>
                <a:latin typeface="Liter" pitchFamily="34" charset="0"/>
                <a:ea typeface="Liter" pitchFamily="34" charset="-122"/>
                <a:cs typeface="Liter" pitchFamily="34" charset="-120"/>
              </a:rPr>
              <a:t>PHASE 3</a:t>
            </a:r>
            <a:endParaRPr lang="en-US" sz="1200" dirty="0"/>
          </a:p>
        </p:txBody>
      </p:sp>
      <p:sp>
        <p:nvSpPr>
          <p:cNvPr id="31" name="Shape 28"/>
          <p:cNvSpPr/>
          <p:nvPr/>
        </p:nvSpPr>
        <p:spPr>
          <a:xfrm>
            <a:off x="7874000" y="2921000"/>
            <a:ext cx="3175000" cy="2921000"/>
          </a:xfrm>
          <a:prstGeom prst="rect">
            <a:avLst/>
          </a:prstGeom>
          <a:solidFill>
            <a:srgbClr val="FFFFFF"/>
          </a:solidFill>
          <a:ln/>
        </p:spPr>
      </p:sp>
      <p:sp>
        <p:nvSpPr>
          <p:cNvPr id="32" name="Shape 29"/>
          <p:cNvSpPr/>
          <p:nvPr/>
        </p:nvSpPr>
        <p:spPr>
          <a:xfrm>
            <a:off x="7874000" y="2921000"/>
            <a:ext cx="3175000" cy="63500"/>
          </a:xfrm>
          <a:prstGeom prst="rect">
            <a:avLst/>
          </a:prstGeom>
          <a:solidFill>
            <a:srgbClr val="3498DB"/>
          </a:solidFill>
          <a:ln/>
        </p:spPr>
      </p:sp>
      <p:sp>
        <p:nvSpPr>
          <p:cNvPr id="33" name="Shape 30"/>
          <p:cNvSpPr/>
          <p:nvPr/>
        </p:nvSpPr>
        <p:spPr>
          <a:xfrm>
            <a:off x="8128000" y="3175000"/>
            <a:ext cx="406400" cy="406400"/>
          </a:xfrm>
          <a:custGeom>
            <a:avLst/>
            <a:gdLst/>
            <a:ahLst/>
            <a:cxnLst/>
            <a:rect l="l" t="t" r="r" b="b"/>
            <a:pathLst>
              <a:path w="406400" h="406400">
                <a:moveTo>
                  <a:pt x="184547" y="4128"/>
                </a:moveTo>
                <a:cubicBezTo>
                  <a:pt x="196374" y="-1349"/>
                  <a:pt x="210026" y="-1349"/>
                  <a:pt x="221853" y="4128"/>
                </a:cubicBezTo>
                <a:lnTo>
                  <a:pt x="395367" y="84296"/>
                </a:lnTo>
                <a:cubicBezTo>
                  <a:pt x="402114" y="87392"/>
                  <a:pt x="406400" y="94139"/>
                  <a:pt x="406400" y="101600"/>
                </a:cubicBezTo>
                <a:cubicBezTo>
                  <a:pt x="406400" y="109061"/>
                  <a:pt x="402114" y="115808"/>
                  <a:pt x="395367" y="118904"/>
                </a:cubicBezTo>
                <a:lnTo>
                  <a:pt x="221853" y="199073"/>
                </a:lnTo>
                <a:cubicBezTo>
                  <a:pt x="210026" y="204549"/>
                  <a:pt x="196374" y="204549"/>
                  <a:pt x="184547" y="199073"/>
                </a:cubicBezTo>
                <a:lnTo>
                  <a:pt x="11033" y="118904"/>
                </a:lnTo>
                <a:cubicBezTo>
                  <a:pt x="4286" y="115729"/>
                  <a:pt x="0" y="108982"/>
                  <a:pt x="0" y="101600"/>
                </a:cubicBezTo>
                <a:cubicBezTo>
                  <a:pt x="0" y="94218"/>
                  <a:pt x="4286" y="87392"/>
                  <a:pt x="11033" y="84296"/>
                </a:cubicBezTo>
                <a:lnTo>
                  <a:pt x="184547" y="4128"/>
                </a:lnTo>
                <a:close/>
                <a:moveTo>
                  <a:pt x="38179" y="173355"/>
                </a:moveTo>
                <a:lnTo>
                  <a:pt x="168593" y="233601"/>
                </a:lnTo>
                <a:cubicBezTo>
                  <a:pt x="190579" y="243761"/>
                  <a:pt x="215900" y="243761"/>
                  <a:pt x="237887" y="233601"/>
                </a:cubicBezTo>
                <a:lnTo>
                  <a:pt x="368300" y="173355"/>
                </a:lnTo>
                <a:lnTo>
                  <a:pt x="395367" y="185896"/>
                </a:lnTo>
                <a:cubicBezTo>
                  <a:pt x="402114" y="188992"/>
                  <a:pt x="406400" y="195739"/>
                  <a:pt x="406400" y="203200"/>
                </a:cubicBezTo>
                <a:cubicBezTo>
                  <a:pt x="406400" y="210661"/>
                  <a:pt x="402114" y="217408"/>
                  <a:pt x="395367" y="220504"/>
                </a:cubicBezTo>
                <a:lnTo>
                  <a:pt x="221853" y="300673"/>
                </a:lnTo>
                <a:cubicBezTo>
                  <a:pt x="210026" y="306149"/>
                  <a:pt x="196374" y="306149"/>
                  <a:pt x="184547" y="300673"/>
                </a:cubicBezTo>
                <a:lnTo>
                  <a:pt x="11033" y="220504"/>
                </a:lnTo>
                <a:cubicBezTo>
                  <a:pt x="4286" y="217329"/>
                  <a:pt x="0" y="210582"/>
                  <a:pt x="0" y="203200"/>
                </a:cubicBezTo>
                <a:cubicBezTo>
                  <a:pt x="0" y="195818"/>
                  <a:pt x="4286" y="188992"/>
                  <a:pt x="11033" y="185896"/>
                </a:cubicBezTo>
                <a:lnTo>
                  <a:pt x="38100" y="173355"/>
                </a:lnTo>
                <a:close/>
                <a:moveTo>
                  <a:pt x="11033" y="287496"/>
                </a:moveTo>
                <a:lnTo>
                  <a:pt x="38100" y="274955"/>
                </a:lnTo>
                <a:lnTo>
                  <a:pt x="168513" y="335201"/>
                </a:lnTo>
                <a:cubicBezTo>
                  <a:pt x="190500" y="345361"/>
                  <a:pt x="215821" y="345361"/>
                  <a:pt x="237808" y="335201"/>
                </a:cubicBezTo>
                <a:lnTo>
                  <a:pt x="368221" y="274955"/>
                </a:lnTo>
                <a:lnTo>
                  <a:pt x="395288" y="287496"/>
                </a:lnTo>
                <a:cubicBezTo>
                  <a:pt x="402034" y="290592"/>
                  <a:pt x="406321" y="297339"/>
                  <a:pt x="406321" y="304800"/>
                </a:cubicBezTo>
                <a:cubicBezTo>
                  <a:pt x="406321" y="312261"/>
                  <a:pt x="402034" y="319008"/>
                  <a:pt x="395288" y="322104"/>
                </a:cubicBezTo>
                <a:lnTo>
                  <a:pt x="221774" y="402273"/>
                </a:lnTo>
                <a:cubicBezTo>
                  <a:pt x="209947" y="407749"/>
                  <a:pt x="196294" y="407749"/>
                  <a:pt x="184468" y="402273"/>
                </a:cubicBezTo>
                <a:lnTo>
                  <a:pt x="11033" y="322104"/>
                </a:lnTo>
                <a:cubicBezTo>
                  <a:pt x="4286" y="318929"/>
                  <a:pt x="0" y="312182"/>
                  <a:pt x="0" y="304800"/>
                </a:cubicBezTo>
                <a:cubicBezTo>
                  <a:pt x="0" y="297418"/>
                  <a:pt x="4286" y="290592"/>
                  <a:pt x="11033" y="287496"/>
                </a:cubicBezTo>
                <a:close/>
              </a:path>
            </a:pathLst>
          </a:custGeom>
          <a:solidFill>
            <a:srgbClr val="3498DB"/>
          </a:solidFill>
          <a:ln/>
        </p:spPr>
      </p:sp>
      <p:sp>
        <p:nvSpPr>
          <p:cNvPr id="34" name="Text 31"/>
          <p:cNvSpPr/>
          <p:nvPr/>
        </p:nvSpPr>
        <p:spPr>
          <a:xfrm>
            <a:off x="8128000" y="3708400"/>
            <a:ext cx="2667000" cy="698500"/>
          </a:xfrm>
          <a:prstGeom prst="rect">
            <a:avLst/>
          </a:prstGeom>
          <a:noFill/>
          <a:ln/>
        </p:spPr>
        <p:txBody>
          <a:bodyPr wrap="square" lIns="0" tIns="0" rIns="0" bIns="0" rtlCol="0" anchor="t"/>
          <a:lstStyle/>
          <a:p>
            <a:pPr algn="l">
              <a:lnSpc>
                <a:spcPct val="130000"/>
              </a:lnSpc>
            </a:pPr>
            <a:r>
              <a:rPr lang="en-US" sz="1600" b="1" dirty="0">
                <a:solidFill>
                  <a:srgbClr val="1E293B"/>
                </a:solidFill>
                <a:latin typeface="Liter" pitchFamily="34" charset="0"/>
                <a:ea typeface="Liter" pitchFamily="34" charset="-122"/>
                <a:cs typeface="Liter" pitchFamily="34" charset="-120"/>
              </a:rPr>
              <a:t>Feature Expansion</a:t>
            </a:r>
            <a:endParaRPr lang="en-US" sz="1600" dirty="0"/>
          </a:p>
        </p:txBody>
      </p:sp>
      <p:sp>
        <p:nvSpPr>
          <p:cNvPr id="35" name="Text 32"/>
          <p:cNvSpPr/>
          <p:nvPr/>
        </p:nvSpPr>
        <p:spPr>
          <a:xfrm>
            <a:off x="8128000" y="4445000"/>
            <a:ext cx="2667000" cy="12700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Add network-quality metrics and customer-service interaction data to lift model performance</a:t>
            </a:r>
            <a:endParaRPr lang="en-US" sz="1400" dirty="0"/>
          </a:p>
        </p:txBody>
      </p:sp>
      <p:sp>
        <p:nvSpPr>
          <p:cNvPr id="36" name="Shape 33"/>
          <p:cNvSpPr/>
          <p:nvPr/>
        </p:nvSpPr>
        <p:spPr>
          <a:xfrm>
            <a:off x="12636500" y="2425700"/>
            <a:ext cx="254000" cy="254000"/>
          </a:xfrm>
          <a:prstGeom prst="ellipse">
            <a:avLst/>
          </a:prstGeom>
          <a:solidFill>
            <a:srgbClr val="F39C12"/>
          </a:solidFill>
          <a:ln/>
        </p:spPr>
      </p:sp>
      <p:sp>
        <p:nvSpPr>
          <p:cNvPr id="37" name="Text 34"/>
          <p:cNvSpPr/>
          <p:nvPr/>
        </p:nvSpPr>
        <p:spPr>
          <a:xfrm>
            <a:off x="11938000" y="2095500"/>
            <a:ext cx="1651000" cy="279400"/>
          </a:xfrm>
          <a:prstGeom prst="rect">
            <a:avLst/>
          </a:prstGeom>
          <a:noFill/>
          <a:ln/>
        </p:spPr>
        <p:txBody>
          <a:bodyPr wrap="none" lIns="0" tIns="0" rIns="0" bIns="0" rtlCol="0" anchor="ctr"/>
          <a:lstStyle/>
          <a:p>
            <a:pPr algn="ctr">
              <a:lnSpc>
                <a:spcPct val="120000"/>
              </a:lnSpc>
            </a:pPr>
            <a:r>
              <a:rPr lang="en-US" sz="1200" kern="0" spc="100" dirty="0">
                <a:solidFill>
                  <a:srgbClr val="F39C12"/>
                </a:solidFill>
                <a:latin typeface="Liter" pitchFamily="34" charset="0"/>
                <a:ea typeface="Liter" pitchFamily="34" charset="-122"/>
                <a:cs typeface="Liter" pitchFamily="34" charset="-120"/>
              </a:rPr>
              <a:t>PHASE 4</a:t>
            </a:r>
            <a:endParaRPr lang="en-US" sz="1200" dirty="0"/>
          </a:p>
        </p:txBody>
      </p:sp>
      <p:sp>
        <p:nvSpPr>
          <p:cNvPr id="38" name="Shape 35"/>
          <p:cNvSpPr/>
          <p:nvPr/>
        </p:nvSpPr>
        <p:spPr>
          <a:xfrm>
            <a:off x="11430000" y="2921000"/>
            <a:ext cx="3175000" cy="2730500"/>
          </a:xfrm>
          <a:prstGeom prst="rect">
            <a:avLst/>
          </a:prstGeom>
          <a:solidFill>
            <a:srgbClr val="FFFFFF"/>
          </a:solidFill>
          <a:ln/>
        </p:spPr>
      </p:sp>
      <p:sp>
        <p:nvSpPr>
          <p:cNvPr id="39" name="Shape 36"/>
          <p:cNvSpPr/>
          <p:nvPr/>
        </p:nvSpPr>
        <p:spPr>
          <a:xfrm>
            <a:off x="11430000" y="2921000"/>
            <a:ext cx="3175000" cy="63500"/>
          </a:xfrm>
          <a:prstGeom prst="rect">
            <a:avLst/>
          </a:prstGeom>
          <a:solidFill>
            <a:srgbClr val="F39C12"/>
          </a:solidFill>
          <a:ln/>
        </p:spPr>
      </p:sp>
      <p:sp>
        <p:nvSpPr>
          <p:cNvPr id="40" name="Shape 37"/>
          <p:cNvSpPr/>
          <p:nvPr/>
        </p:nvSpPr>
        <p:spPr>
          <a:xfrm>
            <a:off x="11684000" y="3175000"/>
            <a:ext cx="406400" cy="406400"/>
          </a:xfrm>
          <a:custGeom>
            <a:avLst/>
            <a:gdLst/>
            <a:ahLst/>
            <a:cxnLst/>
            <a:rect l="l" t="t" r="r" b="b"/>
            <a:pathLst>
              <a:path w="406400" h="406400">
                <a:moveTo>
                  <a:pt x="381079" y="152400"/>
                </a:moveTo>
                <a:lnTo>
                  <a:pt x="387350" y="152400"/>
                </a:lnTo>
                <a:cubicBezTo>
                  <a:pt x="397907" y="152400"/>
                  <a:pt x="406400" y="143907"/>
                  <a:pt x="406400" y="133350"/>
                </a:cubicBezTo>
                <a:lnTo>
                  <a:pt x="406400" y="19050"/>
                </a:lnTo>
                <a:cubicBezTo>
                  <a:pt x="406400" y="11351"/>
                  <a:pt x="401796" y="4366"/>
                  <a:pt x="394652" y="1429"/>
                </a:cubicBezTo>
                <a:cubicBezTo>
                  <a:pt x="387509" y="-1508"/>
                  <a:pt x="379333" y="159"/>
                  <a:pt x="373856" y="5556"/>
                </a:cubicBezTo>
                <a:lnTo>
                  <a:pt x="332819" y="46673"/>
                </a:lnTo>
                <a:cubicBezTo>
                  <a:pt x="297656" y="17542"/>
                  <a:pt x="252413" y="0"/>
                  <a:pt x="203200" y="0"/>
                </a:cubicBezTo>
                <a:cubicBezTo>
                  <a:pt x="100806" y="0"/>
                  <a:pt x="16113" y="75724"/>
                  <a:pt x="2064" y="174228"/>
                </a:cubicBezTo>
                <a:cubicBezTo>
                  <a:pt x="79" y="188119"/>
                  <a:pt x="9684" y="200978"/>
                  <a:pt x="23574" y="202962"/>
                </a:cubicBezTo>
                <a:cubicBezTo>
                  <a:pt x="37465" y="204946"/>
                  <a:pt x="50324" y="195263"/>
                  <a:pt x="52308" y="181451"/>
                </a:cubicBezTo>
                <a:cubicBezTo>
                  <a:pt x="62865" y="107553"/>
                  <a:pt x="126444" y="50800"/>
                  <a:pt x="203200" y="50800"/>
                </a:cubicBezTo>
                <a:cubicBezTo>
                  <a:pt x="238442" y="50800"/>
                  <a:pt x="270828" y="62706"/>
                  <a:pt x="296624" y="82788"/>
                </a:cubicBezTo>
                <a:lnTo>
                  <a:pt x="259556" y="119856"/>
                </a:lnTo>
                <a:cubicBezTo>
                  <a:pt x="254079" y="125333"/>
                  <a:pt x="252492" y="133509"/>
                  <a:pt x="255429" y="140652"/>
                </a:cubicBezTo>
                <a:cubicBezTo>
                  <a:pt x="258366" y="147796"/>
                  <a:pt x="265351" y="152400"/>
                  <a:pt x="273050" y="152400"/>
                </a:cubicBezTo>
                <a:lnTo>
                  <a:pt x="381079" y="152400"/>
                </a:lnTo>
                <a:close/>
                <a:moveTo>
                  <a:pt x="404416" y="232172"/>
                </a:moveTo>
                <a:cubicBezTo>
                  <a:pt x="406400" y="218281"/>
                  <a:pt x="396716" y="205423"/>
                  <a:pt x="382905" y="203438"/>
                </a:cubicBezTo>
                <a:cubicBezTo>
                  <a:pt x="369094" y="201454"/>
                  <a:pt x="356156" y="211138"/>
                  <a:pt x="354171" y="224949"/>
                </a:cubicBezTo>
                <a:cubicBezTo>
                  <a:pt x="343614" y="298768"/>
                  <a:pt x="280035" y="355521"/>
                  <a:pt x="203279" y="355521"/>
                </a:cubicBezTo>
                <a:cubicBezTo>
                  <a:pt x="168037" y="355521"/>
                  <a:pt x="135652" y="343614"/>
                  <a:pt x="109855" y="323533"/>
                </a:cubicBezTo>
                <a:lnTo>
                  <a:pt x="146844" y="286544"/>
                </a:lnTo>
                <a:cubicBezTo>
                  <a:pt x="152321" y="281067"/>
                  <a:pt x="153908" y="272891"/>
                  <a:pt x="150971" y="265748"/>
                </a:cubicBezTo>
                <a:cubicBezTo>
                  <a:pt x="148034" y="258604"/>
                  <a:pt x="141049" y="254000"/>
                  <a:pt x="133350" y="254000"/>
                </a:cubicBezTo>
                <a:lnTo>
                  <a:pt x="19050" y="254000"/>
                </a:lnTo>
                <a:cubicBezTo>
                  <a:pt x="8493" y="254000"/>
                  <a:pt x="0" y="262493"/>
                  <a:pt x="0" y="273050"/>
                </a:cubicBezTo>
                <a:lnTo>
                  <a:pt x="0" y="387350"/>
                </a:lnTo>
                <a:cubicBezTo>
                  <a:pt x="0" y="395049"/>
                  <a:pt x="4604" y="402034"/>
                  <a:pt x="11748" y="404971"/>
                </a:cubicBezTo>
                <a:cubicBezTo>
                  <a:pt x="18891" y="407908"/>
                  <a:pt x="27067" y="406241"/>
                  <a:pt x="32544" y="400844"/>
                </a:cubicBezTo>
                <a:lnTo>
                  <a:pt x="73660" y="359728"/>
                </a:lnTo>
                <a:cubicBezTo>
                  <a:pt x="108744" y="388858"/>
                  <a:pt x="153988" y="406400"/>
                  <a:pt x="203200" y="406400"/>
                </a:cubicBezTo>
                <a:cubicBezTo>
                  <a:pt x="305594" y="406400"/>
                  <a:pt x="390287" y="330676"/>
                  <a:pt x="404336" y="232172"/>
                </a:cubicBezTo>
                <a:close/>
              </a:path>
            </a:pathLst>
          </a:custGeom>
          <a:solidFill>
            <a:srgbClr val="F39C12"/>
          </a:solidFill>
          <a:ln/>
        </p:spPr>
      </p:sp>
      <p:sp>
        <p:nvSpPr>
          <p:cNvPr id="41" name="Text 38"/>
          <p:cNvSpPr/>
          <p:nvPr/>
        </p:nvSpPr>
        <p:spPr>
          <a:xfrm>
            <a:off x="11684000" y="3708400"/>
            <a:ext cx="2667000" cy="698500"/>
          </a:xfrm>
          <a:prstGeom prst="rect">
            <a:avLst/>
          </a:prstGeom>
          <a:noFill/>
          <a:ln/>
        </p:spPr>
        <p:txBody>
          <a:bodyPr wrap="square" lIns="0" tIns="0" rIns="0" bIns="0" rtlCol="0" anchor="t"/>
          <a:lstStyle/>
          <a:p>
            <a:pPr algn="l">
              <a:lnSpc>
                <a:spcPct val="130000"/>
              </a:lnSpc>
            </a:pPr>
            <a:r>
              <a:rPr lang="en-US" sz="1600" b="1" dirty="0">
                <a:solidFill>
                  <a:srgbClr val="1E293B"/>
                </a:solidFill>
                <a:latin typeface="Liter" pitchFamily="34" charset="0"/>
                <a:ea typeface="Liter" pitchFamily="34" charset="-122"/>
                <a:cs typeface="Liter" pitchFamily="34" charset="-120"/>
              </a:rPr>
              <a:t>Monitoring &amp; Retraining</a:t>
            </a:r>
            <a:endParaRPr lang="en-US" sz="1600" dirty="0"/>
          </a:p>
        </p:txBody>
      </p:sp>
      <p:sp>
        <p:nvSpPr>
          <p:cNvPr id="42" name="Text 39"/>
          <p:cNvSpPr/>
          <p:nvPr/>
        </p:nvSpPr>
        <p:spPr>
          <a:xfrm>
            <a:off x="11684000" y="4445000"/>
            <a:ext cx="2667000" cy="10795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Define retraining cadence and model monitoring to detect drift and maintain performance</a:t>
            </a:r>
            <a:endParaRPr lang="en-US" sz="1400" dirty="0"/>
          </a:p>
        </p:txBody>
      </p:sp>
      <p:sp>
        <p:nvSpPr>
          <p:cNvPr id="43" name="Shape 40"/>
          <p:cNvSpPr/>
          <p:nvPr/>
        </p:nvSpPr>
        <p:spPr>
          <a:xfrm>
            <a:off x="762000" y="6223000"/>
            <a:ext cx="14732000" cy="1651000"/>
          </a:xfrm>
          <a:prstGeom prst="rect">
            <a:avLst/>
          </a:prstGeom>
          <a:solidFill>
            <a:srgbClr val="2B4C7E"/>
          </a:solidFill>
          <a:ln/>
        </p:spPr>
      </p:sp>
      <p:sp>
        <p:nvSpPr>
          <p:cNvPr id="44" name="Text 41"/>
          <p:cNvSpPr/>
          <p:nvPr/>
        </p:nvSpPr>
        <p:spPr>
          <a:xfrm>
            <a:off x="1143000" y="6350000"/>
            <a:ext cx="13970000" cy="1397000"/>
          </a:xfrm>
          <a:prstGeom prst="rect">
            <a:avLst/>
          </a:prstGeom>
          <a:noFill/>
          <a:ln/>
        </p:spPr>
        <p:txBody>
          <a:bodyPr wrap="square" lIns="0" tIns="0" rIns="0" bIns="0" rtlCol="0" anchor="ctr"/>
          <a:lstStyle/>
          <a:p>
            <a:pPr algn="l">
              <a:lnSpc>
                <a:spcPct val="160000"/>
              </a:lnSpc>
            </a:pPr>
            <a:r>
              <a:rPr lang="en-US" sz="1800" b="1" dirty="0">
                <a:solidFill>
                  <a:srgbClr val="FFFFFF"/>
                </a:solidFill>
                <a:latin typeface="Quattrocento Sans" pitchFamily="34" charset="0"/>
                <a:ea typeface="Quattrocento Sans" pitchFamily="34" charset="-122"/>
                <a:cs typeface="Quattrocento Sans" pitchFamily="34" charset="-120"/>
              </a:rPr>
              <a:t>Expected Outcomes:</a:t>
            </a:r>
            <a:endParaRPr lang="en-US" sz="1800" dirty="0"/>
          </a:p>
          <a:p>
            <a:pPr algn="l">
              <a:lnSpc>
                <a:spcPct val="160000"/>
              </a:lnSpc>
            </a:pPr>
            <a:r>
              <a:rPr lang="en-US" sz="1800" dirty="0">
                <a:solidFill>
                  <a:srgbClr val="FFFFFF"/>
                </a:solidFill>
                <a:latin typeface="Quattrocento Sans" pitchFamily="34" charset="0"/>
                <a:ea typeface="Quattrocento Sans" pitchFamily="34" charset="-122"/>
                <a:cs typeface="Quattrocento Sans" pitchFamily="34" charset="-120"/>
              </a:rPr>
              <a:t>Monthly automated risk scoring for entire subscriber base | Validated save rates from live A/B tests | 15-25% accuracy lift from feature expansion | Continuous model health monitoring with automated retraining triggers</a:t>
            </a:r>
            <a:endParaRPr lang="en-US" sz="1800" dirty="0"/>
          </a:p>
        </p:txBody>
      </p:sp>
      <p:sp>
        <p:nvSpPr>
          <p:cNvPr id="45" name="Text 42"/>
          <p:cNvSpPr/>
          <p:nvPr/>
        </p:nvSpPr>
        <p:spPr>
          <a:xfrm>
            <a:off x="15113000" y="8826500"/>
            <a:ext cx="635000" cy="254000"/>
          </a:xfrm>
          <a:prstGeom prst="rect">
            <a:avLst/>
          </a:prstGeom>
          <a:noFill/>
          <a:ln/>
        </p:spPr>
        <p:txBody>
          <a:bodyPr wrap="none" lIns="0" tIns="0" rIns="0" bIns="0" rtlCol="0" anchor="ctr"/>
          <a:lstStyle/>
          <a:p>
            <a:pPr algn="r">
              <a:lnSpc>
                <a:spcPct val="130000"/>
              </a:lnSpc>
            </a:pPr>
            <a:r>
              <a:rPr lang="en-US" sz="1200" dirty="0">
                <a:solidFill>
                  <a:srgbClr val="64748B"/>
                </a:solidFill>
                <a:latin typeface="Quattrocento Sans" pitchFamily="34" charset="0"/>
                <a:ea typeface="Quattrocento Sans" pitchFamily="34" charset="-122"/>
                <a:cs typeface="Quattrocento Sans" pitchFamily="34" charset="-120"/>
              </a:rPr>
              <a:t>14</a:t>
            </a:r>
            <a:endParaRPr lang="en-US" sz="12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243E63"/>
          </a:solidFill>
          <a:ln/>
        </p:spPr>
      </p:sp>
      <p:sp>
        <p:nvSpPr>
          <p:cNvPr id="4" name="Text 1"/>
          <p:cNvSpPr/>
          <p:nvPr/>
        </p:nvSpPr>
        <p:spPr>
          <a:xfrm>
            <a:off x="127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Problem &amp; Motivation</a:t>
            </a:r>
            <a:endParaRPr lang="en-US" sz="1100" dirty="0"/>
          </a:p>
        </p:txBody>
      </p:sp>
      <p:sp>
        <p:nvSpPr>
          <p:cNvPr id="5" name="Text 2"/>
          <p:cNvSpPr/>
          <p:nvPr/>
        </p:nvSpPr>
        <p:spPr>
          <a:xfrm>
            <a:off x="2794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Data &amp; Methodology</a:t>
            </a:r>
            <a:endParaRPr lang="en-US" sz="1100" dirty="0"/>
          </a:p>
        </p:txBody>
      </p:sp>
      <p:sp>
        <p:nvSpPr>
          <p:cNvPr id="6" name="Text 3"/>
          <p:cNvSpPr/>
          <p:nvPr/>
        </p:nvSpPr>
        <p:spPr>
          <a:xfrm>
            <a:off x="5461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Exploratory Analysis</a:t>
            </a:r>
            <a:endParaRPr lang="en-US" sz="1100" dirty="0"/>
          </a:p>
        </p:txBody>
      </p:sp>
      <p:sp>
        <p:nvSpPr>
          <p:cNvPr id="7" name="Text 4"/>
          <p:cNvSpPr/>
          <p:nvPr/>
        </p:nvSpPr>
        <p:spPr>
          <a:xfrm>
            <a:off x="8128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Modeling &amp; Results</a:t>
            </a:r>
            <a:endParaRPr lang="en-US" sz="1100" dirty="0"/>
          </a:p>
        </p:txBody>
      </p:sp>
      <p:sp>
        <p:nvSpPr>
          <p:cNvPr id="8" name="Text 5"/>
          <p:cNvSpPr/>
          <p:nvPr/>
        </p:nvSpPr>
        <p:spPr>
          <a:xfrm>
            <a:off x="10795000" y="63500"/>
            <a:ext cx="2540000" cy="381000"/>
          </a:xfrm>
          <a:prstGeom prst="rect">
            <a:avLst/>
          </a:prstGeom>
          <a:noFill/>
          <a:ln/>
        </p:spPr>
        <p:txBody>
          <a:bodyPr wrap="none" lIns="0" tIns="0" rIns="0" bIns="0" rtlCol="0" anchor="ctr"/>
          <a:lstStyle/>
          <a:p>
            <a:pPr algn="ctr">
              <a:lnSpc>
                <a:spcPct val="120000"/>
              </a:lnSpc>
            </a:pPr>
            <a:r>
              <a:rPr lang="en-US" sz="1100" dirty="0">
                <a:solidFill>
                  <a:srgbClr val="94A3B8"/>
                </a:solidFill>
                <a:latin typeface="Quattrocento Sans" pitchFamily="34" charset="0"/>
                <a:ea typeface="Quattrocento Sans" pitchFamily="34" charset="-122"/>
                <a:cs typeface="Quattrocento Sans" pitchFamily="34" charset="-120"/>
              </a:rPr>
              <a:t>Business Impact</a:t>
            </a:r>
            <a:endParaRPr lang="en-US" sz="1100" dirty="0"/>
          </a:p>
        </p:txBody>
      </p:sp>
      <p:sp>
        <p:nvSpPr>
          <p:cNvPr id="9" name="Shape 6"/>
          <p:cNvSpPr/>
          <p:nvPr/>
        </p:nvSpPr>
        <p:spPr>
          <a:xfrm>
            <a:off x="13462000" y="63500"/>
            <a:ext cx="2540000" cy="381000"/>
          </a:xfrm>
          <a:prstGeom prst="roundRect">
            <a:avLst>
              <a:gd name="adj" fmla="val 8000"/>
            </a:avLst>
          </a:prstGeom>
          <a:solidFill>
            <a:srgbClr val="3A5A8C"/>
          </a:solidFill>
          <a:ln/>
        </p:spPr>
      </p:sp>
      <p:sp>
        <p:nvSpPr>
          <p:cNvPr id="10" name="Text 7"/>
          <p:cNvSpPr/>
          <p:nvPr/>
        </p:nvSpPr>
        <p:spPr>
          <a:xfrm>
            <a:off x="13462000" y="63500"/>
            <a:ext cx="2540000" cy="381000"/>
          </a:xfrm>
          <a:prstGeom prst="rect">
            <a:avLst/>
          </a:prstGeom>
          <a:noFill/>
          <a:ln/>
        </p:spPr>
        <p:txBody>
          <a:bodyPr wrap="none" lIns="0" tIns="0" rIns="0" bIns="0" rtlCol="0" anchor="ctr"/>
          <a:lstStyle/>
          <a:p>
            <a:pPr algn="ctr">
              <a:lnSpc>
                <a:spcPct val="120000"/>
              </a:lnSpc>
            </a:pPr>
            <a:r>
              <a:rPr lang="en-US" sz="1100" b="1" dirty="0">
                <a:solidFill>
                  <a:srgbClr val="FFFFFF"/>
                </a:solidFill>
                <a:latin typeface="Quattrocento Sans" pitchFamily="34" charset="0"/>
                <a:ea typeface="Quattrocento Sans" pitchFamily="34" charset="-122"/>
                <a:cs typeface="Quattrocento Sans" pitchFamily="34" charset="-120"/>
              </a:rPr>
              <a:t>Roadmap</a:t>
            </a:r>
            <a:endParaRPr lang="en-US" sz="1100" dirty="0"/>
          </a:p>
        </p:txBody>
      </p:sp>
      <p:sp>
        <p:nvSpPr>
          <p:cNvPr id="11" name="Shape 8"/>
          <p:cNvSpPr/>
          <p:nvPr/>
        </p:nvSpPr>
        <p:spPr>
          <a:xfrm>
            <a:off x="0" y="508000"/>
            <a:ext cx="16256000" cy="25400"/>
          </a:xfrm>
          <a:prstGeom prst="rect">
            <a:avLst/>
          </a:prstGeom>
          <a:solidFill>
            <a:srgbClr val="2B4C7E"/>
          </a:solidFill>
          <a:ln/>
        </p:spPr>
      </p:sp>
      <p:sp>
        <p:nvSpPr>
          <p:cNvPr id="12" name="Text 9"/>
          <p:cNvSpPr/>
          <p:nvPr/>
        </p:nvSpPr>
        <p:spPr>
          <a:xfrm>
            <a:off x="762000" y="736600"/>
            <a:ext cx="8890000" cy="508000"/>
          </a:xfrm>
          <a:prstGeom prst="rect">
            <a:avLst/>
          </a:prstGeom>
          <a:noFill/>
          <a:ln/>
        </p:spPr>
        <p:txBody>
          <a:bodyPr wrap="none" lIns="0" tIns="0" rIns="0" bIns="0" rtlCol="0" anchor="ctr"/>
          <a:lstStyle/>
          <a:p>
            <a:pPr algn="l">
              <a:lnSpc>
                <a:spcPct val="120000"/>
              </a:lnSpc>
            </a:pPr>
            <a:r>
              <a:rPr lang="en-US" sz="2800" dirty="0">
                <a:solidFill>
                  <a:srgbClr val="2B4C7E"/>
                </a:solidFill>
                <a:latin typeface="Liter" pitchFamily="34" charset="0"/>
                <a:ea typeface="Liter" pitchFamily="34" charset="-122"/>
                <a:cs typeface="Liter" pitchFamily="34" charset="-120"/>
              </a:rPr>
              <a:t>Conclusion</a:t>
            </a:r>
            <a:endParaRPr lang="en-US" sz="2800" dirty="0"/>
          </a:p>
        </p:txBody>
      </p:sp>
      <p:sp>
        <p:nvSpPr>
          <p:cNvPr id="13" name="Shape 10"/>
          <p:cNvSpPr/>
          <p:nvPr/>
        </p:nvSpPr>
        <p:spPr>
          <a:xfrm>
            <a:off x="762000" y="1308100"/>
            <a:ext cx="762000" cy="50800"/>
          </a:xfrm>
          <a:prstGeom prst="rect">
            <a:avLst/>
          </a:prstGeom>
          <a:solidFill>
            <a:srgbClr val="2ECC71"/>
          </a:solidFill>
          <a:ln/>
        </p:spPr>
      </p:sp>
      <p:sp>
        <p:nvSpPr>
          <p:cNvPr id="14" name="Shape 11"/>
          <p:cNvSpPr/>
          <p:nvPr/>
        </p:nvSpPr>
        <p:spPr>
          <a:xfrm>
            <a:off x="762000" y="1587500"/>
            <a:ext cx="14732000" cy="1270000"/>
          </a:xfrm>
          <a:prstGeom prst="rect">
            <a:avLst/>
          </a:prstGeom>
          <a:solidFill>
            <a:srgbClr val="2B4C7E"/>
          </a:solidFill>
          <a:ln/>
        </p:spPr>
      </p:sp>
      <p:sp>
        <p:nvSpPr>
          <p:cNvPr id="15" name="Text 12"/>
          <p:cNvSpPr/>
          <p:nvPr/>
        </p:nvSpPr>
        <p:spPr>
          <a:xfrm>
            <a:off x="1143000" y="1714500"/>
            <a:ext cx="13970000" cy="1016000"/>
          </a:xfrm>
          <a:prstGeom prst="rect">
            <a:avLst/>
          </a:prstGeom>
          <a:noFill/>
          <a:ln/>
        </p:spPr>
        <p:txBody>
          <a:bodyPr wrap="square" lIns="0" tIns="0" rIns="0" bIns="0" rtlCol="0" anchor="ctr"/>
          <a:lstStyle/>
          <a:p>
            <a:pPr algn="l">
              <a:lnSpc>
                <a:spcPct val="140000"/>
              </a:lnSpc>
            </a:pPr>
            <a:r>
              <a:rPr lang="en-US" sz="2200" b="1" dirty="0">
                <a:solidFill>
                  <a:srgbClr val="FFFFFF"/>
                </a:solidFill>
                <a:latin typeface="Quattrocento Sans" pitchFamily="34" charset="0"/>
                <a:ea typeface="Quattrocento Sans" pitchFamily="34" charset="-122"/>
                <a:cs typeface="Quattrocento Sans" pitchFamily="34" charset="-120"/>
              </a:rPr>
              <a:t>This is not just a churn classifier — it's a quantified, ROI-positive retention strategy.</a:t>
            </a:r>
            <a:endParaRPr lang="en-US" sz="2200" dirty="0"/>
          </a:p>
        </p:txBody>
      </p:sp>
      <p:sp>
        <p:nvSpPr>
          <p:cNvPr id="16" name="Text 13"/>
          <p:cNvSpPr/>
          <p:nvPr/>
        </p:nvSpPr>
        <p:spPr>
          <a:xfrm>
            <a:off x="762000" y="3175000"/>
            <a:ext cx="3810000" cy="355600"/>
          </a:xfrm>
          <a:prstGeom prst="rect">
            <a:avLst/>
          </a:prstGeom>
          <a:noFill/>
          <a:ln/>
        </p:spPr>
        <p:txBody>
          <a:bodyPr wrap="none" lIns="0" tIns="0" rIns="0" bIns="0" rtlCol="0" anchor="ctr"/>
          <a:lstStyle/>
          <a:p>
            <a:pPr algn="l">
              <a:lnSpc>
                <a:spcPct val="120000"/>
              </a:lnSpc>
            </a:pPr>
            <a:r>
              <a:rPr lang="en-US" sz="1400" kern="0" spc="200" dirty="0">
                <a:solidFill>
                  <a:srgbClr val="64748B"/>
                </a:solidFill>
                <a:latin typeface="Liter" pitchFamily="34" charset="0"/>
                <a:ea typeface="Liter" pitchFamily="34" charset="-122"/>
                <a:cs typeface="Liter" pitchFamily="34" charset="-120"/>
              </a:rPr>
              <a:t>KEY TAKEAWAYS</a:t>
            </a:r>
            <a:endParaRPr lang="en-US" sz="1400" dirty="0"/>
          </a:p>
        </p:txBody>
      </p:sp>
      <p:sp>
        <p:nvSpPr>
          <p:cNvPr id="17" name="Shape 14"/>
          <p:cNvSpPr/>
          <p:nvPr/>
        </p:nvSpPr>
        <p:spPr>
          <a:xfrm>
            <a:off x="762000" y="3657600"/>
            <a:ext cx="4572000" cy="2349500"/>
          </a:xfrm>
          <a:prstGeom prst="rect">
            <a:avLst/>
          </a:prstGeom>
          <a:solidFill>
            <a:srgbClr val="FFFFFF"/>
          </a:solidFill>
          <a:ln/>
        </p:spPr>
      </p:sp>
      <p:sp>
        <p:nvSpPr>
          <p:cNvPr id="18" name="Shape 15"/>
          <p:cNvSpPr/>
          <p:nvPr/>
        </p:nvSpPr>
        <p:spPr>
          <a:xfrm>
            <a:off x="762000" y="3657600"/>
            <a:ext cx="4572000" cy="63500"/>
          </a:xfrm>
          <a:prstGeom prst="rect">
            <a:avLst/>
          </a:prstGeom>
          <a:solidFill>
            <a:srgbClr val="D9534F"/>
          </a:solidFill>
          <a:ln/>
        </p:spPr>
      </p:sp>
      <p:sp>
        <p:nvSpPr>
          <p:cNvPr id="19" name="Text 16"/>
          <p:cNvSpPr/>
          <p:nvPr/>
        </p:nvSpPr>
        <p:spPr>
          <a:xfrm>
            <a:off x="1016000" y="3873500"/>
            <a:ext cx="762000" cy="508000"/>
          </a:xfrm>
          <a:prstGeom prst="rect">
            <a:avLst/>
          </a:prstGeom>
          <a:noFill/>
          <a:ln/>
        </p:spPr>
        <p:txBody>
          <a:bodyPr wrap="none" lIns="0" tIns="0" rIns="0" bIns="0" rtlCol="0" anchor="ctr"/>
          <a:lstStyle/>
          <a:p>
            <a:pPr algn="l">
              <a:lnSpc>
                <a:spcPct val="120000"/>
              </a:lnSpc>
            </a:pPr>
            <a:r>
              <a:rPr lang="en-US" sz="3200" dirty="0">
                <a:solidFill>
                  <a:srgbClr val="D9534F"/>
                </a:solidFill>
                <a:latin typeface="Liter" pitchFamily="34" charset="0"/>
                <a:ea typeface="Liter" pitchFamily="34" charset="-122"/>
                <a:cs typeface="Liter" pitchFamily="34" charset="-120"/>
              </a:rPr>
              <a:t>01</a:t>
            </a:r>
            <a:endParaRPr lang="en-US" sz="3200" dirty="0"/>
          </a:p>
        </p:txBody>
      </p:sp>
      <p:sp>
        <p:nvSpPr>
          <p:cNvPr id="20" name="Text 17"/>
          <p:cNvSpPr/>
          <p:nvPr/>
        </p:nvSpPr>
        <p:spPr>
          <a:xfrm>
            <a:off x="1016000" y="4445000"/>
            <a:ext cx="4064000" cy="355600"/>
          </a:xfrm>
          <a:prstGeom prst="rect">
            <a:avLst/>
          </a:prstGeom>
          <a:noFill/>
          <a:ln/>
        </p:spPr>
        <p:txBody>
          <a:bodyPr wrap="none" lIns="0" tIns="0" rIns="0" bIns="0" rtlCol="0" anchor="ctr"/>
          <a:lstStyle/>
          <a:p>
            <a:pPr algn="l">
              <a:lnSpc>
                <a:spcPct val="120000"/>
              </a:lnSpc>
            </a:pPr>
            <a:r>
              <a:rPr lang="en-US" sz="1800" b="1" dirty="0">
                <a:solidFill>
                  <a:srgbClr val="1E293B"/>
                </a:solidFill>
                <a:latin typeface="Liter" pitchFamily="34" charset="0"/>
                <a:ea typeface="Liter" pitchFamily="34" charset="-122"/>
                <a:cs typeface="Liter" pitchFamily="34" charset="-120"/>
              </a:rPr>
              <a:t>Two Confirmed Hypotheses</a:t>
            </a:r>
            <a:endParaRPr lang="en-US" sz="1800" dirty="0"/>
          </a:p>
        </p:txBody>
      </p:sp>
      <p:sp>
        <p:nvSpPr>
          <p:cNvPr id="21" name="Text 18"/>
          <p:cNvSpPr/>
          <p:nvPr/>
        </p:nvSpPr>
        <p:spPr>
          <a:xfrm>
            <a:off x="1016000" y="4851400"/>
            <a:ext cx="4064000" cy="1117600"/>
          </a:xfrm>
          <a:prstGeom prst="rect">
            <a:avLst/>
          </a:prstGeom>
          <a:noFill/>
          <a:ln/>
        </p:spPr>
        <p:txBody>
          <a:bodyPr wrap="square" lIns="0" tIns="0" rIns="0" bIns="0" rtlCol="0" anchor="t"/>
          <a:lstStyle/>
          <a:p>
            <a:pPr algn="l">
              <a:lnSpc>
                <a:spcPct val="140000"/>
              </a:lnSpc>
            </a:pPr>
            <a:r>
              <a:rPr lang="en-US" sz="1500" dirty="0">
                <a:solidFill>
                  <a:srgbClr val="64748B"/>
                </a:solidFill>
                <a:latin typeface="Quattrocento Sans" pitchFamily="34" charset="0"/>
                <a:ea typeface="Quattrocento Sans" pitchFamily="34" charset="-122"/>
                <a:cs typeface="Quattrocento Sans" pitchFamily="34" charset="-120"/>
              </a:rPr>
              <a:t>Hardware Fatigue and Silent Departure — validated by both EDA visual evidence and XGBoost feature importance rankings</a:t>
            </a:r>
            <a:endParaRPr lang="en-US" sz="1500" dirty="0"/>
          </a:p>
        </p:txBody>
      </p:sp>
      <p:sp>
        <p:nvSpPr>
          <p:cNvPr id="22" name="Shape 19"/>
          <p:cNvSpPr/>
          <p:nvPr/>
        </p:nvSpPr>
        <p:spPr>
          <a:xfrm>
            <a:off x="5588000" y="3657600"/>
            <a:ext cx="4572000" cy="2349500"/>
          </a:xfrm>
          <a:prstGeom prst="rect">
            <a:avLst/>
          </a:prstGeom>
          <a:solidFill>
            <a:srgbClr val="FFFFFF"/>
          </a:solidFill>
          <a:ln/>
        </p:spPr>
      </p:sp>
      <p:sp>
        <p:nvSpPr>
          <p:cNvPr id="23" name="Shape 20"/>
          <p:cNvSpPr/>
          <p:nvPr/>
        </p:nvSpPr>
        <p:spPr>
          <a:xfrm>
            <a:off x="5588000" y="3657600"/>
            <a:ext cx="4572000" cy="63500"/>
          </a:xfrm>
          <a:prstGeom prst="rect">
            <a:avLst/>
          </a:prstGeom>
          <a:solidFill>
            <a:srgbClr val="2ECC71"/>
          </a:solidFill>
          <a:ln/>
        </p:spPr>
      </p:sp>
      <p:sp>
        <p:nvSpPr>
          <p:cNvPr id="24" name="Text 21"/>
          <p:cNvSpPr/>
          <p:nvPr/>
        </p:nvSpPr>
        <p:spPr>
          <a:xfrm>
            <a:off x="5842000" y="3873500"/>
            <a:ext cx="762000" cy="508000"/>
          </a:xfrm>
          <a:prstGeom prst="rect">
            <a:avLst/>
          </a:prstGeom>
          <a:noFill/>
          <a:ln/>
        </p:spPr>
        <p:txBody>
          <a:bodyPr wrap="none" lIns="0" tIns="0" rIns="0" bIns="0" rtlCol="0" anchor="ctr"/>
          <a:lstStyle/>
          <a:p>
            <a:pPr algn="l">
              <a:lnSpc>
                <a:spcPct val="120000"/>
              </a:lnSpc>
            </a:pPr>
            <a:r>
              <a:rPr lang="en-US" sz="3200" dirty="0">
                <a:solidFill>
                  <a:srgbClr val="2ECC71"/>
                </a:solidFill>
                <a:latin typeface="Liter" pitchFamily="34" charset="0"/>
                <a:ea typeface="Liter" pitchFamily="34" charset="-122"/>
                <a:cs typeface="Liter" pitchFamily="34" charset="-120"/>
              </a:rPr>
              <a:t>02</a:t>
            </a:r>
            <a:endParaRPr lang="en-US" sz="3200" dirty="0"/>
          </a:p>
        </p:txBody>
      </p:sp>
      <p:sp>
        <p:nvSpPr>
          <p:cNvPr id="25" name="Text 22"/>
          <p:cNvSpPr/>
          <p:nvPr/>
        </p:nvSpPr>
        <p:spPr>
          <a:xfrm>
            <a:off x="5842000" y="4445000"/>
            <a:ext cx="4064000" cy="355600"/>
          </a:xfrm>
          <a:prstGeom prst="rect">
            <a:avLst/>
          </a:prstGeom>
          <a:noFill/>
          <a:ln/>
        </p:spPr>
        <p:txBody>
          <a:bodyPr wrap="none" lIns="0" tIns="0" rIns="0" bIns="0" rtlCol="0" anchor="ctr"/>
          <a:lstStyle/>
          <a:p>
            <a:pPr algn="l">
              <a:lnSpc>
                <a:spcPct val="120000"/>
              </a:lnSpc>
            </a:pPr>
            <a:r>
              <a:rPr lang="en-US" sz="1800" b="1" dirty="0">
                <a:solidFill>
                  <a:srgbClr val="1E293B"/>
                </a:solidFill>
                <a:latin typeface="Liter" pitchFamily="34" charset="0"/>
                <a:ea typeface="Liter" pitchFamily="34" charset="-122"/>
                <a:cs typeface="Liter" pitchFamily="34" charset="-120"/>
              </a:rPr>
              <a:t>$17,300 Net ROI Proven</a:t>
            </a:r>
            <a:endParaRPr lang="en-US" sz="1800" dirty="0"/>
          </a:p>
        </p:txBody>
      </p:sp>
      <p:sp>
        <p:nvSpPr>
          <p:cNvPr id="26" name="Text 23"/>
          <p:cNvSpPr/>
          <p:nvPr/>
        </p:nvSpPr>
        <p:spPr>
          <a:xfrm>
            <a:off x="5842000" y="4851400"/>
            <a:ext cx="4064000" cy="1117600"/>
          </a:xfrm>
          <a:prstGeom prst="rect">
            <a:avLst/>
          </a:prstGeom>
          <a:noFill/>
          <a:ln/>
        </p:spPr>
        <p:txBody>
          <a:bodyPr wrap="square" lIns="0" tIns="0" rIns="0" bIns="0" rtlCol="0" anchor="t"/>
          <a:lstStyle/>
          <a:p>
            <a:pPr algn="l">
              <a:lnSpc>
                <a:spcPct val="140000"/>
              </a:lnSpc>
            </a:pPr>
            <a:r>
              <a:rPr lang="en-US" sz="1500" dirty="0">
                <a:solidFill>
                  <a:srgbClr val="64748B"/>
                </a:solidFill>
                <a:latin typeface="Quattrocento Sans" pitchFamily="34" charset="0"/>
                <a:ea typeface="Quattrocento Sans" pitchFamily="34" charset="-122"/>
                <a:cs typeface="Quattrocento Sans" pitchFamily="34" charset="-120"/>
              </a:rPr>
              <a:t>On a single 20K-customer test batch — targeted precision beats blanket spend even with ~63% raw accuracy</a:t>
            </a:r>
            <a:endParaRPr lang="en-US" sz="1500" dirty="0"/>
          </a:p>
        </p:txBody>
      </p:sp>
      <p:sp>
        <p:nvSpPr>
          <p:cNvPr id="27" name="Shape 24"/>
          <p:cNvSpPr/>
          <p:nvPr/>
        </p:nvSpPr>
        <p:spPr>
          <a:xfrm>
            <a:off x="10414000" y="3657600"/>
            <a:ext cx="5080000" cy="2349500"/>
          </a:xfrm>
          <a:prstGeom prst="rect">
            <a:avLst/>
          </a:prstGeom>
          <a:solidFill>
            <a:srgbClr val="FFFFFF"/>
          </a:solidFill>
          <a:ln/>
        </p:spPr>
      </p:sp>
      <p:sp>
        <p:nvSpPr>
          <p:cNvPr id="28" name="Shape 25"/>
          <p:cNvSpPr/>
          <p:nvPr/>
        </p:nvSpPr>
        <p:spPr>
          <a:xfrm>
            <a:off x="10414000" y="3657600"/>
            <a:ext cx="5080000" cy="63500"/>
          </a:xfrm>
          <a:prstGeom prst="rect">
            <a:avLst/>
          </a:prstGeom>
          <a:solidFill>
            <a:srgbClr val="3498DB"/>
          </a:solidFill>
          <a:ln/>
        </p:spPr>
      </p:sp>
      <p:sp>
        <p:nvSpPr>
          <p:cNvPr id="29" name="Text 26"/>
          <p:cNvSpPr/>
          <p:nvPr/>
        </p:nvSpPr>
        <p:spPr>
          <a:xfrm>
            <a:off x="10668000" y="3873500"/>
            <a:ext cx="762000" cy="508000"/>
          </a:xfrm>
          <a:prstGeom prst="rect">
            <a:avLst/>
          </a:prstGeom>
          <a:noFill/>
          <a:ln/>
        </p:spPr>
        <p:txBody>
          <a:bodyPr wrap="none" lIns="0" tIns="0" rIns="0" bIns="0" rtlCol="0" anchor="ctr"/>
          <a:lstStyle/>
          <a:p>
            <a:pPr algn="l">
              <a:lnSpc>
                <a:spcPct val="120000"/>
              </a:lnSpc>
            </a:pPr>
            <a:r>
              <a:rPr lang="en-US" sz="3200" dirty="0">
                <a:solidFill>
                  <a:srgbClr val="3498DB"/>
                </a:solidFill>
                <a:latin typeface="Liter" pitchFamily="34" charset="0"/>
                <a:ea typeface="Liter" pitchFamily="34" charset="-122"/>
                <a:cs typeface="Liter" pitchFamily="34" charset="-120"/>
              </a:rPr>
              <a:t>03</a:t>
            </a:r>
            <a:endParaRPr lang="en-US" sz="3200" dirty="0"/>
          </a:p>
        </p:txBody>
      </p:sp>
      <p:sp>
        <p:nvSpPr>
          <p:cNvPr id="30" name="Text 27"/>
          <p:cNvSpPr/>
          <p:nvPr/>
        </p:nvSpPr>
        <p:spPr>
          <a:xfrm>
            <a:off x="10668000" y="4445000"/>
            <a:ext cx="4572000" cy="355600"/>
          </a:xfrm>
          <a:prstGeom prst="rect">
            <a:avLst/>
          </a:prstGeom>
          <a:noFill/>
          <a:ln/>
        </p:spPr>
        <p:txBody>
          <a:bodyPr wrap="none" lIns="0" tIns="0" rIns="0" bIns="0" rtlCol="0" anchor="ctr"/>
          <a:lstStyle/>
          <a:p>
            <a:pPr algn="l">
              <a:lnSpc>
                <a:spcPct val="120000"/>
              </a:lnSpc>
            </a:pPr>
            <a:r>
              <a:rPr lang="en-US" sz="1800" b="1" dirty="0">
                <a:solidFill>
                  <a:srgbClr val="1E293B"/>
                </a:solidFill>
                <a:latin typeface="Liter" pitchFamily="34" charset="0"/>
                <a:ea typeface="Liter" pitchFamily="34" charset="-122"/>
                <a:cs typeface="Liter" pitchFamily="34" charset="-120"/>
              </a:rPr>
              <a:t>Production-Ready Pipeline</a:t>
            </a:r>
            <a:endParaRPr lang="en-US" sz="1800" dirty="0"/>
          </a:p>
        </p:txBody>
      </p:sp>
      <p:sp>
        <p:nvSpPr>
          <p:cNvPr id="31" name="Text 28"/>
          <p:cNvSpPr/>
          <p:nvPr/>
        </p:nvSpPr>
        <p:spPr>
          <a:xfrm>
            <a:off x="10668000" y="4851400"/>
            <a:ext cx="4572000" cy="1117600"/>
          </a:xfrm>
          <a:prstGeom prst="rect">
            <a:avLst/>
          </a:prstGeom>
          <a:noFill/>
          <a:ln/>
        </p:spPr>
        <p:txBody>
          <a:bodyPr wrap="square" lIns="0" tIns="0" rIns="0" bIns="0" rtlCol="0" anchor="t"/>
          <a:lstStyle/>
          <a:p>
            <a:pPr algn="l">
              <a:lnSpc>
                <a:spcPct val="140000"/>
              </a:lnSpc>
            </a:pPr>
            <a:r>
              <a:rPr lang="en-US" sz="1500" dirty="0">
                <a:solidFill>
                  <a:srgbClr val="64748B"/>
                </a:solidFill>
                <a:latin typeface="Quattrocento Sans" pitchFamily="34" charset="0"/>
                <a:ea typeface="Quattrocento Sans" pitchFamily="34" charset="-122"/>
                <a:cs typeface="Quattrocento Sans" pitchFamily="34" charset="-120"/>
              </a:rPr>
              <a:t>End-to-end automated pipeline with leakage prevention, threshold optimization, and financial modeling ready for CRM integration</a:t>
            </a:r>
            <a:endParaRPr lang="en-US" sz="1500" dirty="0"/>
          </a:p>
        </p:txBody>
      </p:sp>
      <p:sp>
        <p:nvSpPr>
          <p:cNvPr id="32" name="Shape 29"/>
          <p:cNvSpPr/>
          <p:nvPr/>
        </p:nvSpPr>
        <p:spPr>
          <a:xfrm>
            <a:off x="762000" y="6540500"/>
            <a:ext cx="14732000" cy="1524000"/>
          </a:xfrm>
          <a:prstGeom prst="rect">
            <a:avLst/>
          </a:prstGeom>
          <a:solidFill>
            <a:srgbClr val="2ECC71"/>
          </a:solidFill>
          <a:ln/>
        </p:spPr>
      </p:sp>
      <p:sp>
        <p:nvSpPr>
          <p:cNvPr id="33" name="Text 30"/>
          <p:cNvSpPr/>
          <p:nvPr/>
        </p:nvSpPr>
        <p:spPr>
          <a:xfrm>
            <a:off x="1143000" y="6667500"/>
            <a:ext cx="3810000" cy="317500"/>
          </a:xfrm>
          <a:prstGeom prst="rect">
            <a:avLst/>
          </a:prstGeom>
          <a:noFill/>
          <a:ln/>
        </p:spPr>
        <p:txBody>
          <a:bodyPr wrap="none" lIns="0" tIns="0" rIns="0" bIns="0" rtlCol="0" anchor="ctr"/>
          <a:lstStyle/>
          <a:p>
            <a:pPr algn="l">
              <a:lnSpc>
                <a:spcPct val="120000"/>
              </a:lnSpc>
            </a:pPr>
            <a:r>
              <a:rPr lang="en-US" sz="1400" kern="0" spc="200" dirty="0">
                <a:solidFill>
                  <a:srgbClr val="FFFFFF"/>
                </a:solidFill>
                <a:latin typeface="Liter" pitchFamily="34" charset="0"/>
                <a:ea typeface="Liter" pitchFamily="34" charset="-122"/>
                <a:cs typeface="Liter" pitchFamily="34" charset="-120"/>
              </a:rPr>
              <a:t>CALL TO ACTION</a:t>
            </a:r>
            <a:endParaRPr lang="en-US" sz="1400" dirty="0"/>
          </a:p>
        </p:txBody>
      </p:sp>
      <p:sp>
        <p:nvSpPr>
          <p:cNvPr id="34" name="Text 31"/>
          <p:cNvSpPr/>
          <p:nvPr/>
        </p:nvSpPr>
        <p:spPr>
          <a:xfrm>
            <a:off x="1143000" y="7048500"/>
            <a:ext cx="13970000" cy="914400"/>
          </a:xfrm>
          <a:prstGeom prst="rect">
            <a:avLst/>
          </a:prstGeom>
          <a:noFill/>
          <a:ln/>
        </p:spPr>
        <p:txBody>
          <a:bodyPr wrap="square" lIns="0" tIns="0" rIns="0" bIns="0" rtlCol="0" anchor="ctr"/>
          <a:lstStyle/>
          <a:p>
            <a:pPr algn="l">
              <a:lnSpc>
                <a:spcPct val="130000"/>
              </a:lnSpc>
            </a:pPr>
            <a:r>
              <a:rPr lang="en-US" sz="2000" b="1" dirty="0">
                <a:solidFill>
                  <a:srgbClr val="FFFFFF"/>
                </a:solidFill>
                <a:latin typeface="Quattrocento Sans" pitchFamily="34" charset="0"/>
                <a:ea typeface="Quattrocento Sans" pitchFamily="34" charset="-122"/>
                <a:cs typeface="Quattrocento Sans" pitchFamily="34" charset="-120"/>
              </a:rPr>
              <a:t>Pilot deployment with a real telecom partner</a:t>
            </a:r>
            <a:r>
              <a:rPr lang="en-US" sz="2000" dirty="0">
                <a:solidFill>
                  <a:srgbClr val="FFFFFF"/>
                </a:solidFill>
                <a:latin typeface="Quattrocento Sans" pitchFamily="34" charset="0"/>
                <a:ea typeface="Quattrocento Sans" pitchFamily="34" charset="-122"/>
                <a:cs typeface="Quattrocento Sans" pitchFamily="34" charset="-120"/>
              </a:rPr>
              <a:t> — let's turn these proof-of-concept results into live revenue protection.</a:t>
            </a:r>
            <a:endParaRPr lang="en-US" sz="2000" dirty="0"/>
          </a:p>
        </p:txBody>
      </p:sp>
      <p:sp>
        <p:nvSpPr>
          <p:cNvPr id="35" name="Text 32"/>
          <p:cNvSpPr/>
          <p:nvPr/>
        </p:nvSpPr>
        <p:spPr>
          <a:xfrm>
            <a:off x="15113000" y="8826500"/>
            <a:ext cx="635000" cy="254000"/>
          </a:xfrm>
          <a:prstGeom prst="rect">
            <a:avLst/>
          </a:prstGeom>
          <a:noFill/>
          <a:ln/>
        </p:spPr>
        <p:txBody>
          <a:bodyPr wrap="none" lIns="0" tIns="0" rIns="0" bIns="0" rtlCol="0" anchor="ctr"/>
          <a:lstStyle/>
          <a:p>
            <a:pPr algn="r">
              <a:lnSpc>
                <a:spcPct val="130000"/>
              </a:lnSpc>
            </a:pPr>
            <a:r>
              <a:rPr lang="en-US" sz="1200" dirty="0">
                <a:solidFill>
                  <a:srgbClr val="64748B"/>
                </a:solidFill>
                <a:latin typeface="Quattrocento Sans" pitchFamily="34" charset="0"/>
                <a:ea typeface="Quattrocento Sans" pitchFamily="34" charset="-122"/>
                <a:cs typeface="Quattrocento Sans" pitchFamily="34" charset="-120"/>
              </a:rPr>
              <a:t>15</a:t>
            </a:r>
            <a:endParaRPr lang="en-US" sz="12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E293B"/>
        </a:solidFill>
        <a:effectLst/>
      </p:bgPr>
    </p:bg>
    <p:spTree>
      <p:nvGrpSpPr>
        <p:cNvPr id="1" name=""/>
        <p:cNvGrpSpPr/>
        <p:nvPr/>
      </p:nvGrpSpPr>
      <p:grpSpPr>
        <a:xfrm>
          <a:off x="0" y="0"/>
          <a:ext cx="0" cy="0"/>
          <a:chOff x="0" y="0"/>
          <a:chExt cx="0" cy="0"/>
        </a:xfrm>
      </p:grpSpPr>
      <p:sp>
        <p:nvSpPr>
          <p:cNvPr id="3" name="Shape 0"/>
          <p:cNvSpPr/>
          <p:nvPr/>
        </p:nvSpPr>
        <p:spPr>
          <a:xfrm>
            <a:off x="0" y="0"/>
            <a:ext cx="16256000" cy="9144000"/>
          </a:xfrm>
          <a:prstGeom prst="rect">
            <a:avLst/>
          </a:prstGeom>
          <a:gradFill flip="none" rotWithShape="1">
            <a:gsLst>
              <a:gs pos="0">
                <a:srgbClr val="2B4C7E">
                  <a:alpha val="15000"/>
                </a:srgbClr>
              </a:gs>
              <a:gs pos="100000">
                <a:srgbClr val="1E293B">
                  <a:alpha val="0"/>
                </a:srgbClr>
              </a:gs>
            </a:gsLst>
            <a:path path="circle"/>
          </a:gradFill>
          <a:ln/>
        </p:spPr>
      </p:sp>
      <p:sp>
        <p:nvSpPr>
          <p:cNvPr id="4" name="Shape 1"/>
          <p:cNvSpPr/>
          <p:nvPr/>
        </p:nvSpPr>
        <p:spPr>
          <a:xfrm>
            <a:off x="7175500" y="2476500"/>
            <a:ext cx="1905000" cy="50800"/>
          </a:xfrm>
          <a:prstGeom prst="rect">
            <a:avLst/>
          </a:prstGeom>
          <a:solidFill>
            <a:srgbClr val="D9534F"/>
          </a:solidFill>
          <a:ln/>
        </p:spPr>
      </p:sp>
      <p:sp>
        <p:nvSpPr>
          <p:cNvPr id="5" name="Text 2"/>
          <p:cNvSpPr/>
          <p:nvPr/>
        </p:nvSpPr>
        <p:spPr>
          <a:xfrm>
            <a:off x="1778000" y="2730500"/>
            <a:ext cx="12700000" cy="1016000"/>
          </a:xfrm>
          <a:prstGeom prst="rect">
            <a:avLst/>
          </a:prstGeom>
          <a:noFill/>
          <a:ln/>
        </p:spPr>
        <p:txBody>
          <a:bodyPr wrap="none" lIns="0" tIns="0" rIns="0" bIns="0" rtlCol="0" anchor="ctr"/>
          <a:lstStyle/>
          <a:p>
            <a:pPr algn="ctr">
              <a:lnSpc>
                <a:spcPct val="120000"/>
              </a:lnSpc>
            </a:pPr>
            <a:r>
              <a:rPr lang="en-US" sz="5200" kern="0" spc="400" dirty="0">
                <a:solidFill>
                  <a:srgbClr val="FFFFFF"/>
                </a:solidFill>
                <a:latin typeface="Liter" pitchFamily="34" charset="0"/>
                <a:ea typeface="Liter" pitchFamily="34" charset="-122"/>
                <a:cs typeface="Liter" pitchFamily="34" charset="-120"/>
              </a:rPr>
              <a:t>THANK YOU</a:t>
            </a:r>
            <a:endParaRPr lang="en-US" sz="5200" dirty="0"/>
          </a:p>
        </p:txBody>
      </p:sp>
      <p:sp>
        <p:nvSpPr>
          <p:cNvPr id="6" name="Text 3"/>
          <p:cNvSpPr/>
          <p:nvPr/>
        </p:nvSpPr>
        <p:spPr>
          <a:xfrm>
            <a:off x="3048000" y="3873500"/>
            <a:ext cx="10160000" cy="444500"/>
          </a:xfrm>
          <a:prstGeom prst="rect">
            <a:avLst/>
          </a:prstGeom>
          <a:noFill/>
          <a:ln/>
        </p:spPr>
        <p:txBody>
          <a:bodyPr wrap="none" lIns="0" tIns="0" rIns="0" bIns="0" rtlCol="0" anchor="ctr"/>
          <a:lstStyle/>
          <a:p>
            <a:pPr algn="ctr">
              <a:lnSpc>
                <a:spcPct val="120000"/>
              </a:lnSpc>
            </a:pPr>
            <a:r>
              <a:rPr lang="en-US" sz="2000" dirty="0">
                <a:solidFill>
                  <a:srgbClr val="94A3B8"/>
                </a:solidFill>
                <a:latin typeface="Quattrocento Sans" pitchFamily="34" charset="0"/>
                <a:ea typeface="Quattrocento Sans" pitchFamily="34" charset="-122"/>
                <a:cs typeface="Quattrocento Sans" pitchFamily="34" charset="-120"/>
              </a:rPr>
              <a:t>Questions &amp; Discussion</a:t>
            </a:r>
            <a:endParaRPr lang="en-US" sz="2000" dirty="0"/>
          </a:p>
        </p:txBody>
      </p:sp>
      <p:sp>
        <p:nvSpPr>
          <p:cNvPr id="7" name="Shape 4"/>
          <p:cNvSpPr/>
          <p:nvPr/>
        </p:nvSpPr>
        <p:spPr>
          <a:xfrm>
            <a:off x="6223000" y="4572000"/>
            <a:ext cx="3810000" cy="12700"/>
          </a:xfrm>
          <a:prstGeom prst="rect">
            <a:avLst/>
          </a:prstGeom>
          <a:solidFill>
            <a:srgbClr val="475569"/>
          </a:solidFill>
          <a:ln/>
        </p:spPr>
      </p:sp>
      <p:sp>
        <p:nvSpPr>
          <p:cNvPr id="8" name="Text 5"/>
          <p:cNvSpPr/>
          <p:nvPr/>
        </p:nvSpPr>
        <p:spPr>
          <a:xfrm>
            <a:off x="3048000" y="4889500"/>
            <a:ext cx="10160000" cy="1016000"/>
          </a:xfrm>
          <a:prstGeom prst="rect">
            <a:avLst/>
          </a:prstGeom>
          <a:noFill/>
          <a:ln/>
        </p:spPr>
        <p:txBody>
          <a:bodyPr wrap="square" lIns="0" tIns="0" rIns="0" bIns="0" rtlCol="0" anchor="ctr"/>
          <a:lstStyle/>
          <a:p>
            <a:pPr algn="ctr">
              <a:lnSpc>
                <a:spcPct val="160000"/>
              </a:lnSpc>
            </a:pPr>
            <a:r>
              <a:rPr lang="en-US" sz="1800" b="1" dirty="0">
                <a:solidFill>
                  <a:srgbClr val="CBD5E1"/>
                </a:solidFill>
                <a:latin typeface="Quattrocento Sans" pitchFamily="34" charset="0"/>
                <a:ea typeface="Quattrocento Sans" pitchFamily="34" charset="-122"/>
                <a:cs typeface="Quattrocento Sans" pitchFamily="34" charset="-120"/>
              </a:rPr>
              <a:t>Adityabaan Tripathy</a:t>
            </a:r>
            <a:r>
              <a:rPr lang="en-US" sz="1800" dirty="0">
                <a:solidFill>
                  <a:srgbClr val="CBD5E1"/>
                </a:solidFill>
                <a:latin typeface="Quattrocento Sans" pitchFamily="34" charset="0"/>
                <a:ea typeface="Quattrocento Sans" pitchFamily="34" charset="-122"/>
                <a:cs typeface="Quattrocento Sans" pitchFamily="34" charset="-120"/>
              </a:rPr>
              <a:t> &amp; </a:t>
            </a:r>
            <a:r>
              <a:rPr lang="en-US" sz="1800" b="1" dirty="0">
                <a:solidFill>
                  <a:srgbClr val="CBD5E1"/>
                </a:solidFill>
                <a:latin typeface="Quattrocento Sans" pitchFamily="34" charset="0"/>
                <a:ea typeface="Quattrocento Sans" pitchFamily="34" charset="-122"/>
                <a:cs typeface="Quattrocento Sans" pitchFamily="34" charset="-120"/>
              </a:rPr>
              <a:t>Shubhayu Kundu</a:t>
            </a:r>
            <a:endParaRPr lang="en-US" sz="1800" dirty="0"/>
          </a:p>
          <a:p>
            <a:pPr algn="ctr">
              <a:lnSpc>
                <a:spcPct val="160000"/>
              </a:lnSpc>
            </a:pPr>
            <a:r>
              <a:rPr lang="en-US" sz="1800" dirty="0">
                <a:solidFill>
                  <a:srgbClr val="CBD5E1"/>
                </a:solidFill>
                <a:latin typeface="Quattrocento Sans" pitchFamily="34" charset="0"/>
                <a:ea typeface="Quattrocento Sans" pitchFamily="34" charset="-122"/>
                <a:cs typeface="Quattrocento Sans" pitchFamily="34" charset="-120"/>
              </a:rPr>
              <a:t>SRM Institute of Science and Technology, Chennai, India</a:t>
            </a:r>
            <a:endParaRPr lang="en-US" sz="1800" dirty="0"/>
          </a:p>
        </p:txBody>
      </p:sp>
      <p:sp>
        <p:nvSpPr>
          <p:cNvPr id="9" name="Text 6"/>
          <p:cNvSpPr/>
          <p:nvPr/>
        </p:nvSpPr>
        <p:spPr>
          <a:xfrm>
            <a:off x="3048000" y="6096000"/>
            <a:ext cx="10160000" cy="762000"/>
          </a:xfrm>
          <a:prstGeom prst="rect">
            <a:avLst/>
          </a:prstGeom>
          <a:noFill/>
          <a:ln/>
        </p:spPr>
        <p:txBody>
          <a:bodyPr wrap="square" lIns="0" tIns="0" rIns="0" bIns="0" rtlCol="0" anchor="ctr"/>
          <a:lstStyle/>
          <a:p>
            <a:pPr algn="ctr">
              <a:lnSpc>
                <a:spcPct val="150000"/>
              </a:lnSpc>
            </a:pPr>
            <a:r>
              <a:rPr lang="en-US" sz="1600" dirty="0">
                <a:solidFill>
                  <a:schemeClr val="bg1"/>
                </a:solidFill>
                <a:latin typeface="Times New Roman" panose="02020603050405020304" pitchFamily="18" charset="0"/>
                <a:ea typeface="Quattrocento Sans" pitchFamily="34" charset="-122"/>
                <a:cs typeface="Times New Roman" panose="02020603050405020304" pitchFamily="18" charset="0"/>
              </a:rPr>
              <a:t>AI Technologies Summer School (AITss) 2026</a:t>
            </a:r>
            <a:endParaRPr lang="en-US" sz="1600" dirty="0">
              <a:solidFill>
                <a:schemeClr val="bg1"/>
              </a:solidFill>
              <a:latin typeface="Times New Roman" panose="02020603050405020304" pitchFamily="18" charset="0"/>
              <a:cs typeface="Times New Roman" panose="02020603050405020304" pitchFamily="18" charset="0"/>
            </a:endParaRPr>
          </a:p>
          <a:p>
            <a:pPr algn="ctr">
              <a:lnSpc>
                <a:spcPct val="150000"/>
              </a:lnSpc>
            </a:pPr>
            <a:r>
              <a:rPr lang="en-US" sz="1600" dirty="0">
                <a:solidFill>
                  <a:schemeClr val="bg1"/>
                </a:solidFill>
                <a:latin typeface="Times New Roman" panose="02020603050405020304" pitchFamily="18" charset="0"/>
                <a:ea typeface="Quattrocento Sans" pitchFamily="34" charset="-122"/>
                <a:cs typeface="Times New Roman" panose="02020603050405020304" pitchFamily="18" charset="0"/>
              </a:rPr>
              <a:t>Ivan Franko National University of Lviv, Ukraine</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10" name="Text 7"/>
          <p:cNvSpPr/>
          <p:nvPr/>
        </p:nvSpPr>
        <p:spPr>
          <a:xfrm>
            <a:off x="3048000" y="7112000"/>
            <a:ext cx="10160000" cy="444500"/>
          </a:xfrm>
          <a:prstGeom prst="rect">
            <a:avLst/>
          </a:prstGeom>
          <a:noFill/>
          <a:ln/>
        </p:spPr>
        <p:txBody>
          <a:bodyPr wrap="none" lIns="0" tIns="0" rIns="0" bIns="0" rtlCol="0" anchor="ctr"/>
          <a:lstStyle/>
          <a:p>
            <a:pPr algn="ctr">
              <a:lnSpc>
                <a:spcPct val="120000"/>
              </a:lnSpc>
            </a:pPr>
            <a:r>
              <a:rPr lang="en-US" sz="1400" kern="0" spc="200" dirty="0">
                <a:solidFill>
                  <a:srgbClr val="2B4C7E"/>
                </a:solidFill>
                <a:latin typeface="Liter" pitchFamily="34" charset="0"/>
                <a:ea typeface="Liter" pitchFamily="34" charset="-122"/>
                <a:cs typeface="Liter" pitchFamily="34" charset="-120"/>
              </a:rPr>
              <a:t>T.E.L.E.R.E.T.A.I.N. AI</a:t>
            </a:r>
            <a:endParaRPr lang="en-US" sz="1400" dirty="0"/>
          </a:p>
        </p:txBody>
      </p:sp>
      <p:sp>
        <p:nvSpPr>
          <p:cNvPr id="11" name="Shape 8"/>
          <p:cNvSpPr/>
          <p:nvPr/>
        </p:nvSpPr>
        <p:spPr>
          <a:xfrm>
            <a:off x="0" y="9093200"/>
            <a:ext cx="16256000" cy="50800"/>
          </a:xfrm>
          <a:prstGeom prst="rect">
            <a:avLst/>
          </a:prstGeom>
          <a:solidFill>
            <a:srgbClr val="2ECC71"/>
          </a:solidFill>
          <a:ln/>
        </p:spPr>
      </p:sp>
      <p:pic>
        <p:nvPicPr>
          <p:cNvPr id="12" name="Picture 11">
            <a:extLst>
              <a:ext uri="{FF2B5EF4-FFF2-40B4-BE49-F238E27FC236}">
                <a16:creationId xmlns:a16="http://schemas.microsoft.com/office/drawing/2014/main" id="{ABC524C0-F0BD-0CC8-77D0-C3DCB2159C9F}"/>
              </a:ext>
            </a:extLst>
          </p:cNvPr>
          <p:cNvPicPr>
            <a:picLocks noChangeAspect="1"/>
          </p:cNvPicPr>
          <p:nvPr/>
        </p:nvPicPr>
        <p:blipFill>
          <a:blip r:embed="rId3"/>
          <a:stretch>
            <a:fillRect/>
          </a:stretch>
        </p:blipFill>
        <p:spPr>
          <a:xfrm>
            <a:off x="10663880" y="36513"/>
            <a:ext cx="5592119" cy="2478087"/>
          </a:xfrm>
          <a:prstGeom prst="rect">
            <a:avLst/>
          </a:prstGeom>
        </p:spPr>
      </p:pic>
      <p:pic>
        <p:nvPicPr>
          <p:cNvPr id="14" name="Picture 13">
            <a:extLst>
              <a:ext uri="{FF2B5EF4-FFF2-40B4-BE49-F238E27FC236}">
                <a16:creationId xmlns:a16="http://schemas.microsoft.com/office/drawing/2014/main" id="{92A78992-3910-81E7-04C4-1A10EA972519}"/>
              </a:ext>
            </a:extLst>
          </p:cNvPr>
          <p:cNvPicPr>
            <a:picLocks noChangeAspect="1"/>
          </p:cNvPicPr>
          <p:nvPr/>
        </p:nvPicPr>
        <p:blipFill>
          <a:blip r:embed="rId4"/>
          <a:stretch>
            <a:fillRect/>
          </a:stretch>
        </p:blipFill>
        <p:spPr>
          <a:xfrm>
            <a:off x="0" y="1"/>
            <a:ext cx="5592119" cy="2514600"/>
          </a:xfrm>
          <a:prstGeom prst="rect">
            <a:avLst/>
          </a:prstGeom>
        </p:spPr>
      </p:pic>
    </p:spTree>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3214</Words>
  <Application>Microsoft Office PowerPoint</Application>
  <PresentationFormat>Custom</PresentationFormat>
  <Paragraphs>377</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Quattrocento Sans</vt:lpstr>
      <vt:lpstr>Times New Roman</vt:lpstr>
      <vt:lpstr>Liter</vt:lpstr>
      <vt:lpstr>Engravers MT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T.E.L.E.R.E.T.A.I.N. AI — Telecom Churn Prediction &amp; ROI-Optimized Retention</dc:title>
  <dc:subject>T.E.L.E.R.E.T.A.I.N. AI — Telecom Churn Prediction &amp; ROI-Optimized Retention</dc:subject>
  <dc:creator>Kimi</dc:creator>
  <cp:lastModifiedBy>Adityabaan Tripathy</cp:lastModifiedBy>
  <cp:revision>4</cp:revision>
  <dcterms:created xsi:type="dcterms:W3CDTF">2026-06-30T20:37:20Z</dcterms:created>
  <dcterms:modified xsi:type="dcterms:W3CDTF">2026-07-03T09:02:09Z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{"Label":"T.E.L.E.R.E.T.A.I.N. AI — Telecom Churn Prediction &amp; ROI-Optimized Retention","ContentProducer":"001191110108MACG2KBH8F10000","ProduceID":"19f1a2d3-b532-8b8f-8000-0000239e197b","ReservedCode1":"","ContentPropagator":"001191110108MACG2KBH8F20000","PropagateID":"19f1a2b9-1e82-8103-8000-09c6237c9210","ReservedCode2":""}</vt:lpwstr>
  </property>
</Properties>
</file>